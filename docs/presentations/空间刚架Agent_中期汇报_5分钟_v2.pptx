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1176672f564425" /><Relationship Type="http://schemas.openxmlformats.org/officeDocument/2006/relationships/extended-properties" Target="/docProps/app.xml" Id="R9a53acbd25364710" /><Relationship Type="http://schemas.openxmlformats.org/officeDocument/2006/relationships/officeDocument" Target="/ppt/presentation.xml" Id="R5bb3ae36af40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0754a4a086485b"/>
  </p:sldMasterIdLst>
  <p:notesMasterIdLst>
    <p:notesMasterId xmlns:r="http://schemas.openxmlformats.org/officeDocument/2006/relationships" r:id="Rc53097e9b9884b17"/>
  </p:notesMasterIdLst>
  <p:sldIdLst>
    <p:sldId xmlns:r="http://schemas.openxmlformats.org/officeDocument/2006/relationships" id="256" r:id="Rf7fb605a0dd34428"/>
    <p:sldId xmlns:r="http://schemas.openxmlformats.org/officeDocument/2006/relationships" id="257" r:id="R2e584b4036c14b73"/>
    <p:sldId xmlns:r="http://schemas.openxmlformats.org/officeDocument/2006/relationships" id="258" r:id="R49fdd5cafa114204"/>
    <p:sldId xmlns:r="http://schemas.openxmlformats.org/officeDocument/2006/relationships" id="259" r:id="R2c93a06b0b0345e4"/>
    <p:sldId xmlns:r="http://schemas.openxmlformats.org/officeDocument/2006/relationships" id="260" r:id="Rc3bec67a5f484131"/>
    <p:sldId xmlns:r="http://schemas.openxmlformats.org/officeDocument/2006/relationships" id="261" r:id="R2bf247c48420403d"/>
    <p:sldId xmlns:r="http://schemas.openxmlformats.org/officeDocument/2006/relationships" id="262" r:id="R64d063b4a8944a04"/>
    <p:sldId xmlns:r="http://schemas.openxmlformats.org/officeDocument/2006/relationships" id="263" r:id="Rea7d0db79a20427c"/>
    <p:sldId xmlns:r="http://schemas.openxmlformats.org/officeDocument/2006/relationships" id="264" r:id="R7d985c28cdf34fa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e7f14f58b24a2f" /><Relationship Type="http://schemas.openxmlformats.org/officeDocument/2006/relationships/slideMaster" Target="/ppt/slideMasters/slideMaster1.xml" Id="Rbb0754a4a086485b" /><Relationship Type="http://schemas.openxmlformats.org/officeDocument/2006/relationships/notesMaster" Target="/ppt/notesMasters/notesMaster1.xml" Id="Rc53097e9b9884b17" /><Relationship Type="http://schemas.openxmlformats.org/officeDocument/2006/relationships/presProps" Target="/ppt/presProps.xml" Id="R174fe1e23b734b47" /><Relationship Type="http://schemas.openxmlformats.org/officeDocument/2006/relationships/viewProps" Target="/ppt/viewProps.xml" Id="R8a33d4d03bcd40c0" /><Relationship Type="http://schemas.openxmlformats.org/officeDocument/2006/relationships/tableStyles" Target="/ppt/tableStyles.xml" Id="Rd1e41b0976ff4f30" /><Relationship Type="http://schemas.openxmlformats.org/officeDocument/2006/relationships/slide" Target="/ppt/slides/slide1.xml" Id="Rf7fb605a0dd34428" /><Relationship Type="http://schemas.openxmlformats.org/officeDocument/2006/relationships/slide" Target="/ppt/slides/slide2.xml" Id="R2e584b4036c14b73" /><Relationship Type="http://schemas.openxmlformats.org/officeDocument/2006/relationships/slide" Target="/ppt/slides/slide3.xml" Id="R49fdd5cafa114204" /><Relationship Type="http://schemas.openxmlformats.org/officeDocument/2006/relationships/slide" Target="/ppt/slides/slide4.xml" Id="R2c93a06b0b0345e4" /><Relationship Type="http://schemas.openxmlformats.org/officeDocument/2006/relationships/slide" Target="/ppt/slides/slide5.xml" Id="Rc3bec67a5f484131" /><Relationship Type="http://schemas.openxmlformats.org/officeDocument/2006/relationships/slide" Target="/ppt/slides/slide6.xml" Id="R2bf247c48420403d" /><Relationship Type="http://schemas.openxmlformats.org/officeDocument/2006/relationships/slide" Target="/ppt/slides/slide7.xml" Id="R64d063b4a8944a04" /><Relationship Type="http://schemas.openxmlformats.org/officeDocument/2006/relationships/slide" Target="/ppt/slides/slide8.xml" Id="Rea7d0db79a20427c" /><Relationship Type="http://schemas.openxmlformats.org/officeDocument/2006/relationships/slide" Target="/ppt/slides/slide9.xml" Id="R7d985c28cdf3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925115beb546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710dd94f4e4485" /><Relationship Type="http://schemas.openxmlformats.org/officeDocument/2006/relationships/notesMaster" Target="/ppt/notesMasters/notesMaster1.xml" Id="R4af2a00e4dd341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61a4355d7b4439" /><Relationship Type="http://schemas.openxmlformats.org/officeDocument/2006/relationships/notesMaster" Target="/ppt/notesMasters/notesMaster1.xml" Id="R3b26ca0ca2c44b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978e88770e48ea" /><Relationship Type="http://schemas.openxmlformats.org/officeDocument/2006/relationships/notesMaster" Target="/ppt/notesMasters/notesMaster1.xml" Id="R8625c4063ba34b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49a364eb1b4b37" /><Relationship Type="http://schemas.openxmlformats.org/officeDocument/2006/relationships/notesMaster" Target="/ppt/notesMasters/notesMaster1.xml" Id="R718b957f464145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80d4ebbb194528" /><Relationship Type="http://schemas.openxmlformats.org/officeDocument/2006/relationships/notesMaster" Target="/ppt/notesMasters/notesMaster1.xml" Id="Rd9f1b3fba0774a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d028bd64eb45fb" /><Relationship Type="http://schemas.openxmlformats.org/officeDocument/2006/relationships/notesMaster" Target="/ppt/notesMasters/notesMaster1.xml" Id="R387f8d43f5bb43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f0f20d86234678" /><Relationship Type="http://schemas.openxmlformats.org/officeDocument/2006/relationships/notesMaster" Target="/ppt/notesMasters/notesMaster1.xml" Id="R53f722eda29b43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79e7db21a5437c" /><Relationship Type="http://schemas.openxmlformats.org/officeDocument/2006/relationships/notesMaster" Target="/ppt/notesMasters/notesMaster1.xml" Id="R97dbaa06f9384a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0a6a14215f49f5" /><Relationship Type="http://schemas.openxmlformats.org/officeDocument/2006/relationships/notesMaster" Target="/ppt/notesMasters/notesMaster1.xml" Id="R2199ad201f9541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【建议用时 15 秒】本项目研究面向空间钢结构的智能计算助手。汇报分为定位与价值、方法与技术路线、完成工作、问题与解决、总结与计划五部分。核心目标是降低建模和结果查询的操作成本，同时保留可复核的力学计算依据。</a:t>
            </a:r>
          </a:p>
          <a:p xmlns:a="http://schemas.openxmlformats.org/drawingml/2006/main">
            <a:r>
              <a:t>个人及指导教师信息沿用原稿待填写栏。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【建议用时 45 秒】空间刚架不仅需要节点与杆件，还必须正确表达支座、材料、截面及三维荷载。直接让大模型给位移或内力，难以逐步复核；让它自由解释工程图，也可能漏接杆件或判断错荷载方向。这些风险在本项目公开图试验中已经观察到，不能推断所有 Agent 均有相同表现。我们采用工具调用方式：AI 负责意图理解和任务组织，程序负责计算，用户核对不确定的工程输入。价值在于减少重复操作，让计算过程和结果来源可检查。</a:t>
            </a:r>
          </a:p>
          <a:p xmlns:a="http://schemas.openxmlformats.org/drawingml/2006/main">
            <a:r>
              <a:t>来源：docs/课程报告.md §2.2–2.3；multimodal_eval/public_cases/COMPACT_REPORT.md；docs/答辩前验收.md。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【建议用时 65 秒】底层并非大模型直接做有限元运算。Agent 将需求转换成注册工具的参数；参数化框架的编号和连接由程序展开。统一模型经 Schema 和工程校验后，编译器把物理杆件转换成分析单元，处理集中荷载切分与杆端释放。线性空间梁每节点三个平移和三个转角，局部刚度通过坐标变换组装成整体刚度，施加约束后求解 Ku=F，再恢复反力和截面内力。EB 不计横向剪切，给定剪切面积时可启用 Timoshenko 分支。局部节点分析由 Gmsh 划网格，自研 C3D10 求解，属于实验性扩展。线性静力图、表、计算书使用同一次求解数据；其他能力以各自验证范围为准。</a:t>
            </a:r>
          </a:p>
          <a:p xmlns:a="http://schemas.openxmlformats.org/drawingml/2006/main">
            <a:r>
              <a:t>来源：docs/课程报告.md；docs/BETA_0.1_CAPABILITY_MATRIX.md；src/model_compiler.py；src/spaceframe.py。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【建议用时 60 秒】完成工作包括力学内核、模型与结果管理、63 个工具的 Agent 接口、三维桌面交互、图纸审核、文档和验证体系。四个 Python 目录共240文件，代码行数约8.7万，包含测试、注释和空行，不代表人工工时。28项解析金标准覆盖线性静力、自振、屈曲及二阶弹性、轴向塑性代表问题。最近一次完整回归是2026-10-10的2837通过、1环境跳过；之后按要求只做增量检查，不能把它表述成每个新提交都跑过全量。截图是实际软件里的239节点、622杆件屋盖，已完成多工况分析与结果查看。该例尺寸和荷载为教学设定，未完成全套工程设计认证。多模态和节点实体仍为实验性，详细对标与规模放在备答页。</a:t>
            </a:r>
          </a:p>
          <a:p xmlns:a="http://schemas.openxmlformats.org/drawingml/2006/main">
            <a:r>
              <a:t>来源：docs/课程报告.md §2.1；docs/答辩前验收.md；docs/PROGRESS.md“复杂拱形网格屋盖及软件实际截图”；原稿软件截图。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【建议用时 45 秒】一个真实问题是，图纸识别草稿缺少荷载向量时，界面原来显示六个零，用户可能把未知值当成已确认的零荷载提交。这不是矩阵求解错误，而是输入语义在界面中丢失。处理时保留缺失项为空，已识别的有效分量仍显示；用户明确填写数值和单位后才能解除对应问题，其他未解决问题不能一起清除。增加回归检查缺失向量、短向量、布尔值和非有限值，并做真实窗口验证。程序依然需要人工核对图纸：平衡校核只能检查已输入的载荷和响应是否相容，无法证明原图荷载没有漏识别。</a:t>
            </a:r>
          </a:p>
          <a:p xmlns:a="http://schemas.openxmlformats.org/drawingml/2006/main">
            <a:r>
              <a:t>来源：docs/PROGRESS.md 2026-10-10相关记录；src/multimodal_workflow.py 与桌面草图审核相关回归。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【建议用时 55 秒】现阶段已经形成可运行、可复算的分析主线，但复杂工程图还不能直接当成可靠模型，节点实体也不能仅凭单档云图发布正式应力集中系数。近期先修复明确的软件缺陷，冻结版本，完成展示机验收与录屏。识别研究采用许可明确、经独立复核的新留出图，分别记录拓扑、荷载向量和作用位置，失败样本也计入分母；不能用格式成功率替代工程准确率。节点研究比较三档网格和热点应力，并用Abaqus独立对标，确定Kt可发布的范围。更复杂非线性先建立基准，再实现弯曲塑性，不能把现有轴向双线性称作完整材料非线性。本项目下一阶段的目标是扩大已经验证的范围。</a:t>
            </a:r>
          </a:p>
          <a:p xmlns:a="http://schemas.openxmlformats.org/drawingml/2006/main">
            <a:r>
              <a:t>项目：https://github.com/zhou860324bond-cell/space-frame-agent</a:t>
            </a:r>
          </a:p>
          <a:p xmlns:a="http://schemas.openxmlformats.org/drawingml/2006/main">
            <a:r>
              <a:t>来源：docs/答辩前验收.md；docs/BETA_0.1_CAPABILITY_MATRIX.md；docs/PROGRESS.md。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答，不计入五分钟】B33是不计横向剪切的三次梁单元，因此与EB分支在相同理论下比较。e(‖U‖)是原对标报告中的位移向量归一化误差，不能用表里四舍五入后的最大位移重新代替该指标。Abaqus文本输出精度影响末位比较。这里的证据不代表所有几何、非线性或节点应力问题均被验证。</a:t>
            </a:r>
          </a:p>
          <a:p xmlns:a="http://schemas.openxmlformats.org/drawingml/2006/main">
            <a:r>
              <a:t>来源：abaqus_bench/benchmark_B33.md；docs/BETA_0.1_GOLD_CASES.md。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答，不计入五分钟】四个目录统计共240个Python文件、86851行，包含测试和空行注释；没有据此估算人工开发时间。28项解析金标准与自动回归回答的问题不同：前者针对代表力学响应，后者防止已知行为退化。图纸识别准确率必须使用独立样本及真实调用另外测量，不能由2837项测试通过推导。</a:t>
            </a:r>
          </a:p>
          <a:p xmlns:a="http://schemas.openxmlformats.org/drawingml/2006/main">
            <a:r>
              <a:t>来源：docs/课程报告.md §2.1；README.md；docs/BETA_0.1_GOLD_CASES.md。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【资料与能力边界】项目自编资料，统计及验收日期2026-10-10。</a:t>
            </a:r>
          </a:p>
          <a:p xmlns:a="http://schemas.openxmlformats.org/drawingml/2006/main">
            <a:r>
              <a:t>1. docs/课程报告.md，§2架构、规模与数据流。</a:t>
            </a:r>
          </a:p>
          <a:p xmlns:a="http://schemas.openxmlformats.org/drawingml/2006/main">
            <a:r>
              <a:t>2. docs/BETA_0.1_GOLD_CASES.md，28项独立解析金标准。</a:t>
            </a:r>
            <a:endParaRPr/>
          </a:p>
          <a:p xmlns:a="http://schemas.openxmlformats.org/drawingml/2006/main">
            <a:r>
              <a:t>3. abaqus_bench/benchmark_B33.md，同理论梁算例对标。</a:t>
            </a:r>
          </a:p>
          <a:p xmlns:a="http://schemas.openxmlformats.org/drawingml/2006/main">
            <a:r>
              <a:t>4. docs/答辩前验收.md，源码主流程、真实AI与节点实体验收。</a:t>
            </a:r>
          </a:p>
          <a:p xmlns:a="http://schemas.openxmlformats.org/drawingml/2006/main">
            <a:r>
              <a:t>5. multimodal_eval/public_cases/COMPACT_REPORT.md 和 JOINT_GRAPH_REPORT.md，公开图严格评测及限制。</a:t>
            </a:r>
          </a:p>
          <a:p xmlns:a="http://schemas.openxmlformats.org/drawingml/2006/main">
            <a:r>
              <a:t>6. docs/SOLID_JOINT_SCOPE.md，节点实体、热点应力与Kt收敛规则。</a:t>
            </a:r>
          </a:p>
          <a:p xmlns:a="http://schemas.openxmlformats.org/drawingml/2006/main">
            <a:r>
              <a:t>7. docs/PROGRESS.md，真实问题、解决记录及当前待做。</a:t>
            </a:r>
          </a:p>
          <a:p xmlns:a="http://schemas.openxmlformats.org/drawingml/2006/main">
            <a:r>
              <a:t>截图均为原稿提供的软件真实截图。学校标志与背景沿用原稿。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0995b488c4a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051d77f7844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3c31a3b9a4f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fe7b6506144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b318c1a784c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bae06090a42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be93c6c3f49a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b0897b98548c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a52f4153c43b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70ee457554b0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3bdbab0a14a6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B44CEAC-21D2-4803-87B9-A45E984F6F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493D916-674F-4AFE-ABB6-C916FC1902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C3B273C1-2599-4774-A4C4-B80E543F5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6EB6AA3B-9CF6-4B32-8145-71BDC4FAC2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D574BB6D-2B2C-4023-A616-BE4B35663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E4A382-0BBC-48FC-88E5-47CA5D62B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EECF427-C548-4CDD-83B1-22B3262806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C8A185-98EE-4397-A7E2-3DE1E25C91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B32B2D0-086B-4168-B730-A6880FE388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E1FBF8-327B-4C7A-8299-4BEC9A67A3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73229DD-8163-4200-A0D9-F48A3F5588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E1D9A23-5C84-4C89-851C-A6C05F16C3E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8B6D48-B525-4370-BF1B-F9D0B7D595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E84926-09F1-4BD5-8390-F75DA6466A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2F34BC3-83B7-40E0-BD98-3FB1A7A84A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F1F621-E0D8-4985-A9F9-F02E4954B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FFA56A-FE6D-4BCD-9191-2D722A545F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7E00AA-F14F-4F0D-9571-3DA975C0CD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D2471D-D94D-4DB6-93C3-657E8ACD5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684A6C-FADF-4744-A661-07058C0FF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9673C99-0070-4B58-9B55-048C0E701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71594A7-DE81-4A91-B1A6-5D70C81BE7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D058A86-351B-40DB-9C59-CFBFAAA0E45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118A1EB-0D7B-425C-976D-30B408D229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EC5E579-8491-4345-96B8-A145C078A1CD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0B48670-403E-4D94-8F19-CA58DF9DA5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1C925C2-58CF-48B8-992F-2D0C03A763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8CEFC75-2A40-46E5-8482-88ABBA141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E9FAC28-2246-4D85-B540-A510839749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55AE4F-2B8C-45EF-9281-F1C3366C6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B9F6A95-7140-43CC-B672-1B6A92D53E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F648025-B1EB-40DB-97E4-D0838AF1E7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171625F-5E7A-4520-8B3C-4F3BDFF0C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E8E97EC-394C-414B-AF90-BB5E38C0C1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C4BB3BE-FFB3-4F91-A902-CFD7C3F711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8B0B969-4EE6-42D9-9807-8E9C3FD3B4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8EA7B46-8206-474A-9991-E69B6A3512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69BEEC9-542B-41D3-B92D-345DA5D2CA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C9EF193-0799-4B33-AB11-D3C76405EB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168DDE7-0959-4B93-B135-3D02E1FF8B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1F8AF3B-5F7E-48A5-949A-A201F2FBC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9A7BDC85-E3C3-4E04-8909-A6D2BED18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7F149DE-B1A4-4D6D-8237-68ED3A5307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2B26B2C-4877-484D-AF26-20B49DF63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2F116E7-F030-45F2-890A-58F0EF55B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24AF94-31B0-48B4-BC37-1B672DBF99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0FD0452-D57C-4163-B7AD-2D63F96EA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970A8D3-F081-48B5-88DF-1ACE6BF49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F1FD8F0-3DF4-4871-90E6-E1BB0E0221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8E23F5-B418-44FB-9CE8-A3D7428EA5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28EDCA88-63C5-4DA6-92A8-23CC88F75207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42488CB-3948-4419-89A1-0D24D224C7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5F18BCA-A182-4FF9-8229-AE02F020B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760D35-AE74-4792-8D12-4F4A49120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9C96DE-2246-432D-A52D-E5509D6C2F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B77BC8D-1A01-4AEF-867F-E93C5F6A44E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0f47f7da8c4f77" /><Relationship Type="http://schemas.openxmlformats.org/officeDocument/2006/relationships/slideLayout" Target="/ppt/slideLayouts/slideLayout1.xml" Id="R9287560dea994f61" /><Relationship Type="http://schemas.openxmlformats.org/officeDocument/2006/relationships/slideLayout" Target="/ppt/slideLayouts/slideLayout2.xml" Id="Rc3fe987c5ab745db" /><Relationship Type="http://schemas.openxmlformats.org/officeDocument/2006/relationships/slideLayout" Target="/ppt/slideLayouts/slideLayout3.xml" Id="R5fa845e475974071" /><Relationship Type="http://schemas.openxmlformats.org/officeDocument/2006/relationships/slideLayout" Target="/ppt/slideLayouts/slideLayout4.xml" Id="R5127f0cba4f94f52" /><Relationship Type="http://schemas.openxmlformats.org/officeDocument/2006/relationships/slideLayout" Target="/ppt/slideLayouts/slideLayout5.xml" Id="R6416bc42f7c440a9" /><Relationship Type="http://schemas.openxmlformats.org/officeDocument/2006/relationships/slideLayout" Target="/ppt/slideLayouts/slideLayout6.xml" Id="R4d6f90f382e14cba" /><Relationship Type="http://schemas.openxmlformats.org/officeDocument/2006/relationships/slideLayout" Target="/ppt/slideLayouts/slideLayout7.xml" Id="Rc32d8b7d52af4695" /><Relationship Type="http://schemas.openxmlformats.org/officeDocument/2006/relationships/slideLayout" Target="/ppt/slideLayouts/slideLayout8.xml" Id="R3b251a79a70944fb" /><Relationship Type="http://schemas.openxmlformats.org/officeDocument/2006/relationships/slideLayout" Target="/ppt/slideLayouts/slideLayout9.xml" Id="R4548b6fbaaf947a8" /><Relationship Type="http://schemas.openxmlformats.org/officeDocument/2006/relationships/slideLayout" Target="/ppt/slideLayouts/slideLayout10.xml" Id="Raca8b3e74e6540a1" /><Relationship Type="http://schemas.openxmlformats.org/officeDocument/2006/relationships/slideLayout" Target="/ppt/slideLayouts/slideLayout11.xml" Id="R22aae4f69f81485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B22A98E-F474-4F2D-B471-388FCBEA8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EA388BB-E307-478A-AF4D-4C42D1A23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E5BA7E-697E-41F5-BB29-E97F8D3A474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7376857-057B-48AC-AF19-F23450A009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D0418B-9FAC-4D3D-8A53-0C1C13288E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87560dea994f61"/>
    <p:sldLayoutId xmlns:r="http://schemas.openxmlformats.org/officeDocument/2006/relationships" id="2147483650" r:id="Rc3fe987c5ab745db"/>
    <p:sldLayoutId xmlns:r="http://schemas.openxmlformats.org/officeDocument/2006/relationships" id="2147483651" r:id="R5fa845e475974071"/>
    <p:sldLayoutId xmlns:r="http://schemas.openxmlformats.org/officeDocument/2006/relationships" id="2147483652" r:id="R5127f0cba4f94f52"/>
    <p:sldLayoutId xmlns:r="http://schemas.openxmlformats.org/officeDocument/2006/relationships" id="2147483653" r:id="R6416bc42f7c440a9"/>
    <p:sldLayoutId xmlns:r="http://schemas.openxmlformats.org/officeDocument/2006/relationships" id="2147483654" r:id="R4d6f90f382e14cba"/>
    <p:sldLayoutId xmlns:r="http://schemas.openxmlformats.org/officeDocument/2006/relationships" id="2147483655" r:id="Rc32d8b7d52af4695"/>
    <p:sldLayoutId xmlns:r="http://schemas.openxmlformats.org/officeDocument/2006/relationships" id="2147483656" r:id="R3b251a79a70944fb"/>
    <p:sldLayoutId xmlns:r="http://schemas.openxmlformats.org/officeDocument/2006/relationships" id="2147483657" r:id="R4548b6fbaaf947a8"/>
    <p:sldLayoutId xmlns:r="http://schemas.openxmlformats.org/officeDocument/2006/relationships" id="2147483658" r:id="Raca8b3e74e6540a1"/>
    <p:sldLayoutId xmlns:r="http://schemas.openxmlformats.org/officeDocument/2006/relationships" id="2147483659" r:id="R22aae4f69f814851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5ba9d327e240c8" /><Relationship Type="http://schemas.openxmlformats.org/officeDocument/2006/relationships/image" Target="/ppt/media/image.png" Id="R99352b46f63b48e2" /><Relationship Type="http://schemas.openxmlformats.org/officeDocument/2006/relationships/image" Target="/ppt/media/image2.png" Id="R6ee9b5b0464d4b9f" /><Relationship Type="http://schemas.openxmlformats.org/officeDocument/2006/relationships/image" Target="/ppt/media/image3.png" Id="Rff7981ca3cd34bf3" /><Relationship Type="http://schemas.openxmlformats.org/officeDocument/2006/relationships/image" Target="/ppt/media/image.svg" Id="R9fea9f8200264b03" /><Relationship Type="http://schemas.openxmlformats.org/officeDocument/2006/relationships/image" Target="/ppt/media/image4.png" Id="R3317c3ba97ea4449" /><Relationship Type="http://schemas.openxmlformats.org/officeDocument/2006/relationships/notesSlide" Target="/ppt/notesSlides/notesSlide1.xml" Id="R2e3101df437a44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ab09949926489c" /><Relationship Type="http://schemas.openxmlformats.org/officeDocument/2006/relationships/image" Target="/ppt/media/image5.png" Id="Rff49be868e564fa5" /><Relationship Type="http://schemas.openxmlformats.org/officeDocument/2006/relationships/notesSlide" Target="/ppt/notesSlides/notesSlide2.xml" Id="R6bea531e117642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6c97543e764a3f" /><Relationship Type="http://schemas.openxmlformats.org/officeDocument/2006/relationships/image" Target="/ppt/media/image5.png" Id="Rcf2aeab848a84e26" /><Relationship Type="http://schemas.openxmlformats.org/officeDocument/2006/relationships/notesSlide" Target="/ppt/notesSlides/notesSlide3.xml" Id="R0000bdc504cc4e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152ee92e624cb5" /><Relationship Type="http://schemas.openxmlformats.org/officeDocument/2006/relationships/image" Target="/ppt/media/image5.png" Id="Re2c03215d6e3493d" /><Relationship Type="http://schemas.openxmlformats.org/officeDocument/2006/relationships/image" Target="/ppt/media/image6.png" Id="Ra44979de2d004793" /><Relationship Type="http://schemas.openxmlformats.org/officeDocument/2006/relationships/notesSlide" Target="/ppt/notesSlides/notesSlide4.xml" Id="Re98f76d2081545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2691bca39845d7" /><Relationship Type="http://schemas.openxmlformats.org/officeDocument/2006/relationships/image" Target="/ppt/media/image5.png" Id="R94b6fa93ad0e426a" /><Relationship Type="http://schemas.openxmlformats.org/officeDocument/2006/relationships/notesSlide" Target="/ppt/notesSlides/notesSlide5.xml" Id="R595b6e37756948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3c176421be4b08" /><Relationship Type="http://schemas.openxmlformats.org/officeDocument/2006/relationships/image" Target="/ppt/media/image5.png" Id="R1333c97070e548cc" /><Relationship Type="http://schemas.openxmlformats.org/officeDocument/2006/relationships/notesSlide" Target="/ppt/notesSlides/notesSlide6.xml" Id="R9af2a634a15a44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73fcf33368416f" /><Relationship Type="http://schemas.openxmlformats.org/officeDocument/2006/relationships/image" Target="/ppt/media/image5.png" Id="R33fddd16754042fb" /><Relationship Type="http://schemas.openxmlformats.org/officeDocument/2006/relationships/notesSlide" Target="/ppt/notesSlides/notesSlide7.xml" Id="Rb8432a2f81f149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74dfd602534044" /><Relationship Type="http://schemas.openxmlformats.org/officeDocument/2006/relationships/image" Target="/ppt/media/image5.png" Id="R46aa608a55a5494a" /><Relationship Type="http://schemas.openxmlformats.org/officeDocument/2006/relationships/notesSlide" Target="/ppt/notesSlides/notesSlide8.xml" Id="R9fb91c2e916248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0143ea12c04ce9" /><Relationship Type="http://schemas.openxmlformats.org/officeDocument/2006/relationships/image" Target="/ppt/media/image5.png" Id="R9db5aa8003164398" /><Relationship Type="http://schemas.openxmlformats.org/officeDocument/2006/relationships/notesSlide" Target="/ppt/notesSlides/notesSlide9.xml" Id="R9a468cb2547846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3">
            <a:extLst xmlns:a="http://schemas.openxmlformats.org/drawingml/2006/main">
              <a:ext uri="{FF2B5EF4-FFF2-40B4-BE49-F238E27FC236}">
                <a16:creationId xmlns:a16="http://schemas.microsoft.com/office/drawing/2014/main" id="{371CDBE5-1741-4A3F-AE97-0DB62960E7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352b46f63b48e2">
            <a:alphaModFix amt="20000"/>
          </a:blip>
          <a:srcRect xmlns:a="http://schemas.openxmlformats.org/drawingml/2006/main" l="0" t="28704" r="0" b="1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78094"/>
            <a:ext cx="12192000" cy="1988854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>
            <a:extLst xmlns:a="http://schemas.openxmlformats.org/drawingml/2006/main">
              <a:ext uri="{FF2B5EF4-FFF2-40B4-BE49-F238E27FC236}">
                <a16:creationId xmlns:a16="http://schemas.microsoft.com/office/drawing/2014/main" id="{C2B7202C-9181-4C74-8630-43B2B9F45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9b5b0464d4b9f"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84709"/>
            <a:ext cx="12192000" cy="3473291"/>
          </a:xfrm>
          <a:prstGeom xmlns:a="http://schemas.openxmlformats.org/drawingml/2006/main" prst="rect">
            <a:avLst/>
          </a:prstGeom>
        </p:spPr>
      </p:pic>
      <p:pic>
        <p:nvPicPr>
          <p:cNvPr id="12" name="图形 11">
            <a:extLst xmlns:a="http://schemas.openxmlformats.org/drawingml/2006/main">
              <a:ext uri="{FF2B5EF4-FFF2-40B4-BE49-F238E27FC236}">
                <a16:creationId xmlns:a16="http://schemas.microsoft.com/office/drawing/2014/main" id="{AA06E8F7-236A-4D87-9B0C-0DAEA6DC1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81ca3cd34bf3">
            <a:extLst>
              <a:ext uri="{96DAC541-7B7A-43D3-8B79-37D633B846F1}">
                <asvg:svgBlip xmlns:asvg="http://schemas.microsoft.com/office/drawing/2016/SVG/main" r:embed="R9fea9f8200264b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9697" y="66675"/>
            <a:ext cx="2731173" cy="717216"/>
          </a:xfrm>
          <a:prstGeom xmlns:a="http://schemas.openxmlformats.org/drawingml/2006/main" prst="rect">
            <a:avLst/>
          </a:prstGeom>
        </p:spPr>
      </p:pic>
      <p:sp>
        <p:nvSpPr>
          <p:cNvPr id="26" name="基于 AI 的空间刚架&#10;智能计算 Agent 开">
            <a:extLst xmlns:a="http://schemas.openxmlformats.org/drawingml/2006/main">
              <a:ext uri="{FF2B5EF4-FFF2-40B4-BE49-F238E27FC236}">
                <a16:creationId xmlns:a16="http://schemas.microsoft.com/office/drawing/2014/main" id="{0E721B4E-ABAF-494D-B1E7-38B8274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基于 AI 的空间刚架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智能计算 Agent 开发</a:t>
            </a:r>
          </a:p>
        </p:txBody>
      </p:sp>
      <p:sp>
        <p:nvSpPr>
          <p:cNvPr id="27" name="中期汇报">
            <a:extLst xmlns:a="http://schemas.openxmlformats.org/drawingml/2006/main">
              <a:ext uri="{FF2B5EF4-FFF2-40B4-BE49-F238E27FC236}">
                <a16:creationId xmlns:a16="http://schemas.microsoft.com/office/drawing/2014/main" id="{1950D80B-300D-4FB1-B968-795920A7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4381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中期汇报</a:t>
            </a:r>
          </a:p>
        </p:txBody>
      </p:sp>
      <p:sp>
        <p:nvSpPr>
          <p:cNvPr id="28" name="汇报人：________________    ">
            <a:extLst xmlns:a="http://schemas.openxmlformats.org/drawingml/2006/main">
              <a:ext uri="{FF2B5EF4-FFF2-40B4-BE49-F238E27FC236}">
                <a16:creationId xmlns:a16="http://schemas.microsoft.com/office/drawing/2014/main" id="{96ED2251-5B2B-4895-9230-75276E2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5285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汇报人：________________    班级：________________</a:t>
            </a:r>
          </a:p>
        </p:txBody>
      </p:sp>
      <p:sp>
        <p:nvSpPr>
          <p:cNvPr id="29" name="小组成员：___________________">
            <a:extLst xmlns:a="http://schemas.openxmlformats.org/drawingml/2006/main">
              <a:ext uri="{FF2B5EF4-FFF2-40B4-BE49-F238E27FC236}">
                <a16:creationId xmlns:a16="http://schemas.microsoft.com/office/drawing/2014/main" id="{003A8608-E55F-445F-B783-9DE599B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76725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小组成员：_____________________________________</a:t>
            </a:r>
          </a:p>
        </p:txBody>
      </p:sp>
      <p:sp>
        <p:nvSpPr>
          <p:cNvPr id="30" name="指导教师：________________">
            <a:extLst xmlns:a="http://schemas.openxmlformats.org/drawingml/2006/main">
              <a:ext uri="{FF2B5EF4-FFF2-40B4-BE49-F238E27FC236}">
                <a16:creationId xmlns:a16="http://schemas.microsoft.com/office/drawing/2014/main" id="{72D1EF5F-BE6B-4112-8706-12F7FD7D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006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指导教师：________________</a:t>
            </a:r>
          </a:p>
        </p:txBody>
      </p:sp>
      <p:sp>
        <p:nvSpPr>
          <p:cNvPr id="31" name="2026 年 10 月">
            <a:extLst xmlns:a="http://schemas.openxmlformats.org/drawingml/2006/main">
              <a:ext uri="{FF2B5EF4-FFF2-40B4-BE49-F238E27FC236}">
                <a16:creationId xmlns:a16="http://schemas.microsoft.com/office/drawing/2014/main" id="{684CBC89-C832-4DF1-A359-6B021A3E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340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48FEF064-4FFA-4E63-8E9D-0AE390DCF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7c3ba97ea4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31" y="29589"/>
            <a:ext cx="4532224" cy="8276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479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6C47DB21-9319-4870-89F9-C4EFFE6728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9be868e564f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BD39D945-1E57-4DAE-B9EA-CD176660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  项目定位与价值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DA719AF1-3CA4-4ADF-A484-828E4C5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项目将 AI 的交互能力与可验证的力学计算结合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A39A49CE-D6A4-4356-82A6-ED21BF80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6" name="证据出处">
            <a:extLst xmlns:a="http://schemas.openxmlformats.org/drawingml/2006/main">
              <a:ext uri="{FF2B5EF4-FFF2-40B4-BE49-F238E27FC236}">
                <a16:creationId xmlns:a16="http://schemas.microsoft.com/office/drawing/2014/main" id="{C1C7A692-A2C7-4536-8C8D-D35C7BE7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依据：项目公开图识别记录；docs/课程报告.md</a:t>
            </a:r>
          </a:p>
        </p:txBody>
      </p:sp>
      <p:sp>
        <p:nvSpPr>
          <p:cNvPr id="37" name="定位">
            <a:extLst xmlns:a="http://schemas.openxmlformats.org/drawingml/2006/main">
              <a:ext uri="{FF2B5EF4-FFF2-40B4-BE49-F238E27FC236}">
                <a16:creationId xmlns:a16="http://schemas.microsoft.com/office/drawing/2014/main" id="{1442E40E-15C0-4354-BA5B-23E5B9C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定位：面向教学研究与方案试算的空间钢结构计算助手</a:t>
            </a:r>
          </a:p>
        </p:txBody>
      </p:sp>
      <p:graphicFrame>
        <p:nvGraphicFrame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B48D80-6395-4F8C-8726-DD51354F98B2}"/>
              </a:ext>
            </a:extLst>
          </p:cNvPr>
          <p:cNvGraphicFramePr/>
          <p:nvPr/>
        </p:nvGraphicFramePr>
        <p:xfrm>
          <a:off xmlns:a="http://schemas.openxmlformats.org/drawingml/2006/main" x="533400" y="2419350"/>
          <a:ext xmlns:a="http://schemas.openxmlformats.org/drawingml/2006/main" cx="11125200" cy="2724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19700"/>
                <a:gridCol w="5905500"/>
              </a:tblGrid>
              <a:tr h="681038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Agent 的主要风险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本项目的对应做法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81038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直接生成数值，计算依据难复核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组织工具调用，数值由确定性内核计算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81038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图纸拓扑、荷载方向或尺度识别错误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保留原图证据；未知信息须人工确认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模型更新后继续引用旧结果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结果绑定模型版本，查询与报告同源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39" name="研究问题">
            <a:extLst xmlns:a="http://schemas.openxmlformats.org/drawingml/2006/main">
              <a:ext uri="{FF2B5EF4-FFF2-40B4-BE49-F238E27FC236}">
                <a16:creationId xmlns:a16="http://schemas.microsoft.com/office/drawing/2014/main" id="{ABFEA6A6-F71C-418D-BFA7-E929D8F2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387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研究问题：如何兼顾便捷交互与计算可靠性？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E1DF7F9A-A75F-4C96-BC5C-A05FB2E03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aeab848a84e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89989DAD-5A0C-42BA-AB6D-460C0ED8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  方法特点与技术路线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B2011082-9A90-44B0-9EF5-4EE99B2E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AI 组织计算任务，工具层校验并求解结构响应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9DF06E11-A46B-4D8F-B806-DDE10BF0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6" name="证据出处">
            <a:extLst xmlns:a="http://schemas.openxmlformats.org/drawingml/2006/main">
              <a:ext uri="{FF2B5EF4-FFF2-40B4-BE49-F238E27FC236}">
                <a16:creationId xmlns:a16="http://schemas.microsoft.com/office/drawing/2014/main" id="{A6BF3832-76B5-47DF-97C2-54BBD03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依据：src/agent_tools.py；src/model_compiler.py；docs/课程报告.md</a:t>
            </a:r>
          </a:p>
        </p:txBody>
      </p:sp>
      <p:sp>
        <p:nvSpPr>
          <p:cNvPr id="37" name="流程0">
            <a:extLst xmlns:a="http://schemas.openxmlformats.org/drawingml/2006/main">
              <a:ext uri="{FF2B5EF4-FFF2-40B4-BE49-F238E27FC236}">
                <a16:creationId xmlns:a16="http://schemas.microsoft.com/office/drawing/2014/main" id="{4868B88B-12D9-462B-95D0-514CCAFC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工程输入</a:t>
            </a:r>
          </a:p>
        </p:txBody>
      </p:sp>
      <p:sp>
        <p:nvSpPr>
          <p:cNvPr id="38" name="流程说明0">
            <a:extLst xmlns:a="http://schemas.openxmlformats.org/drawingml/2006/main">
              <a:ext uri="{FF2B5EF4-FFF2-40B4-BE49-F238E27FC236}">
                <a16:creationId xmlns:a16="http://schemas.microsoft.com/office/drawing/2014/main" id="{4CFC53C4-AE5A-4184-9DAE-C096C303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文字 / 图纸</a:t>
            </a:r>
          </a:p>
        </p:txBody>
      </p:sp>
      <p:sp>
        <p:nvSpPr>
          <p:cNvPr id="39" name="顺序0">
            <a:extLst xmlns:a="http://schemas.openxmlformats.org/drawingml/2006/main">
              <a:ext uri="{FF2B5EF4-FFF2-40B4-BE49-F238E27FC236}">
                <a16:creationId xmlns:a16="http://schemas.microsoft.com/office/drawing/2014/main" id="{0DB354E1-F8D2-4E6C-BAD4-0FBD1BA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669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0" name="流程1">
            <a:extLst xmlns:a="http://schemas.openxmlformats.org/drawingml/2006/main">
              <a:ext uri="{FF2B5EF4-FFF2-40B4-BE49-F238E27FC236}">
                <a16:creationId xmlns:a16="http://schemas.microsoft.com/office/drawing/2014/main" id="{A785BF57-9B21-48B8-A041-CB5A574E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95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工具参数</a:t>
            </a:r>
          </a:p>
        </p:txBody>
      </p:sp>
      <p:sp>
        <p:nvSpPr>
          <p:cNvPr id="41" name="流程说明1">
            <a:extLst xmlns:a="http://schemas.openxmlformats.org/drawingml/2006/main">
              <a:ext uri="{FF2B5EF4-FFF2-40B4-BE49-F238E27FC236}">
                <a16:creationId xmlns:a16="http://schemas.microsoft.com/office/drawing/2014/main" id="{0C9D020B-4268-4C0A-8CFF-3AC461BD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289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JSON 结构</a:t>
            </a:r>
          </a:p>
        </p:txBody>
      </p:sp>
      <p:sp>
        <p:nvSpPr>
          <p:cNvPr id="42" name="顺序1">
            <a:extLst xmlns:a="http://schemas.openxmlformats.org/drawingml/2006/main">
              <a:ext uri="{FF2B5EF4-FFF2-40B4-BE49-F238E27FC236}">
                <a16:creationId xmlns:a16="http://schemas.microsoft.com/office/drawing/2014/main" id="{79E73B39-56F0-42B0-9E21-9B7A1D57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3" name="流程2">
            <a:extLst xmlns:a="http://schemas.openxmlformats.org/drawingml/2006/main">
              <a:ext uri="{FF2B5EF4-FFF2-40B4-BE49-F238E27FC236}">
                <a16:creationId xmlns:a16="http://schemas.microsoft.com/office/drawing/2014/main" id="{D839597B-61C9-4D33-9E9D-95830D1D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模型校验</a:t>
            </a:r>
          </a:p>
        </p:txBody>
      </p:sp>
      <p:sp>
        <p:nvSpPr>
          <p:cNvPr id="44" name="流程说明2">
            <a:extLst xmlns:a="http://schemas.openxmlformats.org/drawingml/2006/main">
              <a:ext uri="{FF2B5EF4-FFF2-40B4-BE49-F238E27FC236}">
                <a16:creationId xmlns:a16="http://schemas.microsoft.com/office/drawing/2014/main" id="{027DB7FD-A24D-4CF5-BE2F-A22D3C95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单位 / 约束</a:t>
            </a:r>
          </a:p>
        </p:txBody>
      </p:sp>
      <p:sp>
        <p:nvSpPr>
          <p:cNvPr id="45" name="顺序2">
            <a:extLst xmlns:a="http://schemas.openxmlformats.org/drawingml/2006/main">
              <a:ext uri="{FF2B5EF4-FFF2-40B4-BE49-F238E27FC236}">
                <a16:creationId xmlns:a16="http://schemas.microsoft.com/office/drawing/2014/main" id="{80662192-7892-4B48-994A-15261B39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669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6" name="流程3">
            <a:extLst xmlns:a="http://schemas.openxmlformats.org/drawingml/2006/main">
              <a:ext uri="{FF2B5EF4-FFF2-40B4-BE49-F238E27FC236}">
                <a16:creationId xmlns:a16="http://schemas.microsoft.com/office/drawing/2014/main" id="{3F3C6027-5D35-4FC6-A865-850A4E93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单元编译</a:t>
            </a:r>
          </a:p>
        </p:txBody>
      </p:sp>
      <p:sp>
        <p:nvSpPr>
          <p:cNvPr id="47" name="流程说明3">
            <a:extLst xmlns:a="http://schemas.openxmlformats.org/drawingml/2006/main">
              <a:ext uri="{FF2B5EF4-FFF2-40B4-BE49-F238E27FC236}">
                <a16:creationId xmlns:a16="http://schemas.microsoft.com/office/drawing/2014/main" id="{90912A00-54FF-4C44-B891-C3F25104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289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剖分 / 释放</a:t>
            </a:r>
          </a:p>
        </p:txBody>
      </p:sp>
      <p:sp>
        <p:nvSpPr>
          <p:cNvPr id="48" name="顺序3">
            <a:extLst xmlns:a="http://schemas.openxmlformats.org/drawingml/2006/main">
              <a:ext uri="{FF2B5EF4-FFF2-40B4-BE49-F238E27FC236}">
                <a16:creationId xmlns:a16="http://schemas.microsoft.com/office/drawing/2014/main" id="{E0D1DFA1-103F-44F9-88A3-60856F47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9" name="流程4">
            <a:extLst xmlns:a="http://schemas.openxmlformats.org/drawingml/2006/main">
              <a:ext uri="{FF2B5EF4-FFF2-40B4-BE49-F238E27FC236}">
                <a16:creationId xmlns:a16="http://schemas.microsoft.com/office/drawing/2014/main" id="{B0469AD0-48FA-460E-875C-0E70709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数值求解</a:t>
            </a:r>
          </a:p>
        </p:txBody>
      </p:sp>
      <p:sp>
        <p:nvSpPr>
          <p:cNvPr id="50" name="流程说明4">
            <a:extLst xmlns:a="http://schemas.openxmlformats.org/drawingml/2006/main">
              <a:ext uri="{FF2B5EF4-FFF2-40B4-BE49-F238E27FC236}">
                <a16:creationId xmlns:a16="http://schemas.microsoft.com/office/drawing/2014/main" id="{6F953720-D16C-4EB6-B8E1-3B0AF3B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K u = F</a:t>
            </a:r>
          </a:p>
        </p:txBody>
      </p:sp>
      <p:sp>
        <p:nvSpPr>
          <p:cNvPr id="51" name="顺序4">
            <a:extLst xmlns:a="http://schemas.openxmlformats.org/drawingml/2006/main">
              <a:ext uri="{FF2B5EF4-FFF2-40B4-BE49-F238E27FC236}">
                <a16:creationId xmlns:a16="http://schemas.microsoft.com/office/drawing/2014/main" id="{E2E44424-6681-417C-BCF7-DBB3F003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669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2" name="流程5">
            <a:extLst xmlns:a="http://schemas.openxmlformats.org/drawingml/2006/main">
              <a:ext uri="{FF2B5EF4-FFF2-40B4-BE49-F238E27FC236}">
                <a16:creationId xmlns:a16="http://schemas.microsoft.com/office/drawing/2014/main" id="{463ED372-5C91-4A18-AB1F-447D9479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95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同源输出</a:t>
            </a:r>
          </a:p>
        </p:txBody>
      </p:sp>
      <p:sp>
        <p:nvSpPr>
          <p:cNvPr id="53" name="流程说明5">
            <a:extLst xmlns:a="http://schemas.openxmlformats.org/drawingml/2006/main">
              <a:ext uri="{FF2B5EF4-FFF2-40B4-BE49-F238E27FC236}">
                <a16:creationId xmlns:a16="http://schemas.microsoft.com/office/drawing/2014/main" id="{ACC7EEF7-35BD-4813-9EBD-76937BAD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289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图 / 表 / 报告</a:t>
            </a:r>
          </a:p>
        </p:txBody>
      </p:sp>
      <p:sp>
        <p:nvSpPr>
          <p:cNvPr id="54" name="核心机制">
            <a:extLst xmlns:a="http://schemas.openxmlformats.org/drawingml/2006/main">
              <a:ext uri="{FF2B5EF4-FFF2-40B4-BE49-F238E27FC236}">
                <a16:creationId xmlns:a16="http://schemas.microsoft.com/office/drawing/2014/main" id="{1F4DF9CF-B821-48BB-8A32-5D024B1B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有限元内核：空间梁每节点 6 自由度，单元刚度 12×12</a:t>
            </a:r>
          </a:p>
        </p:txBody>
      </p:sp>
      <p:sp>
        <p:nvSpPr>
          <p:cNvPr id="55" name="内核说明">
            <a:extLst xmlns:a="http://schemas.openxmlformats.org/drawingml/2006/main">
              <a:ext uri="{FF2B5EF4-FFF2-40B4-BE49-F238E27FC236}">
                <a16:creationId xmlns:a16="http://schemas.microsoft.com/office/drawing/2014/main" id="{251A45CB-3F36-4962-BD15-4CC4CA77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EB / Timoshenko 梁；组装、约束处理、多工况求解与平衡校核</a:t>
            </a:r>
          </a:p>
        </p:txBody>
      </p:sp>
      <p:sp>
        <p:nvSpPr>
          <p:cNvPr id="56" name="实体机制">
            <a:extLst xmlns:a="http://schemas.openxmlformats.org/drawingml/2006/main">
              <a:ext uri="{FF2B5EF4-FFF2-40B4-BE49-F238E27FC236}">
                <a16:creationId xmlns:a16="http://schemas.microsoft.com/office/drawing/2014/main" id="{3ABA55C7-D5EA-4666-BB05-F58DECF9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局部扩展：梁截面力 → Gmsh 网格 → 自研 C3D10 实体求解</a:t>
            </a:r>
          </a:p>
        </p:txBody>
      </p:sp>
      <p:sp>
        <p:nvSpPr>
          <p:cNvPr id="57" name="数据机制">
            <a:extLst xmlns:a="http://schemas.openxmlformats.org/drawingml/2006/main">
              <a:ext uri="{FF2B5EF4-FFF2-40B4-BE49-F238E27FC236}">
                <a16:creationId xmlns:a16="http://schemas.microsoft.com/office/drawing/2014/main" id="{1489C048-A3BE-4278-B25B-EAC83E63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记录模型、工况与工具返回值；模型变化使旧结果失效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69302B13-15D5-4917-ADC0-66A37B2AD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03215d6e349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56E9DF60-09A3-496C-AE3C-E995F9F0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已完成工作与实现规模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B976FB90-396F-4831-A4C3-E4034CC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已形成覆盖建模、求解和报告的软件原型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D9F500C4-B839-4436-A4A1-846509E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6" name="证据出处">
            <a:extLst xmlns:a="http://schemas.openxmlformats.org/drawingml/2006/main">
              <a:ext uri="{FF2B5EF4-FFF2-40B4-BE49-F238E27FC236}">
                <a16:creationId xmlns:a16="http://schemas.microsoft.com/office/drawing/2014/main" id="{3F8C57D3-AADE-47AC-9D63-6E76BC0D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规模统计截至 2026-10-10；最近完整回归 2837 项通过、1 项环境跳过</a:t>
            </a:r>
          </a:p>
        </p:txBody>
      </p:sp>
      <p:sp>
        <p:nvSpPr>
          <p:cNvPr id="37" name="规模0">
            <a:extLst xmlns:a="http://schemas.openxmlformats.org/drawingml/2006/main">
              <a:ext uri="{FF2B5EF4-FFF2-40B4-BE49-F238E27FC236}">
                <a16:creationId xmlns:a16="http://schemas.microsoft.com/office/drawing/2014/main" id="{979B5687-6D47-4C17-8D4B-0C507C29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66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240</a:t>
            </a:r>
          </a:p>
        </p:txBody>
      </p:sp>
      <p:sp>
        <p:nvSpPr>
          <p:cNvPr id="38" name="规模释义0">
            <a:extLst xmlns:a="http://schemas.openxmlformats.org/drawingml/2006/main">
              <a:ext uri="{FF2B5EF4-FFF2-40B4-BE49-F238E27FC236}">
                <a16:creationId xmlns:a16="http://schemas.microsoft.com/office/drawing/2014/main" id="{4683D2AF-1AF0-432E-874D-BC70C4AE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1457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Python 文件</a:t>
            </a:r>
          </a:p>
        </p:txBody>
      </p:sp>
      <p:sp>
        <p:nvSpPr>
          <p:cNvPr id="39" name="规模1">
            <a:extLst xmlns:a="http://schemas.openxmlformats.org/drawingml/2006/main">
              <a:ext uri="{FF2B5EF4-FFF2-40B4-BE49-F238E27FC236}">
                <a16:creationId xmlns:a16="http://schemas.microsoft.com/office/drawing/2014/main" id="{45C4C65A-1EF9-444F-89C9-CF8E93D6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66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63</a:t>
            </a:r>
          </a:p>
        </p:txBody>
      </p:sp>
      <p:sp>
        <p:nvSpPr>
          <p:cNvPr id="40" name="规模释义1">
            <a:extLst xmlns:a="http://schemas.openxmlformats.org/drawingml/2006/main">
              <a:ext uri="{FF2B5EF4-FFF2-40B4-BE49-F238E27FC236}">
                <a16:creationId xmlns:a16="http://schemas.microsoft.com/office/drawing/2014/main" id="{FE947933-AD43-4722-A9BB-D09BA498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1457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注册工具</a:t>
            </a:r>
          </a:p>
        </p:txBody>
      </p:sp>
      <p:sp>
        <p:nvSpPr>
          <p:cNvPr id="41" name="规模2">
            <a:extLst xmlns:a="http://schemas.openxmlformats.org/drawingml/2006/main">
              <a:ext uri="{FF2B5EF4-FFF2-40B4-BE49-F238E27FC236}">
                <a16:creationId xmlns:a16="http://schemas.microsoft.com/office/drawing/2014/main" id="{7EB56A6F-41A7-472A-A36E-658B980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66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42" name="规模释义2">
            <a:extLst xmlns:a="http://schemas.openxmlformats.org/drawingml/2006/main">
              <a:ext uri="{FF2B5EF4-FFF2-40B4-BE49-F238E27FC236}">
                <a16:creationId xmlns:a16="http://schemas.microsoft.com/office/drawing/2014/main" id="{91D56BE6-1AAC-4F40-A8A9-38937685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1457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独立解析基准</a:t>
            </a:r>
          </a:p>
        </p:txBody>
      </p:sp>
      <p:sp>
        <p:nvSpPr>
          <p:cNvPr id="43" name="规模3">
            <a:extLst xmlns:a="http://schemas.openxmlformats.org/drawingml/2006/main">
              <a:ext uri="{FF2B5EF4-FFF2-40B4-BE49-F238E27FC236}">
                <a16:creationId xmlns:a16="http://schemas.microsoft.com/office/drawing/2014/main" id="{710AD3EE-8755-40F4-A801-680B98BD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14500"/>
            <a:ext cx="266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2837</a:t>
            </a:r>
          </a:p>
        </p:txBody>
      </p:sp>
      <p:sp>
        <p:nvSpPr>
          <p:cNvPr id="44" name="规模释义3">
            <a:extLst xmlns:a="http://schemas.openxmlformats.org/drawingml/2006/main">
              <a:ext uri="{FF2B5EF4-FFF2-40B4-BE49-F238E27FC236}">
                <a16:creationId xmlns:a16="http://schemas.microsoft.com/office/drawing/2014/main" id="{960D07F0-4365-495B-AE38-1177BD6D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1457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回归测试通过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DE37F8-3364-4C29-B469-D2301079C6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979de2d004793"/>
          <a:stretch xmlns:a="http://schemas.openxmlformats.org/drawingml/2006/main"/>
        </p:blipFill>
        <p:spPr>
          <a:xfrm xmlns:a="http://schemas.openxmlformats.org/drawingml/2006/main">
            <a:off x="1152525" y="2952750"/>
            <a:ext cx="5181600" cy="2914650"/>
          </a:xfrm>
          <a:prstGeom xmlns:a="http://schemas.openxmlformats.org/drawingml/2006/main" prst="rect">
            <a:avLst/>
          </a:prstGeom>
        </p:spPr>
      </p:pic>
      <p:sp>
        <p:nvSpPr>
          <p:cNvPr id="46" name="任务能力">
            <a:extLst xmlns:a="http://schemas.openxmlformats.org/drawingml/2006/main">
              <a:ext uri="{FF2B5EF4-FFF2-40B4-BE49-F238E27FC236}">
                <a16:creationId xmlns:a16="http://schemas.microsoft.com/office/drawing/2014/main" id="{BE7EBC01-E809-45C6-AEFE-0EDA875B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现阶段可完成的任务</a:t>
            </a:r>
          </a:p>
        </p:txBody>
      </p:sp>
      <p:sp>
        <p:nvSpPr>
          <p:cNvPr id="47" name="能力1">
            <a:extLst xmlns:a="http://schemas.openxmlformats.org/drawingml/2006/main">
              <a:ext uri="{FF2B5EF4-FFF2-40B4-BE49-F238E27FC236}">
                <a16:creationId xmlns:a16="http://schemas.microsoft.com/office/drawing/2014/main" id="{52716D01-B533-43E9-806E-ADCCB574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956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参数化 / 人工建模与校验</a:t>
            </a:r>
          </a:p>
        </p:txBody>
      </p:sp>
      <p:sp>
        <p:nvSpPr>
          <p:cNvPr id="48" name="能力2">
            <a:extLst xmlns:a="http://schemas.openxmlformats.org/drawingml/2006/main">
              <a:ext uri="{FF2B5EF4-FFF2-40B4-BE49-F238E27FC236}">
                <a16:creationId xmlns:a16="http://schemas.microsoft.com/office/drawing/2014/main" id="{1108243F-C713-49E3-9D6B-7A90964A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多工况求解、云图与内力查询</a:t>
            </a:r>
          </a:p>
        </p:txBody>
      </p:sp>
      <p:sp>
        <p:nvSpPr>
          <p:cNvPr id="49" name="能力3">
            <a:extLst xmlns:a="http://schemas.openxmlformats.org/drawingml/2006/main">
              <a:ext uri="{FF2B5EF4-FFF2-40B4-BE49-F238E27FC236}">
                <a16:creationId xmlns:a16="http://schemas.microsoft.com/office/drawing/2014/main" id="{CDAEC382-E28E-43A4-B893-8B7EEFA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346"/>
                </a:solidFill>
                <a:latin typeface="微软雅黑"/>
                <a:ea typeface="微软雅黑"/>
                <a:cs typeface="微软雅黑"/>
              </a:rPr>
              <a:t>包络、验算及 Word 计算书</a:t>
            </a:r>
          </a:p>
        </p:txBody>
      </p:sp>
      <p:sp>
        <p:nvSpPr>
          <p:cNvPr id="50" name="算例规模">
            <a:extLst xmlns:a="http://schemas.openxmlformats.org/drawingml/2006/main">
              <a:ext uri="{FF2B5EF4-FFF2-40B4-BE49-F238E27FC236}">
                <a16:creationId xmlns:a16="http://schemas.microsoft.com/office/drawing/2014/main" id="{37ECE00C-0707-4734-A124-1A3A3517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57775"/>
            <a:ext cx="423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已运行：239 节点 / 622 根杆件屋盖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1C9CEA21-46A8-43E2-BA97-258BA8E81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6fa93ad0e42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96DA4279-3E73-4F20-ADBB-75F64AAA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4  前期遇到的问题及解决方法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EF9D75C1-D145-430A-9EA1-F16E7A0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缺失荷载信息必须保留为未知，避免被误当作零值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9EA61B09-A00A-48E4-9477-73E3BE29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6" name="证据出处">
            <a:extLst xmlns:a="http://schemas.openxmlformats.org/drawingml/2006/main">
              <a:ext uri="{FF2B5EF4-FFF2-40B4-BE49-F238E27FC236}">
                <a16:creationId xmlns:a16="http://schemas.microsoft.com/office/drawing/2014/main" id="{D3FA1B9F-7FC1-4F7E-AF6B-6EA436D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实际问题来源：docs/PROGRESS.md“审核问题分组与节点荷载缺值”（2026-10-10）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B6F0D9-4932-483C-8F19-F74947AE8E80}"/>
              </a:ext>
            </a:extLst>
          </p:cNvPr>
          <p:cNvGraphicFramePr/>
          <p:nvPr/>
        </p:nvGraphicFramePr>
        <p:xfrm>
          <a:off xmlns:a="http://schemas.openxmlformats.org/drawingml/2006/main" x="533400" y="1933575"/>
          <a:ext xmlns:a="http://schemas.openxmlformats.org/drawingml/2006/main" cx="11125200" cy="33242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9172575"/>
              </a:tblGrid>
              <a:tr h="66484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问题分析与处理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6484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发现问题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图片草稿缺少荷载分量，界面却显示为 0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6484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原因定位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输入控件默认值混淆“未知”和“零荷载”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解决方法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保留空白；校验数值与单位；人工确认后再提交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6484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回归覆盖缺失、短向量和非法值；未确认时阻断导入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问题启示">
            <a:extLst xmlns:a="http://schemas.openxmlformats.org/drawingml/2006/main">
              <a:ext uri="{FF2B5EF4-FFF2-40B4-BE49-F238E27FC236}">
                <a16:creationId xmlns:a16="http://schemas.microsoft.com/office/drawing/2014/main" id="{C9D09574-57D4-41E6-BEE9-AC7DCD3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启示：可求解、能通过平衡检查，也不等于输入符合原图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56758B11-0856-45E0-B175-5125F8FB8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3c97070e548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229121BD-BE8F-4227-8B76-05F4E727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5  现阶段总结与后续计划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9E03CD62-142C-4167-A499-DC4273DC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主流程已形成，后续研究重点是复杂场景的可靠性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2FBDD24E-F9B3-47B6-B6C3-D124CCD2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6" name="证据出处">
            <a:extLst xmlns:a="http://schemas.openxmlformats.org/drawingml/2006/main">
              <a:ext uri="{FF2B5EF4-FFF2-40B4-BE49-F238E27FC236}">
                <a16:creationId xmlns:a16="http://schemas.microsoft.com/office/drawing/2014/main" id="{C3B3D5EE-2093-40A9-A1BB-A5CD7687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计划依据：docs/答辩前验收.md；docs/BETA_0.1_CAPABILITY_MATRIX.md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D56A3B-78E6-49CC-89A5-266B54582D24}"/>
              </a:ext>
            </a:extLst>
          </p:cNvPr>
          <p:cNvGraphicFramePr/>
          <p:nvPr/>
        </p:nvGraphicFramePr>
        <p:xfrm>
          <a:off xmlns:a="http://schemas.openxmlformats.org/drawingml/2006/main" x="533400" y="1914525"/>
          <a:ext xmlns:a="http://schemas.openxmlformats.org/drawingml/2006/main" cx="11125200" cy="3495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4648200"/>
                <a:gridCol w="4095750"/>
              </a:tblGrid>
              <a:tr h="69913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 / 方向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研究与实施计划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验证指标或交付物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9913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近期：交付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修复表格与标注缺陷；冻结演示版本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保存重开、显示与报告验收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9913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中期：识别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建立许可明确、独立复核的留出样本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拓扑 F1 / 荷载错误率</a:t>
                      </a:r>
                    </a:p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完整模型通过率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913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中期：节点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三档网格、热点提取与 Abaqus 对标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收敛误差及 Kt 的适用范围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9913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后续：力学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研究弯曲塑性；先建独立基准再实现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闭合解 / 参考解与收敛验证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阶段总结">
            <a:extLst xmlns:a="http://schemas.openxmlformats.org/drawingml/2006/main">
              <a:ext uri="{FF2B5EF4-FFF2-40B4-BE49-F238E27FC236}">
                <a16:creationId xmlns:a16="http://schemas.microsoft.com/office/drawing/2014/main" id="{F65E324F-0BEC-41B8-A840-7545E012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已有：可追溯的计算主线　　待验证：复杂图纸与局部应力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A7853C40-CB23-4A2B-90B1-43E1E0B11E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ddd16754042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36F87FFE-811B-49B6-935E-6E8994F2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1  计算准确性验证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AC0501D3-D32D-411E-828C-DAC14B29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同理论对标支持已测试梁算例的数值一致性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A23CFF4A-A263-492D-9BF7-4F5430E5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备答 1</a:t>
            </a:r>
          </a:p>
        </p:txBody>
      </p:sp>
      <p:sp>
        <p:nvSpPr>
          <p:cNvPr id="36" name="证据出处">
            <a:extLst xmlns:a="http://schemas.openxmlformats.org/drawingml/2006/main">
              <a:ext uri="{FF2B5EF4-FFF2-40B4-BE49-F238E27FC236}">
                <a16:creationId xmlns:a16="http://schemas.microsoft.com/office/drawing/2014/main" id="{CC498A7C-AA14-45DE-A832-731DB825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来源：abaqus_bench/benchmark_B33.md；e(‖U‖) 为位移向量归一化误差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2504AA-4198-469D-9DB0-75512DE77FDC}"/>
              </a:ext>
            </a:extLst>
          </p:cNvPr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2857500"/>
                <a:gridCol w="3267075"/>
                <a:gridCol w="2381250"/>
              </a:tblGrid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算例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本程序 / mm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Abaqus B33 / mm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e(‖U‖)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悬臂强轴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42.8570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8.74×10⁻⁶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悬臂弱轴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857.1429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5.30×10⁻⁵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门式刚架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7.23×10⁻⁶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空间刚架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5.83×10⁻⁶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对标边界">
            <a:extLst xmlns:a="http://schemas.openxmlformats.org/drawingml/2006/main">
              <a:ext uri="{FF2B5EF4-FFF2-40B4-BE49-F238E27FC236}">
                <a16:creationId xmlns:a16="http://schemas.microsoft.com/office/drawing/2014/main" id="{DB3F9287-05F8-4838-B322-2A23154E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B33 对应 EB 分支；结论限定于相同理论、输入及所列算例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8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DC4C03A9-50EB-4A7D-8399-2CB43DA98D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a608a55a549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DD9ABA13-175D-41C0-B511-2B326E36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2  实现规模与验证层次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E5CE7772-12DC-4567-A379-C5037E30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源码、交互和验证体系均有可复核的产物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2CE26FE8-2767-43B2-AFA9-EB24FC91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备答 2</a:t>
            </a:r>
          </a:p>
        </p:txBody>
      </p:sp>
      <p:sp>
        <p:nvSpPr>
          <p:cNvPr id="36" name="证据出处">
            <a:extLst xmlns:a="http://schemas.openxmlformats.org/drawingml/2006/main">
              <a:ext uri="{FF2B5EF4-FFF2-40B4-BE49-F238E27FC236}">
                <a16:creationId xmlns:a16="http://schemas.microsoft.com/office/drawing/2014/main" id="{2860F9F7-B539-49AE-85C9-6620EF60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来源：docs/课程报告.md §2.1；行数含注释与空行，不作为人工工时或正确性指标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30246C-7AA3-4085-B775-F9C213E99846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381250"/>
                <a:gridCol w="4362450"/>
              </a:tblGrid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目录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文件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代码行数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29,387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内核、Agent、数据与报告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desktop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21,615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桌面、视口与后台任务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tests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33,741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自动回归测试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2,108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验证、测量与文档工具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验证层次">
            <a:extLst xmlns:a="http://schemas.openxmlformats.org/drawingml/2006/main">
              <a:ext uri="{FF2B5EF4-FFF2-40B4-BE49-F238E27FC236}">
                <a16:creationId xmlns:a16="http://schemas.microsoft.com/office/drawing/2014/main" id="{A757421E-5F5F-4036-B6C1-BC55CD1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解析基准验证力学响应；回归测试验证实现；真实图纸另行评测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4">
            <a:extLst xmlns:a="http://schemas.openxmlformats.org/drawingml/2006/main"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80"/>
          </a:p>
        </p:txBody>
      </p:sp>
      <p:pic>
        <p:nvPicPr>
          <p:cNvPr id="32" name="Picture 2">
            <a:extLst xmlns:a="http://schemas.openxmlformats.org/drawingml/2006/main">
              <a:ext uri="{FF2B5EF4-FFF2-40B4-BE49-F238E27FC236}">
                <a16:creationId xmlns:a16="http://schemas.microsoft.com/office/drawing/2014/main" id="{31DF3AFD-0B3D-4BC0-917C-C5EA2BE8D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5aa80031643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419" y="99849"/>
            <a:ext cx="2203824" cy="5752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DBE77805-442F-42DA-9230-9DC84030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3  资料来源与能力边界</a:t>
            </a:r>
          </a:p>
        </p:txBody>
      </p:sp>
      <p:sp>
        <p:nvSpPr>
          <p:cNvPr id="34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B0E8C881-9233-474C-B3C3-8BE1641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项目结论以对应模型、条件和验证记录为依据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BA7B6678-E46F-451B-8634-721502B8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备答 3</a:t>
            </a:r>
          </a:p>
        </p:txBody>
      </p:sp>
      <p:sp>
        <p:nvSpPr>
          <p:cNvPr id="36" name="证据出处">
            <a:extLst xmlns:a="http://schemas.openxmlformats.org/drawingml/2006/main">
              <a:ext uri="{FF2B5EF4-FFF2-40B4-BE49-F238E27FC236}">
                <a16:creationId xmlns:a16="http://schemas.microsoft.com/office/drawing/2014/main" id="{1208354D-C9DB-4B30-B264-FCE632CB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674"/>
                </a:solidFill>
                <a:latin typeface="微软雅黑"/>
                <a:ea typeface="微软雅黑"/>
                <a:cs typeface="微软雅黑"/>
              </a:rPr>
              <a:t>项目资料：https://github.com/zhou860324bond-cell/space-frame-agent</a:t>
            </a:r>
          </a:p>
        </p:txBody>
      </p:sp>
      <p:graphicFrame>
        <p:nvGraphicFrame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6A0639-B871-4420-83A1-361BE6006256}"/>
              </a:ext>
            </a:extLst>
          </p:cNvPr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190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24350"/>
                <a:gridCol w="6800850"/>
              </a:tblGrid>
              <a:tr h="63817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证据资料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支持的结论 / 当前边界</a:t>
                      </a:r>
                    </a:p>
                  </a:txBody>
                  <a:tcPr marL="91440" marR="91440" marT="45720" marB="45720" anchor="ctr">
                    <a:solidFill>
                      <a:srgbClr val="092858"/>
                    </a:solidFill>
                  </a:tcPr>
                </a:tc>
              </a:tr>
              <a:tr h="63817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课程报告与解析金标准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空间梁主流程及代表力学基准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3817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Abaqus B33 对标报告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同梁理论、同输入下的已测算例比较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五分钟答辩前验收记录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源码主线已验收；旧安装包仍待更新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38175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公开图识别与节点实体记录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633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图片须审核；正式 Kt 须有多档收敛证据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力学限制">
            <a:extLst xmlns:a="http://schemas.openxmlformats.org/drawingml/2006/main">
              <a:ext uri="{FF2B5EF4-FFF2-40B4-BE49-F238E27FC236}">
                <a16:creationId xmlns:a16="http://schemas.microsoft.com/office/drawing/2014/main" id="{3292FC6C-88B7-444E-902C-ABA19FD5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767A4"/>
                </a:solidFill>
                <a:latin typeface="微软雅黑"/>
                <a:ea typeface="微软雅黑"/>
                <a:cs typeface="微软雅黑"/>
              </a:rPr>
              <a:t>P-Δ 为小应变二阶弹性；材料塑性目前限于轴向双线性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2026-10-10T16:38:31.6780000Z</dcterms:created>
  <dcterms:modified xsi:type="dcterms:W3CDTF">2026-10-10T16:38:31.6780000Z</dcterms:modified>
</coreProperties>
</file>