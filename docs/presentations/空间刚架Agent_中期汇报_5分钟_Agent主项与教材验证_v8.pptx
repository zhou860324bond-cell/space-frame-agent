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1" r:id="rId15"/>
    <p:sldId id="265" r:id="rId16"/>
    <p:sldId id="266" r:id="rId1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节点位移/mm</c:v>
          </c:tx>
          <c:spPr>
            <a:ln w="28575">
              <a:solidFill>
                <a:srgbClr val="0075C9"/>
              </a:solidFill>
            </a:ln>
          </c:spPr>
          <c:marker>
            <c:symbol val="circle"/>
            <c:size val="6"/>
            <c:spPr>
              <a:solidFill>
                <a:srgbClr val="0075C9"/>
              </a:solidFill>
            </c:spPr>
          </c:marker>
          <c:cat>
            <c:numLit>
              <c:formatCode>General</c:formatCode>
              <c:ptCount val="4"/>
              <c:pt idx="0">
                <c:v>0.5</c:v>
              </c:pt>
              <c:pt idx="1">
                <c:v>1</c:v>
              </c:pt>
              <c:pt idx="2">
                <c:v>1.5</c:v>
              </c:pt>
              <c:pt idx="3">
                <c:v>2</c:v>
              </c:pt>
            </c:numLit>
          </c:cat>
          <c:val>
            <c:numLit>
              <c:formatCode>0.000</c:formatCode>
              <c:ptCount val="4"/>
              <c:pt idx="0">
                <c:v>2.1215000000000001E-2</c:v>
              </c:pt>
              <c:pt idx="1">
                <c:v>4.2430000000000002E-2</c:v>
              </c:pt>
              <c:pt idx="2">
                <c:v>6.3645999999999994E-2</c:v>
              </c:pt>
              <c:pt idx="3">
                <c:v>8.4861000000000006E-2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7A3-4BF9-92A0-EF41EA319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75">
                    <a:solidFill>
                      <a:srgbClr val="092858"/>
                    </a:solidFill>
                    <a:latin typeface="微软雅黑"/>
                    <a:ea typeface="微软雅黑"/>
                    <a:cs typeface="微软雅黑"/>
                  </a:rPr>
                  <a:t>G荷载倍数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w="9525">
              <a:solidFill>
                <a:srgbClr val="D9E4F0"/>
              </a:solidFill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2.5000000000000001E-2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8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各位老师好。本项目以空间刚架智能计算</a:t>
            </a:r>
            <a:r>
              <a:rPr lang="en-US" altLang="zh-CN"/>
              <a:t>Agent</a:t>
            </a:r>
            <a:r>
              <a:rPr lang="zh-CN" altLang="en-US"/>
              <a:t>为主项，下面介绍其任务组织方式与配套计算成果。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endParaRPr lang="en-US" altLang="zh-CN"/>
          </a:p>
          <a:p>
            <a:r>
              <a:rPr lang="en-US" altLang="zh-CN"/>
              <a:t>【15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各位老师好，本项目是基于</a:t>
            </a:r>
            <a:r>
              <a:rPr lang="en-US" altLang="zh-CN"/>
              <a:t>AI</a:t>
            </a:r>
            <a:r>
              <a:rPr lang="zh-CN" altLang="en-US"/>
              <a:t>的空间刚架智能计算</a:t>
            </a:r>
            <a:r>
              <a:rPr lang="en-US" altLang="zh-CN"/>
              <a:t>Agent</a:t>
            </a:r>
            <a:r>
              <a:rPr lang="zh-CN" altLang="en-US"/>
              <a:t>开发，面向教学研究、建模辅助和方案试算。汇报说明</a:t>
            </a:r>
            <a:r>
              <a:rPr lang="en-US" altLang="zh-CN"/>
              <a:t>AI</a:t>
            </a:r>
            <a:r>
              <a:rPr lang="zh-CN" altLang="en-US"/>
              <a:t>与力学程序如何分工，并用实际算例展示阶段成果、验证边界和后续研究。</a:t>
            </a:r>
          </a:p>
          <a:p>
            <a:r>
              <a:rPr lang="zh-CN" altLang="en-US"/>
              <a:t>学校封面沿用现有</a:t>
            </a:r>
            <a:r>
              <a:rPr lang="en-US" altLang="zh-CN"/>
              <a:t>v3</a:t>
            </a:r>
            <a:r>
              <a:rPr lang="zh-CN" altLang="en-US"/>
              <a:t>，人员信息须由汇报人填写。统计截止日为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10</a:t>
            </a:r>
            <a:r>
              <a:rPr lang="zh-CN" altLang="en-US"/>
              <a:t>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18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项目主选第二题，重点是通过自然语言组织空间刚架分析。同时配套实现整体位移、杆件内力和节点实体分析等第一题相关功能。结构化模型承接输入，人工确认不确定信息，确定性程序计算并记录结果来源。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en-US" altLang="zh-CN"/>
              <a:t>Agent</a:t>
            </a:r>
            <a:r>
              <a:rPr lang="zh-CN" altLang="en-US"/>
              <a:t>为主项。未取得题</a:t>
            </a:r>
            <a:r>
              <a:rPr lang="en-US" altLang="zh-CN"/>
              <a:t>1</a:t>
            </a:r>
            <a:r>
              <a:rPr lang="zh-CN" altLang="en-US"/>
              <a:t>完整要求原文，不使用覆盖全部或大部分要求的未经逐条验收说法；配套实现范围在第</a:t>
            </a:r>
            <a:r>
              <a:rPr lang="en-US" altLang="zh-CN"/>
              <a:t>8—12</a:t>
            </a:r>
            <a:r>
              <a:rPr lang="zh-CN" altLang="en-US"/>
              <a:t>页给出。工程教学辅助，不宣称工程安全认证。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4533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25</a:t>
            </a:r>
            <a:r>
              <a:rPr lang="zh-CN" altLang="en-US"/>
              <a:t>秒</a:t>
            </a:r>
            <a:r>
              <a:rPr lang="en-US" altLang="zh-CN"/>
              <a:t>】Agent</a:t>
            </a:r>
            <a:r>
              <a:rPr lang="zh-CN" altLang="en-US"/>
              <a:t>按任务、模型理解、工具执行和结果反馈形成连续交互。大模型负责理解目标、生成参数及选择工具，程序执行建模和计算；条件不明确时由用户补充和确认。当前有</a:t>
            </a:r>
            <a:r>
              <a:rPr lang="en-US" altLang="zh-CN"/>
              <a:t>63</a:t>
            </a:r>
            <a:r>
              <a:rPr lang="zh-CN" altLang="en-US"/>
              <a:t>个注册接口，覆盖六类任务，数量表示可调用程序功能，不等于每项能力均获得工程验证。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图示是可见消息</a:t>
            </a:r>
            <a:r>
              <a:rPr lang="en-US" altLang="zh-CN"/>
              <a:t>—</a:t>
            </a:r>
            <a:r>
              <a:rPr lang="zh-CN" altLang="en-US"/>
              <a:t>工具执行</a:t>
            </a:r>
            <a:r>
              <a:rPr lang="en-US" altLang="zh-CN"/>
              <a:t>—</a:t>
            </a:r>
            <a:r>
              <a:rPr lang="zh-CN" altLang="en-US"/>
              <a:t>回包循环，不展示或推断模型内部思维过程。每次工具通过确定性</a:t>
            </a:r>
            <a:r>
              <a:rPr lang="en-US" altLang="zh-CN"/>
              <a:t>Session.dispatch</a:t>
            </a:r>
            <a:r>
              <a:rPr lang="zh-CN" altLang="en-US"/>
              <a:t>修改模型或求解。用户可多轮追问；数值与来源保持工具可追踪。</a:t>
            </a:r>
            <a:r>
              <a:rPr lang="en-US" altLang="zh-CN"/>
              <a:t>63</a:t>
            </a:r>
            <a:r>
              <a:rPr lang="zh-CN" altLang="en-US"/>
              <a:t>分类</a:t>
            </a:r>
            <a:r>
              <a:rPr lang="en-US" altLang="zh-CN"/>
              <a:t>15+18+11+9+5+5</a:t>
            </a:r>
            <a:r>
              <a:rPr lang="zh-CN" altLang="en-US"/>
              <a:t>，统计现行</a:t>
            </a:r>
            <a:r>
              <a:rPr lang="en-US" altLang="zh-CN"/>
              <a:t>agent_tools.TOOLS</a:t>
            </a:r>
            <a:r>
              <a:rPr lang="zh-CN" altLang="en-US"/>
              <a:t>。开发协作由研究者定义力学假设、验收标准，</a:t>
            </a:r>
            <a:r>
              <a:rPr lang="en-US" altLang="zh-CN"/>
              <a:t>AI</a:t>
            </a:r>
            <a:r>
              <a:rPr lang="zh-CN" altLang="en-US"/>
              <a:t>辅助实现与诊断，结果经解析算例、独立复算与回归复核；这与软件运行中的</a:t>
            </a:r>
            <a:r>
              <a:rPr lang="en-US" altLang="zh-CN"/>
              <a:t>Agent</a:t>
            </a:r>
            <a:r>
              <a:rPr lang="zh-CN" altLang="en-US"/>
              <a:t>分工不同。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5005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25</a:t>
            </a:r>
            <a:r>
              <a:rPr lang="zh-CN" altLang="en-US"/>
              <a:t>秒</a:t>
            </a:r>
            <a:r>
              <a:rPr lang="en-US" altLang="zh-CN"/>
              <a:t>】【</a:t>
            </a:r>
            <a:r>
              <a:rPr lang="zh-CN" altLang="en-US"/>
              <a:t>单击播放</a:t>
            </a:r>
            <a:r>
              <a:rPr lang="en-US" altLang="zh-CN"/>
              <a:t>18</a:t>
            </a:r>
            <a:r>
              <a:rPr lang="zh-CN" altLang="en-US"/>
              <a:t>秒；可配合解说</a:t>
            </a:r>
            <a:r>
              <a:rPr lang="en-US" altLang="zh-CN"/>
              <a:t>】</a:t>
            </a:r>
            <a:r>
              <a:rPr lang="zh-CN" altLang="en-US"/>
              <a:t>先看自然语言建模。给出两跨几何、柱底固接和梁荷载，沿用预设材料与截面，</a:t>
            </a:r>
            <a:r>
              <a:rPr lang="en-US" altLang="zh-CN"/>
              <a:t>Agent</a:t>
            </a:r>
            <a:r>
              <a:rPr lang="zh-CN" altLang="en-US"/>
              <a:t>实际调用建模和校验工具，生成</a:t>
            </a:r>
            <a:r>
              <a:rPr lang="en-US" altLang="zh-CN"/>
              <a:t>12</a:t>
            </a:r>
            <a:r>
              <a:rPr lang="zh-CN" altLang="en-US"/>
              <a:t>节点、</a:t>
            </a:r>
            <a:r>
              <a:rPr lang="en-US" altLang="zh-CN"/>
              <a:t>13</a:t>
            </a:r>
            <a:r>
              <a:rPr lang="zh-CN" altLang="en-US"/>
              <a:t>杆件模型。等待部分已剪短。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视频采集当前真实</a:t>
            </a:r>
            <a:r>
              <a:rPr lang="en-US" altLang="zh-CN"/>
              <a:t>MainWindow</a:t>
            </a:r>
            <a:r>
              <a:rPr lang="zh-CN" altLang="en-US"/>
              <a:t>及</a:t>
            </a:r>
            <a:r>
              <a:rPr lang="en-US" altLang="zh-CN"/>
              <a:t>VTK</a:t>
            </a:r>
            <a:r>
              <a:rPr lang="zh-CN" altLang="en-US"/>
              <a:t>。授权范围内真实联网</a:t>
            </a:r>
            <a:r>
              <a:rPr lang="en-US" altLang="zh-CN"/>
              <a:t>DeepSeek</a:t>
            </a:r>
            <a:r>
              <a:rPr lang="zh-CN" altLang="en-US"/>
              <a:t>，不以离线序列冒充模型。输入调用</a:t>
            </a:r>
            <a:r>
              <a:rPr lang="en-US" altLang="zh-CN"/>
              <a:t>generate_frame</a:t>
            </a:r>
            <a:r>
              <a:rPr lang="zh-CN" altLang="en-US"/>
              <a:t>与</a:t>
            </a:r>
            <a:r>
              <a:rPr lang="en-US" altLang="zh-CN"/>
              <a:t>validate_model</a:t>
            </a:r>
            <a:r>
              <a:rPr lang="zh-CN" altLang="en-US"/>
              <a:t>，</a:t>
            </a:r>
            <a:r>
              <a:rPr lang="en-US" altLang="zh-CN"/>
              <a:t>7</a:t>
            </a:r>
            <a:r>
              <a:rPr lang="zh-CN" altLang="en-US"/>
              <a:t>根梁</a:t>
            </a:r>
            <a:r>
              <a:rPr lang="en-US" altLang="zh-CN"/>
              <a:t>G−5000N/m</a:t>
            </a:r>
            <a:r>
              <a:rPr lang="zh-CN" altLang="en-US"/>
              <a:t>，</a:t>
            </a:r>
            <a:r>
              <a:rPr lang="en-US" altLang="zh-CN"/>
              <a:t>Q355</a:t>
            </a:r>
            <a:r>
              <a:rPr lang="zh-CN" altLang="en-US"/>
              <a:t>与</a:t>
            </a:r>
            <a:r>
              <a:rPr lang="en-US" altLang="zh-CN"/>
              <a:t>H</a:t>
            </a:r>
            <a:r>
              <a:rPr lang="zh-CN" altLang="en-US"/>
              <a:t>截面预先定义。记录本轮五轮连续对话，工具回包、模型及指纹在证据文件。视频剪去部分等待，单击播放，人工属性预设明确。不采用</a:t>
            </a:r>
            <a:r>
              <a:rPr lang="en-US" altLang="zh-CN"/>
              <a:t>AI</a:t>
            </a:r>
            <a:r>
              <a:rPr lang="zh-CN" altLang="en-US"/>
              <a:t>关于工程安全或未提供条件的额外推断作为证据。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766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30</a:t>
            </a:r>
            <a:r>
              <a:rPr lang="zh-CN" altLang="en-US"/>
              <a:t>秒</a:t>
            </a:r>
            <a:r>
              <a:rPr lang="en-US" altLang="zh-CN"/>
              <a:t>】【</a:t>
            </a:r>
            <a:r>
              <a:rPr lang="zh-CN" altLang="en-US"/>
              <a:t>单击播放</a:t>
            </a:r>
            <a:r>
              <a:rPr lang="en-US" altLang="zh-CN"/>
              <a:t>25</a:t>
            </a:r>
            <a:r>
              <a:rPr lang="zh-CN" altLang="en-US"/>
              <a:t>秒；可配合解说</a:t>
            </a:r>
            <a:r>
              <a:rPr lang="en-US" altLang="zh-CN"/>
              <a:t>】</a:t>
            </a:r>
            <a:r>
              <a:rPr lang="zh-CN" altLang="en-US"/>
              <a:t>图纸先形成可编辑草稿，再核对位置、尺度、支座与荷载。原图只有</a:t>
            </a:r>
            <a:r>
              <a:rPr lang="en-US"/>
              <a:t>F</a:t>
            </a:r>
            <a:r>
              <a:rPr lang="zh-CN" altLang="en-US"/>
              <a:t>和</a:t>
            </a:r>
            <a:r>
              <a:rPr lang="en-US"/>
              <a:t>L</a:t>
            </a:r>
            <a:r>
              <a:rPr lang="zh-CN" altLang="en-US"/>
              <a:t>符号，本段人工设为</a:t>
            </a:r>
            <a:r>
              <a:rPr lang="en-US" altLang="zh-CN"/>
              <a:t>10</a:t>
            </a:r>
            <a:r>
              <a:rPr lang="zh-CN" altLang="en-US"/>
              <a:t>千牛、</a:t>
            </a:r>
            <a:r>
              <a:rPr lang="en-US" altLang="zh-CN"/>
              <a:t>6</a:t>
            </a:r>
            <a:r>
              <a:rPr lang="zh-CN" altLang="en-US"/>
              <a:t>米，不能计为自动识别。审核与预演通过后，真实导入</a:t>
            </a:r>
            <a:r>
              <a:rPr lang="en-US" altLang="zh-CN"/>
              <a:t>3</a:t>
            </a:r>
            <a:r>
              <a:rPr lang="zh-CN" altLang="en-US"/>
              <a:t>节点、</a:t>
            </a:r>
            <a:r>
              <a:rPr lang="en-US" altLang="zh-CN"/>
              <a:t>2</a:t>
            </a:r>
            <a:r>
              <a:rPr lang="zh-CN" altLang="en-US"/>
              <a:t>杆件几何模型，属性另行指定。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载入既有真实视觉模型识别草稿，录制当前</a:t>
            </a:r>
            <a:r>
              <a:rPr lang="en-US"/>
              <a:t>SketchPanel</a:t>
            </a:r>
            <a:r>
              <a:rPr lang="zh-CN" altLang="en-US"/>
              <a:t>修正荷载中点、确认近似正射</a:t>
            </a:r>
            <a:r>
              <a:rPr lang="en-US" altLang="zh-CN"/>
              <a:t>/</a:t>
            </a:r>
            <a:r>
              <a:rPr lang="en-US"/>
              <a:t>XZ、</a:t>
            </a:r>
            <a:r>
              <a:rPr lang="zh-CN" altLang="en-US"/>
              <a:t>总长</a:t>
            </a:r>
            <a:r>
              <a:rPr lang="en-US" altLang="zh-CN"/>
              <a:t>6</a:t>
            </a:r>
            <a:r>
              <a:rPr lang="en-US"/>
              <a:t>m、</a:t>
            </a:r>
            <a:r>
              <a:rPr lang="zh-CN" altLang="en-US"/>
              <a:t>两端铰支、</a:t>
            </a:r>
            <a:r>
              <a:rPr lang="en-US"/>
              <a:t>Fz=-10000N</a:t>
            </a:r>
            <a:r>
              <a:rPr lang="zh-CN" altLang="en-US"/>
              <a:t>其他五分量明确</a:t>
            </a:r>
            <a:r>
              <a:rPr lang="en-US" altLang="zh-CN"/>
              <a:t>0</a:t>
            </a:r>
            <a:r>
              <a:rPr lang="zh-CN" altLang="en-US"/>
              <a:t>。原图</a:t>
            </a:r>
            <a:r>
              <a:rPr lang="en-US"/>
              <a:t>F/L</a:t>
            </a:r>
            <a:r>
              <a:rPr lang="zh-CN" altLang="en-US"/>
              <a:t>缺值，数值是演示人工假设；保留原观察与</a:t>
            </a:r>
            <a:r>
              <a:rPr lang="en-US"/>
              <a:t>edit_history。</a:t>
            </a:r>
            <a:r>
              <a:rPr lang="zh-CN" altLang="en-US"/>
              <a:t>不算新的自动识别成功或图纸数值识别。无阻断问题并检查结构化预演后原子提交，实际导入</a:t>
            </a:r>
            <a:r>
              <a:rPr lang="en-US" altLang="zh-CN"/>
              <a:t>3</a:t>
            </a:r>
            <a:r>
              <a:rPr lang="zh-CN" altLang="en-US"/>
              <a:t>节点</a:t>
            </a:r>
            <a:r>
              <a:rPr lang="en-US" altLang="zh-CN"/>
              <a:t>2</a:t>
            </a:r>
            <a:r>
              <a:rPr lang="zh-CN" altLang="en-US"/>
              <a:t>杆件；最终视频显示同</a:t>
            </a:r>
            <a:r>
              <a:rPr lang="en-US"/>
              <a:t>Session</a:t>
            </a:r>
            <a:r>
              <a:rPr lang="zh-CN" altLang="en-US"/>
              <a:t>真实模型。材料与截面另行补充，不声称该几何草稿已经可完整求解。视频</a:t>
            </a:r>
            <a:r>
              <a:rPr lang="en-US" altLang="zh-CN"/>
              <a:t>25</a:t>
            </a:r>
            <a:r>
              <a:rPr lang="zh-CN" altLang="en-US"/>
              <a:t>秒连续录制，无网络调用，无虚构界面。来源</a:t>
            </a:r>
            <a:r>
              <a:rPr lang="en-US"/>
              <a:t>https://commons.wikimedia.org/wiki/File:Simply_supported_beam_with_central_point_load.jpg。</a:t>
            </a:r>
            <a:r>
              <a:rPr lang="zh-CN" altLang="en-US"/>
              <a:t>缺失分量曾默认补零的真实问题现通过留空、单位校验、人工确认与未确认阻断处理。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960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35</a:t>
            </a:r>
            <a:r>
              <a:rPr lang="zh-CN" altLang="en-US"/>
              <a:t>秒</a:t>
            </a:r>
            <a:r>
              <a:rPr lang="en-US" altLang="zh-CN"/>
              <a:t>】【</a:t>
            </a:r>
            <a:r>
              <a:rPr lang="zh-CN" altLang="en-US"/>
              <a:t>单击播放</a:t>
            </a:r>
            <a:r>
              <a:rPr lang="en-US" altLang="zh-CN"/>
              <a:t>18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沿用同一框架，先查询最大节点位移，再要求荷载取四档并比较。</a:t>
            </a:r>
            <a:r>
              <a:rPr lang="en-US" altLang="zh-CN"/>
              <a:t>Agent</a:t>
            </a:r>
            <a:r>
              <a:rPr lang="zh-CN" altLang="en-US"/>
              <a:t>调用扫描工具完成四次真实试算，表格和曲线来自实际回包；扫描后原模型及原结果保持一致。这展示</a:t>
            </a:r>
            <a:r>
              <a:rPr lang="en-US" altLang="zh-CN"/>
              <a:t>Agent</a:t>
            </a:r>
            <a:r>
              <a:rPr lang="zh-CN" altLang="en-US"/>
              <a:t>帮助组织分析，而不只是代替一次按钮点击。指标是节点平移幅值，与梁内挠度不同。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实际</a:t>
            </a:r>
            <a:r>
              <a:rPr lang="en-US" altLang="zh-CN"/>
              <a:t>sweep</a:t>
            </a:r>
            <a:r>
              <a:rPr lang="zh-CN" altLang="en-US"/>
              <a:t>工具完成</a:t>
            </a:r>
            <a:r>
              <a:rPr lang="en-US" altLang="zh-CN"/>
              <a:t>4</a:t>
            </a:r>
            <a:r>
              <a:rPr lang="zh-CN" altLang="en-US"/>
              <a:t>次求解，指标</a:t>
            </a:r>
            <a:r>
              <a:rPr lang="en-US" altLang="zh-CN"/>
              <a:t>max_displacement</a:t>
            </a:r>
            <a:r>
              <a:rPr lang="zh-CN" altLang="en-US"/>
              <a:t>为最大节点平移幅值，非梁内最大挠度。四行数据直接从真实回包取值，非大模型估算。前后</a:t>
            </a:r>
            <a:r>
              <a:rPr lang="en-US" altLang="zh-CN"/>
              <a:t>JSON</a:t>
            </a:r>
            <a:r>
              <a:rPr lang="zh-CN" altLang="en-US"/>
              <a:t>、原</a:t>
            </a:r>
            <a:r>
              <a:rPr lang="en-US" altLang="zh-CN"/>
              <a:t>solution</a:t>
            </a:r>
            <a:r>
              <a:rPr lang="zh-CN" altLang="en-US"/>
              <a:t>对象及</a:t>
            </a:r>
            <a:r>
              <a:rPr lang="en-US" altLang="zh-CN"/>
              <a:t>result_identity</a:t>
            </a:r>
            <a:r>
              <a:rPr lang="zh-CN" altLang="en-US"/>
              <a:t>一致。影片为本轮真实查询及扫描录屏，等待剪短并在字幕说明。只验证当前线性静力模型的比例响应，不代表一般非线性、稳定性或设计安全结论。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7569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30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继续用指令生成变形图和计算书。这里是实际软件结果与</a:t>
            </a:r>
            <a:r>
              <a:rPr lang="en-US" altLang="zh-CN"/>
              <a:t>Word</a:t>
            </a:r>
            <a:r>
              <a:rPr lang="zh-CN" altLang="en-US"/>
              <a:t>报告局部，模型、工况和求解编号可以追踪。报告数值由程序计算，研究者仍需审核解释及工程假设。下面集中介绍这些成果背后的力学方法与教材验证。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同一框架最终录屏第五轮调用</a:t>
            </a:r>
            <a:r>
              <a:rPr lang="en-US" altLang="zh-CN"/>
              <a:t>plot_results(deformed,G)</a:t>
            </a:r>
            <a:r>
              <a:rPr lang="zh-CN" altLang="en-US"/>
              <a:t>、</a:t>
            </a:r>
            <a:r>
              <a:rPr lang="en-US" altLang="zh-CN"/>
              <a:t>write_report(fmt=both,G)</a:t>
            </a:r>
            <a:r>
              <a:rPr lang="zh-CN" altLang="en-US"/>
              <a:t>。报告局部来自该轮实际工具</a:t>
            </a:r>
            <a:r>
              <a:rPr lang="en-US" altLang="zh-CN"/>
              <a:t>Word10</a:t>
            </a:r>
            <a:r>
              <a:rPr lang="zh-CN" altLang="en-US"/>
              <a:t>页原生渲染，来源</a:t>
            </a:r>
            <a:r>
              <a:rPr lang="en-US" altLang="zh-CN"/>
              <a:t>e56b0635485e4283bb1fbb71b4958546</a:t>
            </a:r>
            <a:r>
              <a:rPr lang="zh-CN" altLang="en-US"/>
              <a:t>；全部原文及回包保留。两张截图为报告不同页局部，不拼成完整原页。</a:t>
            </a:r>
            <a:r>
              <a:rPr lang="en-US" altLang="zh-CN"/>
              <a:t>63</a:t>
            </a:r>
            <a:r>
              <a:rPr lang="zh-CN" altLang="en-US"/>
              <a:t>工具覆盖建模、荷载、分析、校核和报告；局部实体在第三部分独立展开。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5152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20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空间梁每节点六自由度、单元刚度十二乘十二，经过坐标变换、组装、释放和约束处理求解</a:t>
            </a:r>
            <a:r>
              <a:rPr lang="en-US" altLang="zh-CN"/>
              <a:t>Ku</a:t>
            </a:r>
            <a:r>
              <a:rPr lang="zh-CN" altLang="en-US"/>
              <a:t>等于</a:t>
            </a:r>
            <a:r>
              <a:rPr lang="en-US" altLang="zh-CN"/>
              <a:t>F</a:t>
            </a:r>
            <a:r>
              <a:rPr lang="zh-CN" altLang="en-US"/>
              <a:t>，再恢复反力与内力。本次教材采用忽略剪切的</a:t>
            </a:r>
            <a:r>
              <a:rPr lang="en-US" altLang="zh-CN"/>
              <a:t>Euler–Bernoulli</a:t>
            </a:r>
            <a:r>
              <a:rPr lang="zh-CN" altLang="en-US"/>
              <a:t>分支，计剪切分支需使用对应参数及基准。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确定性空间梁小变形线弹性流程：</a:t>
            </a:r>
            <a:r>
              <a:rPr lang="en-US" altLang="zh-CN"/>
              <a:t>12×12</a:t>
            </a:r>
            <a:r>
              <a:rPr lang="zh-CN" altLang="en-US"/>
              <a:t>局部刚度、</a:t>
            </a:r>
            <a:r>
              <a:rPr lang="en-US" altLang="zh-CN"/>
              <a:t>T</a:t>
            </a:r>
            <a:r>
              <a:rPr lang="zh-CN" altLang="en-US"/>
              <a:t>转置</a:t>
            </a:r>
            <a:r>
              <a:rPr lang="en-US" altLang="zh-CN"/>
              <a:t>kT</a:t>
            </a:r>
            <a:r>
              <a:rPr lang="zh-CN" altLang="en-US"/>
              <a:t>、整体组装、释放静力凝聚、约束求解、恢复反力及内力。荷载区间</a:t>
            </a:r>
            <a:r>
              <a:rPr lang="en-US" altLang="zh-CN"/>
              <a:t>/</a:t>
            </a:r>
            <a:r>
              <a:rPr lang="zh-CN" altLang="en-US"/>
              <a:t>集中作用点编译，自动剖分会增加分析节点但物理模型编号保留。</a:t>
            </a:r>
            <a:r>
              <a:rPr lang="en-US" altLang="zh-CN"/>
              <a:t>EB</a:t>
            </a:r>
            <a:r>
              <a:rPr lang="zh-CN" altLang="en-US"/>
              <a:t>为本次图</a:t>
            </a:r>
            <a:r>
              <a:rPr lang="en-US" altLang="zh-CN"/>
              <a:t>IV5</a:t>
            </a:r>
            <a:r>
              <a:rPr lang="zh-CN" altLang="en-US"/>
              <a:t>对照分支，不把</a:t>
            </a:r>
            <a:r>
              <a:rPr lang="en-US" altLang="zh-CN"/>
              <a:t>Timoshenko</a:t>
            </a:r>
            <a:r>
              <a:rPr lang="zh-CN" altLang="en-US"/>
              <a:t>与教材结果混用；已有剪切分支不表示全部截面</a:t>
            </a:r>
            <a:r>
              <a:rPr lang="en-US" altLang="zh-CN"/>
              <a:t>/</a:t>
            </a:r>
            <a:r>
              <a:rPr lang="zh-CN" altLang="en-US"/>
              <a:t>连接已被验证。主实体求解不调用</a:t>
            </a:r>
            <a:r>
              <a:rPr lang="en-US" altLang="zh-CN"/>
              <a:t>Abaqus</a:t>
            </a:r>
            <a:r>
              <a:rPr lang="zh-CN" altLang="en-US"/>
              <a:t>，</a:t>
            </a:r>
            <a:r>
              <a:rPr lang="en-US" altLang="zh-CN"/>
              <a:t>Abaqus</a:t>
            </a:r>
            <a:r>
              <a:rPr lang="zh-CN" altLang="en-US"/>
              <a:t>只作独立对标。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676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25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用图</a:t>
            </a:r>
            <a:r>
              <a:rPr lang="en-US" altLang="zh-CN"/>
              <a:t>IV-5</a:t>
            </a:r>
            <a:r>
              <a:rPr lang="zh-CN" altLang="en-US"/>
              <a:t>统一条件对照。四个物理节点、三根实心圆杆，位移先统一成毫米。节点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4</a:t>
            </a:r>
            <a:r>
              <a:rPr lang="zh-CN" altLang="en-US"/>
              <a:t>全局平移最大绝对差约零点零零零二五九毫米。内力方向与正号仍需教材局部轴定义，不能把量值接近表述为所有分量已一致。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en-US" altLang="zh-CN"/>
              <a:t>2026-10-11</a:t>
            </a:r>
            <a:r>
              <a:rPr lang="zh-CN" altLang="en-US"/>
              <a:t>重新</a:t>
            </a:r>
            <a:r>
              <a:rPr lang="en-US" altLang="zh-CN"/>
              <a:t>set_model</a:t>
            </a:r>
            <a:r>
              <a:rPr lang="zh-CN" altLang="en-US"/>
              <a:t>、</a:t>
            </a:r>
            <a:r>
              <a:rPr lang="en-US" altLang="zh-CN"/>
              <a:t>validate_model</a:t>
            </a:r>
            <a:r>
              <a:rPr lang="zh-CN" altLang="en-US"/>
              <a:t>、</a:t>
            </a:r>
            <a:r>
              <a:rPr lang="en-US" altLang="zh-CN"/>
              <a:t>solve_model</a:t>
            </a:r>
            <a:r>
              <a:rPr lang="zh-CN" altLang="en-US"/>
              <a:t>，模型原题三杆版未改。教材位移</a:t>
            </a:r>
            <a:r>
              <a:rPr lang="en-US" altLang="zh-CN"/>
              <a:t>m</a:t>
            </a:r>
            <a:r>
              <a:rPr lang="zh-CN" altLang="en-US"/>
              <a:t>换</a:t>
            </a:r>
            <a:r>
              <a:rPr lang="en-US" altLang="zh-CN"/>
              <a:t>mm</a:t>
            </a:r>
            <a:r>
              <a:rPr lang="zh-CN" altLang="en-US"/>
              <a:t>；完整</a:t>
            </a:r>
            <a:r>
              <a:rPr lang="en-US" altLang="zh-CN"/>
              <a:t>12</a:t>
            </a:r>
            <a:r>
              <a:rPr lang="zh-CN" altLang="en-US"/>
              <a:t>位移</a:t>
            </a:r>
            <a:r>
              <a:rPr lang="en-US" altLang="zh-CN"/>
              <a:t>/</a:t>
            </a:r>
            <a:r>
              <a:rPr lang="zh-CN" altLang="en-US"/>
              <a:t>转角及</a:t>
            </a:r>
            <a:r>
              <a:rPr lang="en-US" altLang="zh-CN"/>
              <a:t>18</a:t>
            </a:r>
            <a:r>
              <a:rPr lang="zh-CN" altLang="en-US"/>
              <a:t>截面内力对照在原有教材答案对照证据</a:t>
            </a:r>
            <a:r>
              <a:rPr lang="en-US" altLang="zh-CN"/>
              <a:t>.json/CSV</a:t>
            </a:r>
            <a:r>
              <a:rPr lang="zh-CN" altLang="en-US"/>
              <a:t>。最大节点平移差</a:t>
            </a:r>
            <a:r>
              <a:rPr lang="en-US" altLang="zh-CN"/>
              <a:t>0.000258830654mm</a:t>
            </a:r>
            <a:r>
              <a:rPr lang="zh-CN" altLang="en-US"/>
              <a:t>，不能推断全部为四舍五入。轴力、扭矩及合剪</a:t>
            </a:r>
            <a:r>
              <a:rPr lang="en-US" altLang="zh-CN"/>
              <a:t>/</a:t>
            </a:r>
            <a:r>
              <a:rPr lang="zh-CN" altLang="en-US"/>
              <a:t>合弯量值接近；剪力</a:t>
            </a:r>
            <a:r>
              <a:rPr lang="en-US" altLang="zh-CN"/>
              <a:t>/</a:t>
            </a:r>
            <a:r>
              <a:rPr lang="zh-CN" altLang="en-US"/>
              <a:t>弯矩换列异号未经教材完整局部轴定义不能定正式映射。本页只列</a:t>
            </a:r>
            <a:r>
              <a:rPr lang="en-US" altLang="zh-CN"/>
              <a:t>4</a:t>
            </a:r>
            <a:r>
              <a:rPr lang="zh-CN" altLang="en-US"/>
              <a:t>个全局位移直接可比项，不用全局位移通过证明局部应力准确。节点</a:t>
            </a:r>
            <a:r>
              <a:rPr lang="en-US" altLang="zh-CN"/>
              <a:t>3/4</a:t>
            </a:r>
            <a:r>
              <a:rPr lang="zh-CN" altLang="en-US"/>
              <a:t>角度完整数据在备答文件。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32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20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继续选择同一例题的节点</a:t>
            </a:r>
            <a:r>
              <a:rPr lang="en-US" altLang="zh-CN"/>
              <a:t>3</a:t>
            </a:r>
            <a:r>
              <a:rPr lang="zh-CN" altLang="en-US"/>
              <a:t>，把整体截面六个内力分量传到局部圆杆实体，</a:t>
            </a:r>
            <a:r>
              <a:rPr lang="en-US" altLang="zh-CN"/>
              <a:t>Gmsh</a:t>
            </a:r>
            <a:r>
              <a:rPr lang="zh-CN" altLang="en-US"/>
              <a:t>划网格，自研</a:t>
            </a:r>
            <a:r>
              <a:rPr lang="en-US" altLang="zh-CN"/>
              <a:t>C3D10</a:t>
            </a:r>
            <a:r>
              <a:rPr lang="zh-CN" altLang="en-US"/>
              <a:t>求解。节点</a:t>
            </a:r>
            <a:r>
              <a:rPr lang="en-US" altLang="zh-CN"/>
              <a:t>3</a:t>
            </a:r>
            <a:r>
              <a:rPr lang="zh-CN" altLang="en-US"/>
              <a:t>还有直接荷载，未建立加载头几何，因此局部载荷传递假设仍需复核。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en-US" altLang="zh-CN"/>
              <a:t>spec</a:t>
            </a:r>
            <a:r>
              <a:rPr lang="zh-CN" altLang="en-US"/>
              <a:t>与整体同</a:t>
            </a:r>
            <a:r>
              <a:rPr lang="en-US" altLang="zh-CN"/>
              <a:t>model/case/node3</a:t>
            </a:r>
            <a:r>
              <a:rPr lang="zh-CN" altLang="en-US"/>
              <a:t>，不以独立屋盖节点图替代。反演实心圆</a:t>
            </a:r>
            <a:r>
              <a:rPr lang="en-US" altLang="zh-CN"/>
              <a:t>D100</a:t>
            </a:r>
            <a:r>
              <a:rPr lang="zh-CN" altLang="en-US"/>
              <a:t>，</a:t>
            </a:r>
            <a:r>
              <a:rPr lang="en-US" altLang="zh-CN"/>
              <a:t>inner_diameter=0</a:t>
            </a:r>
            <a:r>
              <a:rPr lang="zh-CN" altLang="en-US"/>
              <a:t>，</a:t>
            </a:r>
            <a:r>
              <a:rPr lang="en-US" altLang="zh-CN"/>
              <a:t>Gmsh</a:t>
            </a:r>
            <a:r>
              <a:rPr lang="zh-CN" altLang="en-US"/>
              <a:t>几何融合。节点</a:t>
            </a:r>
            <a:r>
              <a:rPr lang="en-US" altLang="zh-CN"/>
              <a:t>3</a:t>
            </a:r>
            <a:r>
              <a:rPr lang="zh-CN" altLang="en-US"/>
              <a:t>两臂</a:t>
            </a:r>
            <a:r>
              <a:rPr lang="en-US" altLang="zh-CN"/>
              <a:t>200mm</a:t>
            </a:r>
            <a:r>
              <a:rPr lang="zh-CN" altLang="en-US"/>
              <a:t>（由既有算法），</a:t>
            </a:r>
            <a:r>
              <a:rPr lang="en-US" altLang="zh-CN"/>
              <a:t>anchor_member2</a:t>
            </a:r>
            <a:r>
              <a:rPr lang="zh-CN" altLang="en-US"/>
              <a:t>。</a:t>
            </a:r>
            <a:r>
              <a:rPr lang="en-US" altLang="zh-CN"/>
              <a:t>spec</a:t>
            </a:r>
            <a:r>
              <a:rPr lang="zh-CN" altLang="en-US"/>
              <a:t>载荷六分量及方向矩阵见</a:t>
            </a:r>
            <a:r>
              <a:rPr lang="en-US" altLang="zh-CN"/>
              <a:t>book_spec</a:t>
            </a:r>
            <a:r>
              <a:rPr lang="zh-CN" altLang="en-US"/>
              <a:t>。实际代码使用整体杆端截面力映射局部截断端，不能称已建立精细局部力传递、连接板或加载头。直接节点</a:t>
            </a:r>
            <a:r>
              <a:rPr lang="en-US" altLang="zh-CN"/>
              <a:t>2kN</a:t>
            </a:r>
            <a:r>
              <a:rPr lang="zh-CN" altLang="en-US"/>
              <a:t>荷载警告保留。切口位置、臂长</a:t>
            </a:r>
            <a:r>
              <a:rPr lang="en-US" altLang="zh-CN"/>
              <a:t>/</a:t>
            </a:r>
            <a:r>
              <a:rPr lang="zh-CN" altLang="en-US"/>
              <a:t>支座敏感性及加载区域应作为后续研究；局部数值不同于整体节点位移。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770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20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本轮已实际完成节点</a:t>
            </a:r>
            <a:r>
              <a:rPr lang="en-US" altLang="zh-CN"/>
              <a:t>3</a:t>
            </a:r>
            <a:r>
              <a:rPr lang="zh-CN" altLang="en-US"/>
              <a:t>的实体计算：</a:t>
            </a:r>
            <a:r>
              <a:rPr lang="en-US" altLang="zh-CN"/>
              <a:t>4415</a:t>
            </a:r>
            <a:r>
              <a:rPr lang="zh-CN" altLang="en-US"/>
              <a:t>节点、</a:t>
            </a:r>
            <a:r>
              <a:rPr lang="en-US" altLang="zh-CN"/>
              <a:t>2500</a:t>
            </a:r>
            <a:r>
              <a:rPr lang="zh-CN" altLang="en-US"/>
              <a:t>单元，</a:t>
            </a:r>
            <a:r>
              <a:rPr lang="en-US" altLang="zh-CN"/>
              <a:t>Mises</a:t>
            </a:r>
            <a:r>
              <a:rPr lang="zh-CN" altLang="en-US"/>
              <a:t>峰值约</a:t>
            </a:r>
            <a:r>
              <a:rPr lang="en-US" altLang="zh-CN"/>
              <a:t>30.08</a:t>
            </a:r>
            <a:r>
              <a:rPr lang="zh-CN" altLang="en-US"/>
              <a:t>兆帕。软件显示完整色标。只有一档网格，尚无收敛与教材局部应力对照，本次不报告正式应力集中系数。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本轮直接调用</a:t>
            </a:r>
            <a:r>
              <a:rPr lang="en-US" altLang="zh-CN"/>
              <a:t>native_joint.run_native_joint_analysis</a:t>
            </a:r>
            <a:r>
              <a:rPr lang="zh-CN" altLang="en-US"/>
              <a:t>同已求解</a:t>
            </a:r>
            <a:r>
              <a:rPr lang="en-US" altLang="zh-CN"/>
              <a:t>Session</a:t>
            </a:r>
            <a:r>
              <a:rPr lang="zh-CN" altLang="en-US"/>
              <a:t>，</a:t>
            </a:r>
            <a:r>
              <a:rPr lang="en-US" altLang="zh-CN"/>
              <a:t>global mesh30mm</a:t>
            </a:r>
            <a:r>
              <a:rPr lang="zh-CN" altLang="en-US"/>
              <a:t>，系统局部加密</a:t>
            </a:r>
            <a:r>
              <a:rPr lang="en-US" altLang="zh-CN"/>
              <a:t>12mm</a:t>
            </a:r>
            <a:r>
              <a:rPr lang="zh-CN" altLang="en-US"/>
              <a:t>，</a:t>
            </a:r>
            <a:r>
              <a:rPr lang="en-US" altLang="zh-CN"/>
              <a:t>4415</a:t>
            </a:r>
            <a:r>
              <a:rPr lang="zh-CN" altLang="en-US"/>
              <a:t>节点、</a:t>
            </a:r>
            <a:r>
              <a:rPr lang="en-US" altLang="zh-CN"/>
              <a:t>2500C3D10</a:t>
            </a:r>
            <a:r>
              <a:rPr lang="zh-CN" altLang="en-US"/>
              <a:t>、</a:t>
            </a:r>
            <a:r>
              <a:rPr lang="en-US" altLang="zh-CN"/>
              <a:t>13245</a:t>
            </a:r>
            <a:r>
              <a:rPr lang="zh-CN" altLang="en-US"/>
              <a:t>自由度，</a:t>
            </a:r>
            <a:r>
              <a:rPr lang="en-US" altLang="zh-CN"/>
              <a:t>8.42</a:t>
            </a:r>
            <a:r>
              <a:rPr lang="zh-CN" altLang="en-US"/>
              <a:t>秒。</a:t>
            </a:r>
            <a:r>
              <a:rPr lang="en-US" altLang="zh-CN"/>
              <a:t>Mises</a:t>
            </a:r>
            <a:r>
              <a:rPr lang="zh-CN" altLang="en-US"/>
              <a:t>峰值</a:t>
            </a:r>
            <a:r>
              <a:rPr lang="en-US" altLang="zh-CN"/>
              <a:t>30.078444229MPa</a:t>
            </a:r>
            <a:r>
              <a:rPr lang="zh-CN" altLang="en-US"/>
              <a:t>，</a:t>
            </a:r>
            <a:r>
              <a:rPr lang="en-US" altLang="zh-CN"/>
              <a:t>P9920.816428792MPa</a:t>
            </a:r>
            <a:r>
              <a:rPr lang="zh-CN" altLang="en-US"/>
              <a:t>，本页软件完整范围，无</a:t>
            </a:r>
            <a:r>
              <a:rPr lang="en-US" altLang="zh-CN"/>
              <a:t>P99</a:t>
            </a:r>
            <a:r>
              <a:rPr lang="zh-CN" altLang="en-US"/>
              <a:t>裁色，变形</a:t>
            </a:r>
            <a:r>
              <a:rPr lang="en-US" altLang="zh-CN"/>
              <a:t>0</a:t>
            </a:r>
            <a:r>
              <a:rPr lang="zh-CN" altLang="en-US"/>
              <a:t>，单元应力无跨单元平均。只有一档，</a:t>
            </a:r>
            <a:r>
              <a:rPr lang="en-US" altLang="zh-CN"/>
              <a:t>peak_convergence=inconclusive</a:t>
            </a:r>
            <a:r>
              <a:rPr lang="zh-CN" altLang="en-US"/>
              <a:t>，实心圆无</a:t>
            </a:r>
            <a:r>
              <a:rPr lang="en-US" altLang="zh-CN"/>
              <a:t>IIW</a:t>
            </a:r>
            <a:r>
              <a:rPr lang="zh-CN" altLang="en-US"/>
              <a:t>管壁</a:t>
            </a:r>
            <a:r>
              <a:rPr lang="en-US" altLang="zh-CN"/>
              <a:t>t</a:t>
            </a:r>
            <a:r>
              <a:rPr lang="zh-CN" altLang="en-US"/>
              <a:t>热点路径，不提供正式</a:t>
            </a:r>
            <a:r>
              <a:rPr lang="en-US" altLang="zh-CN"/>
              <a:t>Kt</a:t>
            </a:r>
            <a:r>
              <a:rPr lang="zh-CN" altLang="en-US"/>
              <a:t>。教材未提供该局部实体应力值；不把残差小称为局部结果已被物理验证。数据在公开证据及原始</a:t>
            </a:r>
            <a:r>
              <a:rPr lang="en-US" altLang="zh-CN"/>
              <a:t>vtu/npz</a:t>
            </a:r>
            <a:r>
              <a:rPr lang="zh-CN" altLang="en-US"/>
              <a:t>中。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0012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15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已经形成</a:t>
            </a:r>
            <a:r>
              <a:rPr lang="en-US" altLang="zh-CN"/>
              <a:t>Agent</a:t>
            </a:r>
            <a:r>
              <a:rPr lang="zh-CN" altLang="en-US"/>
              <a:t>、整体计算和局部试算的贯通流程。规模和回归数量按日期注明，不能等同识别准确率。前期缺失荷载被补零的问题，现通过留空、单位校验和确认前阻断导入修复。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源码范围</a:t>
            </a:r>
            <a:r>
              <a:rPr lang="en-US" altLang="zh-CN"/>
              <a:t>src/tests/desktop/tools</a:t>
            </a:r>
            <a:r>
              <a:rPr lang="zh-CN" altLang="en-US"/>
              <a:t>，截至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10</a:t>
            </a:r>
            <a:r>
              <a:rPr lang="zh-CN" altLang="en-US"/>
              <a:t>日</a:t>
            </a:r>
            <a:r>
              <a:rPr lang="en-US" altLang="zh-CN"/>
              <a:t>240py/63registered/28gold/2837pass1skip</a:t>
            </a:r>
            <a:r>
              <a:rPr lang="zh-CN" altLang="en-US"/>
              <a:t>历史口径。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11</a:t>
            </a:r>
            <a:r>
              <a:rPr lang="zh-CN" altLang="en-US"/>
              <a:t>日坐标荷载</a:t>
            </a:r>
            <a:r>
              <a:rPr lang="en-US" altLang="zh-CN"/>
              <a:t>/</a:t>
            </a:r>
            <a:r>
              <a:rPr lang="zh-CN" altLang="en-US"/>
              <a:t>完整</a:t>
            </a:r>
            <a:r>
              <a:rPr lang="en-US" altLang="zh-CN"/>
              <a:t>CSV</a:t>
            </a:r>
            <a:r>
              <a:rPr lang="zh-CN" altLang="en-US"/>
              <a:t>功能已记录</a:t>
            </a:r>
            <a:r>
              <a:rPr lang="en-US" altLang="zh-CN"/>
              <a:t>2872pass1skip</a:t>
            </a:r>
            <a:r>
              <a:rPr lang="zh-CN" altLang="en-US"/>
              <a:t>，不能把历史数量称最新。当前</a:t>
            </a:r>
            <a:r>
              <a:rPr lang="en-US" altLang="zh-CN"/>
              <a:t>PPT</a:t>
            </a:r>
            <a:r>
              <a:rPr lang="zh-CN" altLang="en-US"/>
              <a:t>轮无软件代码修改、仅增量文档检查</a:t>
            </a:r>
            <a:r>
              <a:rPr lang="en-US" altLang="zh-CN"/>
              <a:t>184pass2skip/ruff</a:t>
            </a:r>
            <a:r>
              <a:rPr lang="zh-CN" altLang="en-US"/>
              <a:t>。代码规模不换算人工工时，回归通过数不等于图纸准确率。开发人机协作：研究者发现缺失量被补零的语义错误，</a:t>
            </a:r>
            <a:r>
              <a:rPr lang="en-US" altLang="zh-CN"/>
              <a:t>AI</a:t>
            </a:r>
            <a:r>
              <a:rPr lang="zh-CN" altLang="en-US"/>
              <a:t>定位实现，增加针对真实问题回归；原始观察、有效已知分量保留，人工确认后导入。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3519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14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后三周先冻结验收，再做</a:t>
            </a:r>
            <a:r>
              <a:rPr lang="en-US" altLang="zh-CN"/>
              <a:t>Agent</a:t>
            </a:r>
            <a:r>
              <a:rPr lang="zh-CN" altLang="en-US"/>
              <a:t>与图纸留出任务评测，最后开展局部收敛及独立对标。</a:t>
            </a:r>
            <a:r>
              <a:rPr lang="en-US" altLang="zh-CN"/>
              <a:t>MMC</a:t>
            </a:r>
            <a:r>
              <a:rPr lang="zh-CN" altLang="en-US"/>
              <a:t>节点建模或优化作为探索方向，先明确变量、约束与基准。谢谢各位老师。
</a:t>
            </a:r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
</a:t>
            </a:r>
          </a:p>
          <a:p>
            <a:r>
              <a:rPr lang="zh-CN" altLang="en-US"/>
              <a:t>后三周为研究计划，不承诺全部自动化。</a:t>
            </a:r>
            <a:r>
              <a:rPr lang="en-US" altLang="zh-CN"/>
              <a:t>Agent</a:t>
            </a:r>
            <a:r>
              <a:rPr lang="zh-CN" altLang="en-US"/>
              <a:t>评价任务完成率</a:t>
            </a:r>
            <a:r>
              <a:rPr lang="en-US" altLang="zh-CN"/>
              <a:t>/</a:t>
            </a:r>
            <a:r>
              <a:rPr lang="zh-CN" altLang="en-US"/>
              <a:t>工具调用正确性</a:t>
            </a:r>
            <a:r>
              <a:rPr lang="en-US" altLang="zh-CN"/>
              <a:t>/</a:t>
            </a:r>
            <a:r>
              <a:rPr lang="zh-CN" altLang="en-US"/>
              <a:t>确认违规率</a:t>
            </a:r>
            <a:r>
              <a:rPr lang="en-US" altLang="zh-CN"/>
              <a:t>/</a:t>
            </a:r>
            <a:r>
              <a:rPr lang="zh-CN" altLang="en-US"/>
              <a:t>轮数</a:t>
            </a:r>
            <a:r>
              <a:rPr lang="en-US" altLang="zh-CN"/>
              <a:t>/</a:t>
            </a:r>
            <a:r>
              <a:rPr lang="zh-CN" altLang="en-US"/>
              <a:t>耗时；工程图评价拓扑、尺度、荷载及完整模型通过率。局部单档结果尚未收敛，采用三档网格、切口长度及加载区域敏感性与</a:t>
            </a:r>
            <a:r>
              <a:rPr lang="en-US" altLang="zh-CN"/>
              <a:t>Abaqus</a:t>
            </a:r>
            <a:r>
              <a:rPr lang="zh-CN" altLang="en-US"/>
              <a:t>独立对标；</a:t>
            </a:r>
            <a:r>
              <a:rPr lang="en-US" altLang="zh-CN"/>
              <a:t>Kt</a:t>
            </a:r>
            <a:r>
              <a:rPr lang="zh-CN" altLang="en-US"/>
              <a:t>定义须匹配实心圆节点或圆管热点，不混用</a:t>
            </a:r>
            <a:r>
              <a:rPr lang="en-US" altLang="zh-CN"/>
              <a:t>IIW</a:t>
            </a:r>
            <a:r>
              <a:rPr lang="zh-CN" altLang="en-US"/>
              <a:t>管壁外推。用户提</a:t>
            </a:r>
            <a:r>
              <a:rPr lang="en-US" altLang="zh-CN"/>
              <a:t>MMC</a:t>
            </a:r>
            <a:r>
              <a:rPr lang="zh-CN" altLang="en-US"/>
              <a:t>但未给具体定义，页上保持</a:t>
            </a:r>
            <a:r>
              <a:rPr lang="en-US" altLang="zh-CN"/>
              <a:t>MMC</a:t>
            </a:r>
            <a:r>
              <a:rPr lang="zh-CN" altLang="en-US"/>
              <a:t>名词而不臆定某方法缩写；未来先明确研究变量、目标</a:t>
            </a:r>
            <a:r>
              <a:rPr lang="en-US" altLang="zh-CN"/>
              <a:t>/</a:t>
            </a:r>
            <a:r>
              <a:rPr lang="zh-CN" altLang="en-US"/>
              <a:t>约束</a:t>
            </a:r>
            <a:r>
              <a:rPr lang="en-US" altLang="zh-CN"/>
              <a:t>/</a:t>
            </a:r>
            <a:r>
              <a:rPr lang="zh-CN" altLang="en-US"/>
              <a:t>参数化几何、基准，再试优化。主计算由自研程序，</a:t>
            </a:r>
            <a:r>
              <a:rPr lang="en-US" altLang="zh-CN"/>
              <a:t>Abaqus</a:t>
            </a:r>
            <a:r>
              <a:rPr lang="zh-CN" altLang="en-US"/>
              <a:t>仅验证。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1175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口头讲稿｜</a:t>
            </a:r>
            <a:r>
              <a:rPr lang="en-US" altLang="zh-CN"/>
              <a:t>60</a:t>
            </a:r>
            <a:r>
              <a:rPr lang="zh-CN" altLang="en-US"/>
              <a:t>秒</a:t>
            </a:r>
            <a:r>
              <a:rPr lang="en-US" altLang="zh-CN"/>
              <a:t>】【</a:t>
            </a:r>
            <a:r>
              <a:rPr lang="zh-CN" altLang="en-US"/>
              <a:t>配合操作，不连续朗读</a:t>
            </a:r>
            <a:r>
              <a:rPr lang="en-US" altLang="zh-CN"/>
              <a:t>】</a:t>
            </a:r>
            <a:r>
              <a:rPr lang="zh-CN" altLang="en-US"/>
              <a:t>这是同一调整版屋盖，模型包含</a:t>
            </a:r>
            <a:r>
              <a:rPr lang="en-US" altLang="zh-CN"/>
              <a:t>239</a:t>
            </a:r>
            <a:r>
              <a:rPr lang="zh-CN" altLang="en-US"/>
              <a:t>节点、</a:t>
            </a:r>
            <a:r>
              <a:rPr lang="en-US" altLang="zh-CN"/>
              <a:t>622</a:t>
            </a:r>
            <a:r>
              <a:rPr lang="zh-CN" altLang="en-US"/>
              <a:t>杆件和</a:t>
            </a:r>
            <a:r>
              <a:rPr lang="en-US" altLang="zh-CN"/>
              <a:t>18</a:t>
            </a:r>
            <a:r>
              <a:rPr lang="zh-CN" altLang="en-US"/>
              <a:t>个固定柱脚。现在按</a:t>
            </a:r>
            <a:r>
              <a:rPr lang="en-US" altLang="zh-CN"/>
              <a:t>F5</a:t>
            </a:r>
            <a:r>
              <a:rPr lang="zh-CN" altLang="en-US"/>
              <a:t>，现场调用数值程序求解。选择</a:t>
            </a:r>
            <a:r>
              <a:rPr lang="en-US" altLang="zh-CN"/>
              <a:t>ULS-GW</a:t>
            </a:r>
            <a:r>
              <a:rPr lang="zh-CN" altLang="en-US"/>
              <a:t>组合并显示变形，图形按标注系数放大。模型树输入节点</a:t>
            </a:r>
            <a:r>
              <a:rPr lang="en-US" altLang="zh-CN"/>
              <a:t>110</a:t>
            </a:r>
            <a:r>
              <a:rPr lang="zh-CN" altLang="en-US"/>
              <a:t>，回车定位。结果表显示实际位移，</a:t>
            </a:r>
            <a:r>
              <a:rPr lang="en-US" altLang="zh-CN"/>
              <a:t>Ux</a:t>
            </a:r>
            <a:r>
              <a:rPr lang="zh-CN" altLang="en-US"/>
              <a:t>约</a:t>
            </a:r>
            <a:r>
              <a:rPr lang="en-US" altLang="zh-CN"/>
              <a:t>25.1003</a:t>
            </a:r>
            <a:r>
              <a:rPr lang="zh-CN" altLang="en-US"/>
              <a:t>毫米、</a:t>
            </a:r>
            <a:r>
              <a:rPr lang="en-US" altLang="zh-CN"/>
              <a:t>Uz</a:t>
            </a:r>
            <a:r>
              <a:rPr lang="zh-CN" altLang="en-US"/>
              <a:t>约负</a:t>
            </a:r>
            <a:r>
              <a:rPr lang="en-US" altLang="zh-CN"/>
              <a:t>95.9892</a:t>
            </a:r>
            <a:r>
              <a:rPr lang="zh-CN" altLang="en-US"/>
              <a:t>毫米，平移幅值</a:t>
            </a:r>
            <a:r>
              <a:rPr lang="en-US" altLang="zh-CN"/>
              <a:t>99.2167</a:t>
            </a:r>
            <a:r>
              <a:rPr lang="zh-CN" altLang="en-US"/>
              <a:t>毫米，与刚才的方案对比一致。</a:t>
            </a:r>
          </a:p>
          <a:p>
            <a:endParaRPr lang="zh-CN" altLang="en-US"/>
          </a:p>
          <a:p>
            <a:r>
              <a:rPr lang="en-US" altLang="zh-CN"/>
              <a:t>【</a:t>
            </a:r>
            <a:r>
              <a:rPr lang="zh-CN" altLang="en-US"/>
              <a:t>详细备忘与来源｜不朗读</a:t>
            </a:r>
            <a:r>
              <a:rPr lang="en-US" altLang="zh-CN"/>
              <a:t>】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【</a:t>
            </a:r>
            <a:r>
              <a:rPr lang="zh-CN" altLang="en-US"/>
              <a:t>实机操作时间：全场</a:t>
            </a:r>
            <a:r>
              <a:rPr lang="en-US" altLang="zh-CN"/>
              <a:t>2:05—3:05】</a:t>
            </a:r>
          </a:p>
          <a:p>
            <a:r>
              <a:rPr lang="zh-CN" altLang="en-US"/>
              <a:t>会前打开</a:t>
            </a:r>
            <a:r>
              <a:rPr lang="en-US" altLang="zh-CN"/>
              <a:t>examples/defense/</a:t>
            </a:r>
            <a:r>
              <a:rPr lang="zh-CN" altLang="en-US"/>
              <a:t>拱形网格屋盖</a:t>
            </a:r>
            <a:r>
              <a:rPr lang="en-US" altLang="zh-CN"/>
              <a:t>.json</a:t>
            </a:r>
            <a:r>
              <a:rPr lang="zh-CN" altLang="en-US"/>
              <a:t>，保持模型视图并完成一次预检，收起命令及抽屉。</a:t>
            </a:r>
            <a:r>
              <a:rPr lang="en-US" altLang="zh-CN"/>
              <a:t>2:05</a:t>
            </a:r>
            <a:r>
              <a:rPr lang="zh-CN" altLang="en-US"/>
              <a:t>切换到软件。</a:t>
            </a:r>
            <a:r>
              <a:rPr lang="en-US" altLang="zh-CN"/>
              <a:t>0—10</a:t>
            </a:r>
            <a:r>
              <a:rPr lang="zh-CN" altLang="en-US"/>
              <a:t>秒旋转模型、说明节点杆件与支座；</a:t>
            </a:r>
            <a:r>
              <a:rPr lang="en-US" altLang="zh-CN"/>
              <a:t>10—25</a:t>
            </a:r>
            <a:r>
              <a:rPr lang="zh-CN" altLang="en-US"/>
              <a:t>秒将焦点移出输入框，按</a:t>
            </a:r>
            <a:r>
              <a:rPr lang="en-US" altLang="zh-CN"/>
              <a:t>F5</a:t>
            </a:r>
            <a:r>
              <a:rPr lang="zh-CN" altLang="en-US"/>
              <a:t>等待求解；</a:t>
            </a:r>
            <a:r>
              <a:rPr lang="en-US" altLang="zh-CN"/>
              <a:t>25—40</a:t>
            </a:r>
            <a:r>
              <a:rPr lang="zh-CN" altLang="en-US"/>
              <a:t>秒选择工况</a:t>
            </a:r>
            <a:r>
              <a:rPr lang="en-US" altLang="zh-CN"/>
              <a:t>ULS-GW</a:t>
            </a:r>
            <a:r>
              <a:rPr lang="zh-CN" altLang="en-US"/>
              <a:t>，点击变形；</a:t>
            </a:r>
            <a:r>
              <a:rPr lang="en-US" altLang="zh-CN"/>
              <a:t>40—55</a:t>
            </a:r>
            <a:r>
              <a:rPr lang="zh-CN" altLang="en-US"/>
              <a:t>秒点击模型树，搜索“节点 </a:t>
            </a:r>
            <a:r>
              <a:rPr lang="en-US" altLang="zh-CN"/>
              <a:t>110”</a:t>
            </a:r>
            <a:r>
              <a:rPr lang="zh-CN" altLang="en-US"/>
              <a:t>并按</a:t>
            </a:r>
            <a:r>
              <a:rPr lang="en-US" altLang="zh-CN"/>
              <a:t>Enter</a:t>
            </a:r>
            <a:r>
              <a:rPr lang="zh-CN" altLang="en-US"/>
              <a:t>，在结果表查看位移幅值，必要时向下滚动；</a:t>
            </a:r>
            <a:r>
              <a:rPr lang="en-US" altLang="zh-CN"/>
              <a:t>55—60</a:t>
            </a:r>
            <a:r>
              <a:rPr lang="zh-CN" altLang="en-US"/>
              <a:t>秒返回</a:t>
            </a:r>
            <a:r>
              <a:rPr lang="en-US" altLang="zh-CN"/>
              <a:t>PowerPoint</a:t>
            </a:r>
            <a:r>
              <a:rPr lang="zh-CN" altLang="en-US"/>
              <a:t>，下一页继续。模型树左侧原始</a:t>
            </a:r>
            <a:r>
              <a:rPr lang="en-US" altLang="zh-CN"/>
              <a:t>X/Y/Z</a:t>
            </a:r>
            <a:r>
              <a:rPr lang="zh-CN" altLang="en-US"/>
              <a:t>不是位移。数值从当前</a:t>
            </a:r>
            <a:r>
              <a:rPr lang="en-US" altLang="zh-CN"/>
              <a:t>ULS-GW</a:t>
            </a:r>
            <a:r>
              <a:rPr lang="zh-CN" altLang="en-US"/>
              <a:t>结果读取，不能把其他工况的全模型峰值当作此节点的读数。</a:t>
            </a:r>
          </a:p>
          <a:p>
            <a:r>
              <a:rPr lang="zh-CN" altLang="en-US"/>
              <a:t>备用：若累计操作接近</a:t>
            </a:r>
            <a:r>
              <a:rPr lang="en-US" altLang="zh-CN"/>
              <a:t>45</a:t>
            </a:r>
            <a:r>
              <a:rPr lang="zh-CN" altLang="en-US"/>
              <a:t>秒而未完成查询，直接回到本页真实软件截图，用</a:t>
            </a:r>
            <a:r>
              <a:rPr lang="en-US" altLang="zh-CN"/>
              <a:t>15</a:t>
            </a:r>
            <a:r>
              <a:rPr lang="zh-CN" altLang="en-US"/>
              <a:t>秒说明已记录的结果。口头说明改为“这张截图记录同一模型的真实计算结果”，不称现场求解成功。本段展示确定性求解和结果查询，运行时</a:t>
            </a:r>
            <a:r>
              <a:rPr lang="en-US" altLang="zh-CN"/>
              <a:t>Agent</a:t>
            </a:r>
            <a:r>
              <a:rPr lang="zh-CN" altLang="en-US"/>
              <a:t>分工及人工审核见方法与缺陷页。</a:t>
            </a:r>
          </a:p>
          <a:p>
            <a:r>
              <a:rPr lang="zh-CN" altLang="en-US"/>
              <a:t>来源：</a:t>
            </a:r>
            <a:r>
              <a:rPr lang="en-US" altLang="zh-CN"/>
              <a:t>examples/defense/</a:t>
            </a:r>
            <a:r>
              <a:rPr lang="zh-CN" altLang="en-US"/>
              <a:t>拱形网格屋盖</a:t>
            </a:r>
            <a:r>
              <a:rPr lang="en-US" altLang="zh-CN"/>
              <a:t>.json</a:t>
            </a:r>
            <a:r>
              <a:rPr lang="zh-CN" altLang="en-US"/>
              <a:t>；同目录截图</a:t>
            </a:r>
            <a:r>
              <a:rPr lang="en-US" altLang="zh-CN"/>
              <a:t>/04_</a:t>
            </a:r>
            <a:r>
              <a:rPr lang="zh-CN" altLang="en-US"/>
              <a:t>调整版变形</a:t>
            </a:r>
            <a:r>
              <a:rPr lang="en-US" altLang="zh-CN"/>
              <a:t>.png</a:t>
            </a:r>
            <a:r>
              <a:rPr lang="zh-CN" altLang="en-US"/>
              <a:t>；</a:t>
            </a:r>
            <a:r>
              <a:rPr lang="en-US" altLang="zh-CN"/>
              <a:t>2026-10-11</a:t>
            </a:r>
            <a:r>
              <a:rPr lang="zh-CN" altLang="en-US"/>
              <a:t>本轮真实</a:t>
            </a:r>
            <a:r>
              <a:rPr lang="en-US" altLang="zh-CN"/>
              <a:t>MainWindow</a:t>
            </a:r>
            <a:r>
              <a:rPr lang="zh-CN" altLang="en-US"/>
              <a:t>后台</a:t>
            </a:r>
            <a:r>
              <a:rPr lang="en-US" altLang="zh-CN"/>
              <a:t>F5</a:t>
            </a:r>
            <a:r>
              <a:rPr lang="zh-CN" altLang="en-US"/>
              <a:t>求解与模型树回车定位，原始记录</a:t>
            </a:r>
            <a:r>
              <a:rPr lang="en-US" altLang="zh-CN"/>
              <a:t>results/ppt_revision_v5/preflight/</a:t>
            </a:r>
            <a:r>
              <a:rPr lang="zh-CN" altLang="en-US"/>
              <a:t>实机复现</a:t>
            </a:r>
            <a:r>
              <a:rPr lang="en-US" altLang="zh-CN"/>
              <a:t>.json</a:t>
            </a:r>
            <a:r>
              <a:rPr lang="zh-CN" altLang="en-US"/>
              <a:t>。节点</a:t>
            </a:r>
            <a:r>
              <a:rPr lang="en-US" altLang="zh-CN"/>
              <a:t>110</a:t>
            </a:r>
            <a:r>
              <a:rPr lang="zh-CN" altLang="en-US"/>
              <a:t>：</a:t>
            </a:r>
            <a:r>
              <a:rPr lang="en-US" altLang="zh-CN"/>
              <a:t>Ux=25.100262183992566mm</a:t>
            </a:r>
            <a:r>
              <a:rPr lang="zh-CN" altLang="en-US"/>
              <a:t>、</a:t>
            </a:r>
            <a:r>
              <a:rPr lang="en-US" altLang="zh-CN"/>
              <a:t>Uy</a:t>
            </a:r>
            <a:r>
              <a:rPr lang="zh-CN" altLang="en-US"/>
              <a:t>约</a:t>
            </a:r>
            <a:r>
              <a:rPr lang="en-US" altLang="zh-CN"/>
              <a:t>5.05e-13mm</a:t>
            </a:r>
            <a:r>
              <a:rPr lang="zh-CN" altLang="en-US"/>
              <a:t>、</a:t>
            </a:r>
            <a:r>
              <a:rPr lang="en-US" altLang="zh-CN"/>
              <a:t>Uz=-95.98922205555066mm</a:t>
            </a:r>
            <a:r>
              <a:rPr lang="zh-CN" altLang="en-US"/>
              <a:t>、位移幅值</a:t>
            </a:r>
            <a:r>
              <a:rPr lang="en-US" altLang="zh-CN"/>
              <a:t>99.21670178218474mm</a:t>
            </a:r>
            <a:r>
              <a:rPr lang="zh-CN" altLang="en-US"/>
              <a:t>。两图均来自软件；右图仅作局部裁切，未改写数据。几何与荷载为教学假设，不是图片测量得到的参数。
本页隐藏备答，不计入五分钟主放映。屋盖录像属于真实软件操作，非本轮</a:t>
            </a:r>
            <a:r>
              <a:rPr lang="en-US" altLang="zh-CN"/>
              <a:t>Agent</a:t>
            </a:r>
            <a:r>
              <a:rPr lang="zh-CN" altLang="en-US"/>
              <a:t>录屏。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隐藏备答，不计入五分钟</a:t>
            </a:r>
            <a:r>
              <a:rPr lang="en-US" altLang="zh-CN"/>
              <a:t>】B33</a:t>
            </a:r>
            <a:r>
              <a:rPr lang="zh-CN" altLang="en-US"/>
              <a:t>为不计剪切的三次梁，属于</a:t>
            </a:r>
            <a:r>
              <a:rPr lang="en-US" altLang="zh-CN"/>
              <a:t>Euler–Bernoulli</a:t>
            </a:r>
            <a:r>
              <a:rPr lang="zh-CN" altLang="en-US"/>
              <a:t>理论。比较限定于表中算例、相同理论和相同输入。误差</a:t>
            </a:r>
            <a:r>
              <a:rPr lang="en-US" altLang="zh-CN"/>
              <a:t>e(‖U‖)</a:t>
            </a:r>
            <a:r>
              <a:rPr lang="zh-CN" altLang="en-US"/>
              <a:t>使用原报告位移向量归一化误差定义，不应由四舍五入后的最大位移反推。文本输出精度也影响末位。这里不把梁对标扩大为局部实体、弯曲塑性或所有复杂工程验证。</a:t>
            </a:r>
          </a:p>
          <a:p>
            <a:r>
              <a:rPr lang="zh-CN" altLang="en-US"/>
              <a:t>来源：</a:t>
            </a:r>
            <a:r>
              <a:rPr lang="en-US" altLang="zh-CN"/>
              <a:t>abaqus_bench/benchmark_B33.md</a:t>
            </a:r>
            <a:r>
              <a:rPr lang="zh-CN" altLang="en-US"/>
              <a:t>；表中的值与误差逐项沿用真实独立对标记录。
本页隐藏备答，不计入五分钟主放映。屋盖录像属于真实软件操作，非本轮</a:t>
            </a:r>
            <a:r>
              <a:rPr lang="en-US" altLang="zh-CN"/>
              <a:t>Agent</a:t>
            </a:r>
            <a:r>
              <a:rPr lang="zh-CN" altLang="en-US"/>
              <a:t>录屏。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隐藏备答，不计入五分钟</a:t>
            </a:r>
            <a:r>
              <a:rPr lang="en-US" altLang="zh-CN"/>
              <a:t>】</a:t>
            </a:r>
            <a:r>
              <a:rPr lang="zh-CN" altLang="en-US"/>
              <a:t>四个目录共</a:t>
            </a:r>
            <a:r>
              <a:rPr lang="en-US" altLang="zh-CN"/>
              <a:t>240</a:t>
            </a:r>
            <a:r>
              <a:rPr lang="zh-CN" altLang="en-US"/>
              <a:t>个</a:t>
            </a:r>
            <a:r>
              <a:rPr lang="en-US" altLang="zh-CN"/>
              <a:t>Python</a:t>
            </a:r>
            <a:r>
              <a:rPr lang="zh-CN" altLang="en-US"/>
              <a:t>文件、</a:t>
            </a:r>
            <a:r>
              <a:rPr lang="en-US" altLang="zh-CN"/>
              <a:t>86851</a:t>
            </a:r>
            <a:r>
              <a:rPr lang="zh-CN" altLang="en-US"/>
              <a:t>行，包含测试、注释及空行，不能据此换算人工工时。</a:t>
            </a:r>
            <a:r>
              <a:rPr lang="en-US" altLang="zh-CN"/>
              <a:t>28</a:t>
            </a:r>
            <a:r>
              <a:rPr lang="zh-CN" altLang="en-US"/>
              <a:t>项解析金标准分为静力</a:t>
            </a:r>
            <a:r>
              <a:rPr lang="en-US" altLang="zh-CN"/>
              <a:t>12</a:t>
            </a:r>
            <a:r>
              <a:rPr lang="zh-CN" altLang="en-US"/>
              <a:t>、模态</a:t>
            </a:r>
            <a:r>
              <a:rPr lang="en-US" altLang="zh-CN"/>
              <a:t>5</a:t>
            </a:r>
            <a:r>
              <a:rPr lang="zh-CN" altLang="en-US"/>
              <a:t>、屈曲</a:t>
            </a:r>
            <a:r>
              <a:rPr lang="en-US" altLang="zh-CN"/>
              <a:t>9</a:t>
            </a:r>
            <a:r>
              <a:rPr lang="zh-CN" altLang="en-US"/>
              <a:t>，以及</a:t>
            </a:r>
            <a:r>
              <a:rPr lang="en-US" altLang="zh-CN"/>
              <a:t>P-Δ/</a:t>
            </a:r>
            <a:r>
              <a:rPr lang="zh-CN" altLang="en-US"/>
              <a:t>轴向塑性</a:t>
            </a:r>
            <a:r>
              <a:rPr lang="en-US" altLang="zh-CN"/>
              <a:t>2</a:t>
            </a:r>
            <a:r>
              <a:rPr lang="zh-CN" altLang="en-US"/>
              <a:t>。完整回归的</a:t>
            </a:r>
            <a:r>
              <a:rPr lang="en-US" altLang="zh-CN"/>
              <a:t>2837</a:t>
            </a:r>
            <a:r>
              <a:rPr lang="zh-CN" altLang="en-US"/>
              <a:t>通过、</a:t>
            </a:r>
            <a:r>
              <a:rPr lang="en-US" altLang="zh-CN"/>
              <a:t>1</a:t>
            </a:r>
            <a:r>
              <a:rPr lang="zh-CN" altLang="en-US"/>
              <a:t>环境跳过不是工程图识别准确率。现有</a:t>
            </a:r>
            <a:r>
              <a:rPr lang="en-US" altLang="zh-CN"/>
              <a:t>P-Δ</a:t>
            </a:r>
            <a:r>
              <a:rPr lang="zh-CN" altLang="en-US"/>
              <a:t>属于小应变二阶弹性，材料塑性限定于轴向双线性；正式</a:t>
            </a:r>
            <a:r>
              <a:rPr lang="en-US" altLang="zh-CN"/>
              <a:t>Kt</a:t>
            </a:r>
            <a:r>
              <a:rPr lang="zh-CN" altLang="en-US"/>
              <a:t>需要收敛与独立验证。</a:t>
            </a:r>
          </a:p>
          <a:p>
            <a:r>
              <a:rPr lang="zh-CN" altLang="en-US"/>
              <a:t>来源：</a:t>
            </a:r>
            <a:r>
              <a:rPr lang="en-US" altLang="zh-CN"/>
              <a:t>docs/</a:t>
            </a:r>
            <a:r>
              <a:rPr lang="zh-CN" altLang="en-US"/>
              <a:t>课程报告</a:t>
            </a:r>
            <a:r>
              <a:rPr lang="en-US" altLang="zh-CN"/>
              <a:t>.md §2.1</a:t>
            </a:r>
            <a:r>
              <a:rPr lang="zh-CN" altLang="en-US"/>
              <a:t>；</a:t>
            </a:r>
            <a:r>
              <a:rPr lang="en-US" altLang="zh-CN"/>
              <a:t>docs/BETA_0.1_GOLD_CASES.md</a:t>
            </a:r>
            <a:r>
              <a:rPr lang="zh-CN" altLang="en-US"/>
              <a:t>；</a:t>
            </a:r>
            <a:r>
              <a:rPr lang="en-US" altLang="zh-CN"/>
              <a:t>README.md</a:t>
            </a:r>
            <a:r>
              <a:rPr lang="zh-CN" altLang="en-US"/>
              <a:t>；</a:t>
            </a:r>
            <a:r>
              <a:rPr lang="en-US" altLang="zh-CN"/>
              <a:t>docs/BETA_0.1_CAPABILITY_MATRIX.md</a:t>
            </a:r>
            <a:r>
              <a:rPr lang="zh-CN" altLang="en-US"/>
              <a:t>；</a:t>
            </a:r>
            <a:r>
              <a:rPr lang="en-US" altLang="zh-CN"/>
              <a:t>docs/SOLID_JOINT_SCOPE.md</a:t>
            </a:r>
            <a:r>
              <a:rPr lang="zh-CN" altLang="en-US"/>
              <a:t>。全部软件截图来自项目保存的实际窗口，没有使用</a:t>
            </a:r>
            <a:r>
              <a:rPr lang="en-US" altLang="zh-CN"/>
              <a:t>AI</a:t>
            </a:r>
            <a:r>
              <a:rPr lang="zh-CN" altLang="en-US"/>
              <a:t>生成的软件效果图；理论示意、框图和柱图均为可编辑原生对象。
本页隐藏备答，不计入五分钟主放映。屋盖录像属于真实软件操作，非本轮</a:t>
            </a:r>
            <a:r>
              <a:rPr lang="en-US" altLang="zh-CN"/>
              <a:t>Agent</a:t>
            </a:r>
            <a:r>
              <a:rPr lang="zh-CN" altLang="en-US"/>
              <a:t>录屏。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4CEAC-21D2-4803-87B9-A45E984F6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93D916-674F-4AFE-ABB6-C916FC19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C3B273C1-2599-4774-A4C4-B80E543F5A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6EB6AA3B-9CF6-4B32-8145-71BDC4FAC2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D574BB6D-2B2C-4023-A616-BE4B35663D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4A382-0BBC-48FC-88E5-47CA5D62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ECF427-C548-4CDD-83B1-22B326280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8A185-98EE-4397-A7E2-3DE1E25C91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32B2D0-086B-4168-B730-A6880FE388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E1FBF8-327B-4C7A-8299-4BEC9A67A3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229DD-8163-4200-A0D9-F48A3F5588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1D9A23-5C84-4C89-851C-A6C05F16C3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8B6D48-B525-4370-BF1B-F9D0B7D595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E84926-09F1-4BD5-8390-F75DA6466A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F34BC3-83B7-40E0-BD98-3FB1A7A84A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1F621-E0D8-4985-A9F9-F02E4954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FFA56A-FE6D-4BCD-9191-2D722A545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7E00AA-F14F-4F0D-9571-3DA975C0CD5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D2471D-D94D-4DB6-93C3-657E8ACD58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684A6C-FADF-4744-A661-07058C0FF1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673C99-0070-4B58-9B55-048C0E7014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594A7-DE81-4A91-B1A6-5D70C81B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058A86-351B-40DB-9C59-CFBFAAA0E45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18A1EB-0D7B-425C-976D-30B408D229D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C5E579-8491-4345-96B8-A145C078A1C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B48670-403E-4D94-8F19-CA58DF9DA57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C925C2-58CF-48B8-992F-2D0C03A763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CEFC75-2A40-46E5-8482-88ABBA141F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9FAC28-2246-4D85-B540-A510839749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5AE4F-2B8C-45EF-9281-F1C3366C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B9F6A95-7140-43CC-B672-1B6A92D53E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648025-B1EB-40DB-97E4-D0838AF1E7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71625F-5E7A-4520-8B3C-4F3BDFF0CC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8E97EC-394C-414B-AF90-BB5E38C0C1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4BB3BE-FFB3-4F91-A902-CFD7C3F711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B0B969-4EE6-42D9-9807-8E9C3FD3B4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EA7B46-8206-474A-9991-E69B6A3512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9BEEC9-542B-41D3-B92D-345DA5D2CA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9EF193-0799-4B33-AB11-D3C76405EB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68DDE7-0959-4B93-B135-3D02E1FF8B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F8AF3B-5F7E-48A5-949A-A201F2FBCD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9A7BDC85-E3C3-4E04-8909-A6D2BED1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F149DE-B1A4-4D6D-8237-68ED3A5307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B26B2C-4877-484D-AF26-20B49DF63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116E7-F030-45F2-890A-58F0EF55BB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24AF94-31B0-48B4-BC37-1B672DBF99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D0452-D57C-4163-B7AD-2D63F96EA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70A8D3-F081-48B5-88DF-1ACE6BF494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1FD8F0-3DF4-4871-90E6-E1BB0E0221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8E23F5-B418-44FB-9CE8-A3D7428EA5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28EDCA88-63C5-4DA6-92A8-23CC88F7520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2488CB-3948-4419-89A1-0D24D224C7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F18BCA-A182-4FF9-8229-AE02F020B8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760D35-AE74-4792-8D12-4F4A49120C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19C96DE-2246-432D-A52D-E5509D6C2F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1B77BC8D-1A01-4AEF-867F-E93C5F6A44E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22A98E-F474-4F2D-B471-388FCBEA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A388BB-E307-478A-AF4D-4C42D1A23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5BA7E-697E-41F5-BB29-E97F8D3A474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376857-057B-48AC-AF19-F23450A0097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D0418B-9FAC-4D3D-8A53-0C1C13288E8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0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chart" Target="../charts/chart1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8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54B64FF0-E8B5-477B-87F5-D1B3659BE3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t="28704" b="18333"/>
          <a:stretch>
            <a:fillRect/>
          </a:stretch>
        </p:blipFill>
        <p:spPr>
          <a:xfrm>
            <a:off x="0" y="1478094"/>
            <a:ext cx="12192000" cy="19888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A08C705-E608-41D5-AD1E-D4E90B2AAF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3384709"/>
            <a:ext cx="12192000" cy="3473291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C000EC16-3A5D-4D62-A82C-AA1AF9E82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9697" y="66675"/>
            <a:ext cx="2731173" cy="717216"/>
          </a:xfrm>
          <a:prstGeom prst="rect">
            <a:avLst/>
          </a:prstGeom>
        </p:spPr>
      </p:pic>
      <p:sp>
        <p:nvSpPr>
          <p:cNvPr id="26" name="基于 AI 的空间刚架&#10;智能计算 Agent 开">
            <a:extLst>
              <a:ext uri="{FF2B5EF4-FFF2-40B4-BE49-F238E27FC236}">
                <a16:creationId xmlns:a16="http://schemas.microsoft.com/office/drawing/2014/main" id="{0E721B4E-ABAF-494D-B1E7-38B8274CDEE4}"/>
              </a:ext>
            </a:extLst>
          </p:cNvPr>
          <p:cNvSpPr>
            <a:spLocks noGrp="1"/>
          </p:cNvSpPr>
          <p:nvPr/>
        </p:nvSpPr>
        <p:spPr>
          <a:xfrm>
            <a:off x="857250" y="1552575"/>
            <a:ext cx="10477500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基于 AI 的空间刚架</a:t>
            </a:r>
          </a:p>
          <a:p>
            <a:pPr algn="ctr">
              <a:buNone/>
              <a:def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智能计算 Agent 开发</a:t>
            </a:r>
          </a:p>
        </p:txBody>
      </p:sp>
      <p:sp>
        <p:nvSpPr>
          <p:cNvPr id="27" name="中期汇报">
            <a:extLst>
              <a:ext uri="{FF2B5EF4-FFF2-40B4-BE49-F238E27FC236}">
                <a16:creationId xmlns:a16="http://schemas.microsoft.com/office/drawing/2014/main" id="{1950D80B-300D-4FB1-B968-795920A7FF13}"/>
              </a:ext>
            </a:extLst>
          </p:cNvPr>
          <p:cNvSpPr>
            <a:spLocks noGrp="1"/>
          </p:cNvSpPr>
          <p:nvPr/>
        </p:nvSpPr>
        <p:spPr>
          <a:xfrm>
            <a:off x="3905250" y="2924175"/>
            <a:ext cx="4381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中期汇报</a:t>
            </a:r>
          </a:p>
        </p:txBody>
      </p:sp>
      <p:sp>
        <p:nvSpPr>
          <p:cNvPr id="28" name="汇报人：________________    ">
            <a:extLst>
              <a:ext uri="{FF2B5EF4-FFF2-40B4-BE49-F238E27FC236}">
                <a16:creationId xmlns:a16="http://schemas.microsoft.com/office/drawing/2014/main" id="{96ED2251-5B2B-4895-9230-75276E28ACE7}"/>
              </a:ext>
            </a:extLst>
          </p:cNvPr>
          <p:cNvSpPr>
            <a:spLocks noGrp="1"/>
          </p:cNvSpPr>
          <p:nvPr/>
        </p:nvSpPr>
        <p:spPr>
          <a:xfrm>
            <a:off x="2590800" y="3752850"/>
            <a:ext cx="8239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汇报人：________________    班级：________________</a:t>
            </a:r>
          </a:p>
        </p:txBody>
      </p:sp>
      <p:sp>
        <p:nvSpPr>
          <p:cNvPr id="29" name="小组成员：___________________">
            <a:extLst>
              <a:ext uri="{FF2B5EF4-FFF2-40B4-BE49-F238E27FC236}">
                <a16:creationId xmlns:a16="http://schemas.microsoft.com/office/drawing/2014/main" id="{003A8608-E55F-445F-B783-9DE599BCE149}"/>
              </a:ext>
            </a:extLst>
          </p:cNvPr>
          <p:cNvSpPr>
            <a:spLocks noGrp="1"/>
          </p:cNvSpPr>
          <p:nvPr/>
        </p:nvSpPr>
        <p:spPr>
          <a:xfrm>
            <a:off x="2590800" y="4276725"/>
            <a:ext cx="8239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小组成员：_____________________________________</a:t>
            </a:r>
          </a:p>
        </p:txBody>
      </p:sp>
      <p:sp>
        <p:nvSpPr>
          <p:cNvPr id="30" name="指导教师：________________">
            <a:extLst>
              <a:ext uri="{FF2B5EF4-FFF2-40B4-BE49-F238E27FC236}">
                <a16:creationId xmlns:a16="http://schemas.microsoft.com/office/drawing/2014/main" id="{72D1EF5F-BE6B-4112-8706-12F7FD7D1A4F}"/>
              </a:ext>
            </a:extLst>
          </p:cNvPr>
          <p:cNvSpPr>
            <a:spLocks noGrp="1"/>
          </p:cNvSpPr>
          <p:nvPr/>
        </p:nvSpPr>
        <p:spPr>
          <a:xfrm>
            <a:off x="2590800" y="480060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指导教师：________________</a:t>
            </a:r>
          </a:p>
        </p:txBody>
      </p:sp>
      <p:sp>
        <p:nvSpPr>
          <p:cNvPr id="31" name="2026 年 10 月">
            <a:extLst>
              <a:ext uri="{FF2B5EF4-FFF2-40B4-BE49-F238E27FC236}">
                <a16:creationId xmlns:a16="http://schemas.microsoft.com/office/drawing/2014/main" id="{684CBC89-C832-4DF1-A359-6B021A3EFA69}"/>
              </a:ext>
            </a:extLst>
          </p:cNvPr>
          <p:cNvSpPr>
            <a:spLocks noGrp="1"/>
          </p:cNvSpPr>
          <p:nvPr/>
        </p:nvSpPr>
        <p:spPr>
          <a:xfrm>
            <a:off x="2590800" y="5334000"/>
            <a:ext cx="7239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81818"/>
                </a:solidFill>
                <a:latin typeface="微软雅黑"/>
                <a:ea typeface="微软雅黑"/>
                <a:cs typeface="微软雅黑"/>
              </a:rPr>
              <a:t>2026 年 10 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B63338-CDDF-45E0-8748-160A6DD686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1" y="29589"/>
            <a:ext cx="4532224" cy="82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4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D828F98-DE34-4364-8DA0-DECF748CD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0A07D3C8-F3D1-4212-909A-454AD1C87D9A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一、项目定位与总体任务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8A542FD2-5785-4015-93EC-CEB4FAF71872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本项目任务定位；题1要求以课程题目原文为准，当前配套能力及验证范围在第三部分说明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6EAB72A0-B37E-42E2-A591-439968CD5F04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73B726CF-736D-4EEA-96D9-439F4934EA48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以空间刚架智能计算Agent为主项，力学计算能力支撑任务执行</a:t>
            </a:r>
          </a:p>
        </p:txBody>
      </p:sp>
      <p:sp>
        <p:nvSpPr>
          <p:cNvPr id="28" name="主要任务">
            <a:extLst>
              <a:ext uri="{FF2B5EF4-FFF2-40B4-BE49-F238E27FC236}">
                <a16:creationId xmlns:a16="http://schemas.microsoft.com/office/drawing/2014/main" id="{2D6AD64E-2B14-4C1E-81EA-F77E2152381B}"/>
              </a:ext>
            </a:extLst>
          </p:cNvPr>
          <p:cNvSpPr>
            <a:spLocks noGrp="1"/>
          </p:cNvSpPr>
          <p:nvPr/>
        </p:nvSpPr>
        <p:spPr>
          <a:xfrm>
            <a:off x="457200" y="1704975"/>
            <a:ext cx="5372100" cy="428625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29" name="主要任务文字">
            <a:extLst>
              <a:ext uri="{FF2B5EF4-FFF2-40B4-BE49-F238E27FC236}">
                <a16:creationId xmlns:a16="http://schemas.microsoft.com/office/drawing/2014/main" id="{50319D24-8D96-45D0-A8EA-F7F2790CE5F5}"/>
              </a:ext>
            </a:extLst>
          </p:cNvPr>
          <p:cNvSpPr>
            <a:spLocks noGrp="1"/>
          </p:cNvSpPr>
          <p:nvPr/>
        </p:nvSpPr>
        <p:spPr>
          <a:xfrm>
            <a:off x="533400" y="1724025"/>
            <a:ext cx="52197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主要任务：第2题 · </a:t>
            </a:r>
            <a:r>
              <a:rPr sz="22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AI Agent</a:t>
            </a:r>
          </a:p>
        </p:txBody>
      </p:sp>
      <p:sp>
        <p:nvSpPr>
          <p:cNvPr id="30" name="配套任务">
            <a:extLst>
              <a:ext uri="{FF2B5EF4-FFF2-40B4-BE49-F238E27FC236}">
                <a16:creationId xmlns:a16="http://schemas.microsoft.com/office/drawing/2014/main" id="{3E4F23CE-7A79-4139-A369-15A87737C4BD}"/>
              </a:ext>
            </a:extLst>
          </p:cNvPr>
          <p:cNvSpPr>
            <a:spLocks noGrp="1"/>
          </p:cNvSpPr>
          <p:nvPr/>
        </p:nvSpPr>
        <p:spPr>
          <a:xfrm>
            <a:off x="6267450" y="1704975"/>
            <a:ext cx="5467350" cy="428625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1" name="配套任务文字">
            <a:extLst>
              <a:ext uri="{FF2B5EF4-FFF2-40B4-BE49-F238E27FC236}">
                <a16:creationId xmlns:a16="http://schemas.microsoft.com/office/drawing/2014/main" id="{4505365A-42C8-4E8F-B155-E99EB8140D78}"/>
              </a:ext>
            </a:extLst>
          </p:cNvPr>
          <p:cNvSpPr>
            <a:spLocks noGrp="1"/>
          </p:cNvSpPr>
          <p:nvPr/>
        </p:nvSpPr>
        <p:spPr>
          <a:xfrm>
            <a:off x="6343650" y="1724025"/>
            <a:ext cx="53149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配套实现：第1题相关计算功能</a:t>
            </a:r>
          </a:p>
        </p:txBody>
      </p:sp>
      <p:sp>
        <p:nvSpPr>
          <p:cNvPr id="32" name="Agent职责">
            <a:extLst>
              <a:ext uri="{FF2B5EF4-FFF2-40B4-BE49-F238E27FC236}">
                <a16:creationId xmlns:a16="http://schemas.microsoft.com/office/drawing/2014/main" id="{14E5235C-A51C-4235-893B-42C02AF57D2E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5372100" cy="15906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3" name="Agent职责标题">
            <a:extLst>
              <a:ext uri="{FF2B5EF4-FFF2-40B4-BE49-F238E27FC236}">
                <a16:creationId xmlns:a16="http://schemas.microsoft.com/office/drawing/2014/main" id="{AC819CC2-0300-44C6-86C7-2800B1A65957}"/>
              </a:ext>
            </a:extLst>
          </p:cNvPr>
          <p:cNvSpPr>
            <a:spLocks noGrp="1"/>
          </p:cNvSpPr>
          <p:nvPr/>
        </p:nvSpPr>
        <p:spPr>
          <a:xfrm>
            <a:off x="457200" y="2305050"/>
            <a:ext cx="53721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4" name="Agent职责标题文字">
            <a:extLst>
              <a:ext uri="{FF2B5EF4-FFF2-40B4-BE49-F238E27FC236}">
                <a16:creationId xmlns:a16="http://schemas.microsoft.com/office/drawing/2014/main" id="{9B81E56A-BEAF-4199-9197-14D6A1BDF3F4}"/>
              </a:ext>
            </a:extLst>
          </p:cNvPr>
          <p:cNvSpPr>
            <a:spLocks noGrp="1"/>
          </p:cNvSpPr>
          <p:nvPr/>
        </p:nvSpPr>
        <p:spPr>
          <a:xfrm>
            <a:off x="533400" y="2324100"/>
            <a:ext cx="521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工程语言 → 可执行分析任务</a:t>
            </a:r>
          </a:p>
        </p:txBody>
      </p:sp>
      <p:sp>
        <p:nvSpPr>
          <p:cNvPr id="35" name="Agent职责说明">
            <a:extLst>
              <a:ext uri="{FF2B5EF4-FFF2-40B4-BE49-F238E27FC236}">
                <a16:creationId xmlns:a16="http://schemas.microsoft.com/office/drawing/2014/main" id="{8B16E20E-964B-4EF7-BFE6-9A0B211BC4C1}"/>
              </a:ext>
            </a:extLst>
          </p:cNvPr>
          <p:cNvSpPr>
            <a:spLocks noGrp="1"/>
          </p:cNvSpPr>
          <p:nvPr/>
        </p:nvSpPr>
        <p:spPr>
          <a:xfrm>
            <a:off x="590550" y="2752725"/>
            <a:ext cx="51054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文字 / 图纸输入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建模、查询、参数比较与成果整理</a:t>
            </a:r>
          </a:p>
        </p:txBody>
      </p:sp>
      <p:sp>
        <p:nvSpPr>
          <p:cNvPr id="36" name="力学职责">
            <a:extLst>
              <a:ext uri="{FF2B5EF4-FFF2-40B4-BE49-F238E27FC236}">
                <a16:creationId xmlns:a16="http://schemas.microsoft.com/office/drawing/2014/main" id="{8606B922-B737-4D4D-BE1F-83660FC0BB03}"/>
              </a:ext>
            </a:extLst>
          </p:cNvPr>
          <p:cNvSpPr>
            <a:spLocks noGrp="1"/>
          </p:cNvSpPr>
          <p:nvPr/>
        </p:nvSpPr>
        <p:spPr>
          <a:xfrm>
            <a:off x="6267450" y="2305050"/>
            <a:ext cx="5467350" cy="15906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7" name="力学职责标题">
            <a:extLst>
              <a:ext uri="{FF2B5EF4-FFF2-40B4-BE49-F238E27FC236}">
                <a16:creationId xmlns:a16="http://schemas.microsoft.com/office/drawing/2014/main" id="{F0884826-8DF7-496A-A7C8-3519582A1F25}"/>
              </a:ext>
            </a:extLst>
          </p:cNvPr>
          <p:cNvSpPr>
            <a:spLocks noGrp="1"/>
          </p:cNvSpPr>
          <p:nvPr/>
        </p:nvSpPr>
        <p:spPr>
          <a:xfrm>
            <a:off x="6267450" y="2305050"/>
            <a:ext cx="54673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8" name="力学职责标题文字">
            <a:extLst>
              <a:ext uri="{FF2B5EF4-FFF2-40B4-BE49-F238E27FC236}">
                <a16:creationId xmlns:a16="http://schemas.microsoft.com/office/drawing/2014/main" id="{084B2D8C-5387-4944-9779-7CA61A8976B9}"/>
              </a:ext>
            </a:extLst>
          </p:cNvPr>
          <p:cNvSpPr>
            <a:spLocks noGrp="1"/>
          </p:cNvSpPr>
          <p:nvPr/>
        </p:nvSpPr>
        <p:spPr>
          <a:xfrm>
            <a:off x="6343650" y="23241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结构化模型 → 可复算数值</a:t>
            </a:r>
          </a:p>
        </p:txBody>
      </p:sp>
      <p:sp>
        <p:nvSpPr>
          <p:cNvPr id="39" name="力学职责说明">
            <a:extLst>
              <a:ext uri="{FF2B5EF4-FFF2-40B4-BE49-F238E27FC236}">
                <a16:creationId xmlns:a16="http://schemas.microsoft.com/office/drawing/2014/main" id="{5571AB88-6354-41C7-80BE-BABD69039907}"/>
              </a:ext>
            </a:extLst>
          </p:cNvPr>
          <p:cNvSpPr>
            <a:spLocks noGrp="1"/>
          </p:cNvSpPr>
          <p:nvPr/>
        </p:nvSpPr>
        <p:spPr>
          <a:xfrm>
            <a:off x="6400800" y="2752725"/>
            <a:ext cx="52006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整体位移、反力与杆件内力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圆截面节点的局部实体扩展</a:t>
            </a:r>
          </a:p>
        </p:txBody>
      </p:sp>
      <p:sp>
        <p:nvSpPr>
          <p:cNvPr id="40" name="功能支撑箭头">
            <a:extLst>
              <a:ext uri="{FF2B5EF4-FFF2-40B4-BE49-F238E27FC236}">
                <a16:creationId xmlns:a16="http://schemas.microsoft.com/office/drawing/2014/main" id="{180C8EFF-D986-4BA7-9632-1A33F947A8B7}"/>
              </a:ext>
            </a:extLst>
          </p:cNvPr>
          <p:cNvSpPr>
            <a:spLocks noGrp="1"/>
          </p:cNvSpPr>
          <p:nvPr/>
        </p:nvSpPr>
        <p:spPr>
          <a:xfrm>
            <a:off x="5791200" y="2971800"/>
            <a:ext cx="400050" cy="285750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41" name="项目价值分组">
            <a:extLst>
              <a:ext uri="{FF2B5EF4-FFF2-40B4-BE49-F238E27FC236}">
                <a16:creationId xmlns:a16="http://schemas.microsoft.com/office/drawing/2014/main" id="{83AF01A8-4685-4B02-85DF-2C5AC197911E}"/>
              </a:ext>
            </a:extLst>
          </p:cNvPr>
          <p:cNvSpPr>
            <a:spLocks noGrp="1"/>
          </p:cNvSpPr>
          <p:nvPr/>
        </p:nvSpPr>
        <p:spPr>
          <a:xfrm>
            <a:off x="457200" y="4210050"/>
            <a:ext cx="11277600" cy="14382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dash"/>
          </a:ln>
        </p:spPr>
      </p:sp>
      <p:sp>
        <p:nvSpPr>
          <p:cNvPr id="42" name="特色0">
            <a:extLst>
              <a:ext uri="{FF2B5EF4-FFF2-40B4-BE49-F238E27FC236}">
                <a16:creationId xmlns:a16="http://schemas.microsoft.com/office/drawing/2014/main" id="{DBDDFB75-5E73-4618-B9C8-C81DBD5FCD34}"/>
              </a:ext>
            </a:extLst>
          </p:cNvPr>
          <p:cNvSpPr>
            <a:spLocks noGrp="1"/>
          </p:cNvSpPr>
          <p:nvPr/>
        </p:nvSpPr>
        <p:spPr>
          <a:xfrm>
            <a:off x="666750" y="4410075"/>
            <a:ext cx="251460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3" name="特色0文字">
            <a:extLst>
              <a:ext uri="{FF2B5EF4-FFF2-40B4-BE49-F238E27FC236}">
                <a16:creationId xmlns:a16="http://schemas.microsoft.com/office/drawing/2014/main" id="{25C98165-BB2A-4BFA-9F66-F43F27409536}"/>
              </a:ext>
            </a:extLst>
          </p:cNvPr>
          <p:cNvSpPr>
            <a:spLocks noGrp="1"/>
          </p:cNvSpPr>
          <p:nvPr/>
        </p:nvSpPr>
        <p:spPr>
          <a:xfrm>
            <a:off x="742950" y="4429125"/>
            <a:ext cx="2362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结构化表达</a:t>
            </a:r>
          </a:p>
        </p:txBody>
      </p:sp>
      <p:sp>
        <p:nvSpPr>
          <p:cNvPr id="44" name="特色解释0">
            <a:extLst>
              <a:ext uri="{FF2B5EF4-FFF2-40B4-BE49-F238E27FC236}">
                <a16:creationId xmlns:a16="http://schemas.microsoft.com/office/drawing/2014/main" id="{5FAB096D-1C8A-4E52-9B95-170B13056AB3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模型可保存、重开与校验</a:t>
            </a:r>
          </a:p>
        </p:txBody>
      </p:sp>
      <p:sp>
        <p:nvSpPr>
          <p:cNvPr id="45" name="特色1">
            <a:extLst>
              <a:ext uri="{FF2B5EF4-FFF2-40B4-BE49-F238E27FC236}">
                <a16:creationId xmlns:a16="http://schemas.microsoft.com/office/drawing/2014/main" id="{E991A68C-BAAD-4E44-80F4-E91DA2D5952E}"/>
              </a:ext>
            </a:extLst>
          </p:cNvPr>
          <p:cNvSpPr>
            <a:spLocks noGrp="1"/>
          </p:cNvSpPr>
          <p:nvPr/>
        </p:nvSpPr>
        <p:spPr>
          <a:xfrm>
            <a:off x="3429000" y="4410075"/>
            <a:ext cx="251460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6" name="特色1文字">
            <a:extLst>
              <a:ext uri="{FF2B5EF4-FFF2-40B4-BE49-F238E27FC236}">
                <a16:creationId xmlns:a16="http://schemas.microsoft.com/office/drawing/2014/main" id="{7780FCAB-B0C2-4F62-974D-97F0C32750B6}"/>
              </a:ext>
            </a:extLst>
          </p:cNvPr>
          <p:cNvSpPr>
            <a:spLocks noGrp="1"/>
          </p:cNvSpPr>
          <p:nvPr/>
        </p:nvSpPr>
        <p:spPr>
          <a:xfrm>
            <a:off x="3505200" y="4429125"/>
            <a:ext cx="2362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确定性求解</a:t>
            </a:r>
          </a:p>
        </p:txBody>
      </p:sp>
      <p:sp>
        <p:nvSpPr>
          <p:cNvPr id="47" name="特色解释1">
            <a:extLst>
              <a:ext uri="{FF2B5EF4-FFF2-40B4-BE49-F238E27FC236}">
                <a16:creationId xmlns:a16="http://schemas.microsoft.com/office/drawing/2014/main" id="{B4B4E375-BDBA-4472-91C5-CB4CAEA3650C}"/>
              </a:ext>
            </a:extLst>
          </p:cNvPr>
          <p:cNvSpPr>
            <a:spLocks noGrp="1"/>
          </p:cNvSpPr>
          <p:nvPr/>
        </p:nvSpPr>
        <p:spPr>
          <a:xfrm>
            <a:off x="3448050" y="4981575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数值来自力学程序</a:t>
            </a:r>
          </a:p>
        </p:txBody>
      </p:sp>
      <p:sp>
        <p:nvSpPr>
          <p:cNvPr id="48" name="特色2">
            <a:extLst>
              <a:ext uri="{FF2B5EF4-FFF2-40B4-BE49-F238E27FC236}">
                <a16:creationId xmlns:a16="http://schemas.microsoft.com/office/drawing/2014/main" id="{77915D28-1C0B-4980-8CD6-CFA4453D340A}"/>
              </a:ext>
            </a:extLst>
          </p:cNvPr>
          <p:cNvSpPr>
            <a:spLocks noGrp="1"/>
          </p:cNvSpPr>
          <p:nvPr/>
        </p:nvSpPr>
        <p:spPr>
          <a:xfrm>
            <a:off x="6191250" y="4410075"/>
            <a:ext cx="251460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9" name="特色2文字">
            <a:extLst>
              <a:ext uri="{FF2B5EF4-FFF2-40B4-BE49-F238E27FC236}">
                <a16:creationId xmlns:a16="http://schemas.microsoft.com/office/drawing/2014/main" id="{EB439499-DA4A-4921-B8DC-BD7EAC100DAF}"/>
              </a:ext>
            </a:extLst>
          </p:cNvPr>
          <p:cNvSpPr>
            <a:spLocks noGrp="1"/>
          </p:cNvSpPr>
          <p:nvPr/>
        </p:nvSpPr>
        <p:spPr>
          <a:xfrm>
            <a:off x="6267450" y="4429125"/>
            <a:ext cx="2362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人工确认</a:t>
            </a:r>
          </a:p>
        </p:txBody>
      </p:sp>
      <p:sp>
        <p:nvSpPr>
          <p:cNvPr id="50" name="特色解释2">
            <a:extLst>
              <a:ext uri="{FF2B5EF4-FFF2-40B4-BE49-F238E27FC236}">
                <a16:creationId xmlns:a16="http://schemas.microsoft.com/office/drawing/2014/main" id="{AF02D9BD-A4EC-4A60-8DA9-3A55B0BC4ABB}"/>
              </a:ext>
            </a:extLst>
          </p:cNvPr>
          <p:cNvSpPr>
            <a:spLocks noGrp="1"/>
          </p:cNvSpPr>
          <p:nvPr/>
        </p:nvSpPr>
        <p:spPr>
          <a:xfrm>
            <a:off x="6210300" y="4981575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不确定输入保留待核对</a:t>
            </a:r>
          </a:p>
        </p:txBody>
      </p:sp>
      <p:sp>
        <p:nvSpPr>
          <p:cNvPr id="51" name="特色3">
            <a:extLst>
              <a:ext uri="{FF2B5EF4-FFF2-40B4-BE49-F238E27FC236}">
                <a16:creationId xmlns:a16="http://schemas.microsoft.com/office/drawing/2014/main" id="{A025DBF7-68D5-4361-90E1-64FE322DD245}"/>
              </a:ext>
            </a:extLst>
          </p:cNvPr>
          <p:cNvSpPr>
            <a:spLocks noGrp="1"/>
          </p:cNvSpPr>
          <p:nvPr/>
        </p:nvSpPr>
        <p:spPr>
          <a:xfrm>
            <a:off x="8953500" y="4410075"/>
            <a:ext cx="251460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52" name="特色3文字">
            <a:extLst>
              <a:ext uri="{FF2B5EF4-FFF2-40B4-BE49-F238E27FC236}">
                <a16:creationId xmlns:a16="http://schemas.microsoft.com/office/drawing/2014/main" id="{FA0EC94F-CE3D-4900-BB07-8EB7979AD07F}"/>
              </a:ext>
            </a:extLst>
          </p:cNvPr>
          <p:cNvSpPr>
            <a:spLocks noGrp="1"/>
          </p:cNvSpPr>
          <p:nvPr/>
        </p:nvSpPr>
        <p:spPr>
          <a:xfrm>
            <a:off x="9029700" y="4429125"/>
            <a:ext cx="2362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结果可追溯</a:t>
            </a:r>
          </a:p>
        </p:txBody>
      </p:sp>
      <p:sp>
        <p:nvSpPr>
          <p:cNvPr id="53" name="特色解释3">
            <a:extLst>
              <a:ext uri="{FF2B5EF4-FFF2-40B4-BE49-F238E27FC236}">
                <a16:creationId xmlns:a16="http://schemas.microsoft.com/office/drawing/2014/main" id="{1EA249A0-E8D9-42D8-AA8A-A1399C32711F}"/>
              </a:ext>
            </a:extLst>
          </p:cNvPr>
          <p:cNvSpPr>
            <a:spLocks noGrp="1"/>
          </p:cNvSpPr>
          <p:nvPr/>
        </p:nvSpPr>
        <p:spPr>
          <a:xfrm>
            <a:off x="8972550" y="4981575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模型版本 / 工况 / 求解编号</a:t>
            </a:r>
          </a:p>
        </p:txBody>
      </p:sp>
      <p:sp>
        <p:nvSpPr>
          <p:cNvPr id="54" name="结论底框">
            <a:extLst>
              <a:ext uri="{FF2B5EF4-FFF2-40B4-BE49-F238E27FC236}">
                <a16:creationId xmlns:a16="http://schemas.microsoft.com/office/drawing/2014/main" id="{AD0ACF1C-C9C2-45C9-836F-A67F4AC2BDFE}"/>
              </a:ext>
            </a:extLst>
          </p:cNvPr>
          <p:cNvSpPr>
            <a:spLocks noGrp="1"/>
          </p:cNvSpPr>
          <p:nvPr/>
        </p:nvSpPr>
        <p:spPr>
          <a:xfrm>
            <a:off x="457200" y="5953125"/>
            <a:ext cx="11277600" cy="419100"/>
          </a:xfrm>
          <a:prstGeom prst="rect">
            <a:avLst/>
          </a:prstGeom>
          <a:solidFill>
            <a:srgbClr val="F1F6FC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55" name="本页结论">
            <a:extLst>
              <a:ext uri="{FF2B5EF4-FFF2-40B4-BE49-F238E27FC236}">
                <a16:creationId xmlns:a16="http://schemas.microsoft.com/office/drawing/2014/main" id="{17EAC9EB-7516-4BE4-8A11-D2D2F9F4CD26}"/>
              </a:ext>
            </a:extLst>
          </p:cNvPr>
          <p:cNvSpPr>
            <a:spLocks noGrp="1"/>
          </p:cNvSpPr>
          <p:nvPr/>
        </p:nvSpPr>
        <p:spPr>
          <a:xfrm>
            <a:off x="571500" y="59912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研究对象：空间钢结构的教学研究、建模辅助与方案试算</a:t>
            </a:r>
          </a:p>
        </p:txBody>
      </p:sp>
    </p:spTree>
    <p:extLst>
      <p:ext uri="{BB962C8B-B14F-4D97-AF65-F5344CB8AC3E}">
        <p14:creationId xmlns:p14="http://schemas.microsoft.com/office/powerpoint/2010/main" val="10609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F144FAD-E6B3-4E98-B4E2-AB145CF9A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9F9362D2-0EE9-4524-B6FD-C0B03BE763FD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二、Agent的实现与应用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220F9BE7-7C3B-41E4-B54C-955E4C5CDB7D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当前源码：Conversation + DeepSeekProvider + Session.dispatch；63接口不含全部GUI与图纸审核动作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BC085618-4E78-4FD6-B03C-6F3A075007EE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6990CBAF-090D-43E8-A5E4-008473A5EF4D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大模型理解并组织调用，程序执行计算，用户确认不确定输入</a:t>
            </a:r>
          </a:p>
        </p:txBody>
      </p:sp>
      <p:sp>
        <p:nvSpPr>
          <p:cNvPr id="28" name="循环环节0">
            <a:extLst>
              <a:ext uri="{FF2B5EF4-FFF2-40B4-BE49-F238E27FC236}">
                <a16:creationId xmlns:a16="http://schemas.microsoft.com/office/drawing/2014/main" id="{0CD25AC3-7D00-4DC3-8E4F-901E20D21600}"/>
              </a:ext>
            </a:extLst>
          </p:cNvPr>
          <p:cNvSpPr>
            <a:spLocks noGrp="1"/>
          </p:cNvSpPr>
          <p:nvPr/>
        </p:nvSpPr>
        <p:spPr>
          <a:xfrm>
            <a:off x="457200" y="1743075"/>
            <a:ext cx="2590800" cy="14382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29" name="循环环节0标题">
            <a:extLst>
              <a:ext uri="{FF2B5EF4-FFF2-40B4-BE49-F238E27FC236}">
                <a16:creationId xmlns:a16="http://schemas.microsoft.com/office/drawing/2014/main" id="{FD76E586-5FA4-4290-A128-E96C2BF3D18A}"/>
              </a:ext>
            </a:extLst>
          </p:cNvPr>
          <p:cNvSpPr>
            <a:spLocks noGrp="1"/>
          </p:cNvSpPr>
          <p:nvPr/>
        </p:nvSpPr>
        <p:spPr>
          <a:xfrm>
            <a:off x="457200" y="1743075"/>
            <a:ext cx="25908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0" name="循环环节0标题文字">
            <a:extLst>
              <a:ext uri="{FF2B5EF4-FFF2-40B4-BE49-F238E27FC236}">
                <a16:creationId xmlns:a16="http://schemas.microsoft.com/office/drawing/2014/main" id="{15DE13BA-74FA-46B4-9756-F2DDAAE02DA5}"/>
              </a:ext>
            </a:extLst>
          </p:cNvPr>
          <p:cNvSpPr>
            <a:spLocks noGrp="1"/>
          </p:cNvSpPr>
          <p:nvPr/>
        </p:nvSpPr>
        <p:spPr>
          <a:xfrm>
            <a:off x="533400" y="1762125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用户任务</a:t>
            </a:r>
          </a:p>
        </p:txBody>
      </p:sp>
      <p:sp>
        <p:nvSpPr>
          <p:cNvPr id="31" name="循环环节0说明">
            <a:extLst>
              <a:ext uri="{FF2B5EF4-FFF2-40B4-BE49-F238E27FC236}">
                <a16:creationId xmlns:a16="http://schemas.microsoft.com/office/drawing/2014/main" id="{731EF693-799B-497D-AC3C-C46507208DAF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23241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文字描述 / 图纸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目标、条件与追问</a:t>
            </a:r>
          </a:p>
        </p:txBody>
      </p:sp>
      <p:sp>
        <p:nvSpPr>
          <p:cNvPr id="32" name="循环箭头0">
            <a:extLst>
              <a:ext uri="{FF2B5EF4-FFF2-40B4-BE49-F238E27FC236}">
                <a16:creationId xmlns:a16="http://schemas.microsoft.com/office/drawing/2014/main" id="{75A972CA-354C-45C0-82C3-5969214AF7AB}"/>
              </a:ext>
            </a:extLst>
          </p:cNvPr>
          <p:cNvSpPr>
            <a:spLocks noGrp="1"/>
          </p:cNvSpPr>
          <p:nvPr/>
        </p:nvSpPr>
        <p:spPr>
          <a:xfrm>
            <a:off x="3095625" y="2352675"/>
            <a:ext cx="209550" cy="257175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33" name="循环环节1">
            <a:extLst>
              <a:ext uri="{FF2B5EF4-FFF2-40B4-BE49-F238E27FC236}">
                <a16:creationId xmlns:a16="http://schemas.microsoft.com/office/drawing/2014/main" id="{F3710E10-3BA0-41A9-A547-139CBACD3689}"/>
              </a:ext>
            </a:extLst>
          </p:cNvPr>
          <p:cNvSpPr>
            <a:spLocks noGrp="1"/>
          </p:cNvSpPr>
          <p:nvPr/>
        </p:nvSpPr>
        <p:spPr>
          <a:xfrm>
            <a:off x="3352800" y="1743075"/>
            <a:ext cx="2590800" cy="14382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4" name="循环环节1标题">
            <a:extLst>
              <a:ext uri="{FF2B5EF4-FFF2-40B4-BE49-F238E27FC236}">
                <a16:creationId xmlns:a16="http://schemas.microsoft.com/office/drawing/2014/main" id="{415C0414-5327-4168-BD66-38C636898FE3}"/>
              </a:ext>
            </a:extLst>
          </p:cNvPr>
          <p:cNvSpPr>
            <a:spLocks noGrp="1"/>
          </p:cNvSpPr>
          <p:nvPr/>
        </p:nvSpPr>
        <p:spPr>
          <a:xfrm>
            <a:off x="3352800" y="1743075"/>
            <a:ext cx="25908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5" name="循环环节1标题文字">
            <a:extLst>
              <a:ext uri="{FF2B5EF4-FFF2-40B4-BE49-F238E27FC236}">
                <a16:creationId xmlns:a16="http://schemas.microsoft.com/office/drawing/2014/main" id="{036F9251-14E7-4552-90A4-730B4DA2D69A}"/>
              </a:ext>
            </a:extLst>
          </p:cNvPr>
          <p:cNvSpPr>
            <a:spLocks noGrp="1"/>
          </p:cNvSpPr>
          <p:nvPr/>
        </p:nvSpPr>
        <p:spPr>
          <a:xfrm>
            <a:off x="3429000" y="1762125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36" name="循环环节1说明">
            <a:extLst>
              <a:ext uri="{FF2B5EF4-FFF2-40B4-BE49-F238E27FC236}">
                <a16:creationId xmlns:a16="http://schemas.microsoft.com/office/drawing/2014/main" id="{C83DF055-681F-4ADB-A3A4-F18FDB20CC79}"/>
              </a:ext>
            </a:extLst>
          </p:cNvPr>
          <p:cNvSpPr>
            <a:spLocks noGrp="1"/>
          </p:cNvSpPr>
          <p:nvPr/>
        </p:nvSpPr>
        <p:spPr>
          <a:xfrm>
            <a:off x="3486150" y="2190750"/>
            <a:ext cx="23241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理解目标与条件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生成参数、选择工具</a:t>
            </a:r>
          </a:p>
        </p:txBody>
      </p:sp>
      <p:sp>
        <p:nvSpPr>
          <p:cNvPr id="37" name="循环箭头1">
            <a:extLst>
              <a:ext uri="{FF2B5EF4-FFF2-40B4-BE49-F238E27FC236}">
                <a16:creationId xmlns:a16="http://schemas.microsoft.com/office/drawing/2014/main" id="{A0749937-711B-49B5-8ED8-3C2661B8894F}"/>
              </a:ext>
            </a:extLst>
          </p:cNvPr>
          <p:cNvSpPr>
            <a:spLocks noGrp="1"/>
          </p:cNvSpPr>
          <p:nvPr/>
        </p:nvSpPr>
        <p:spPr>
          <a:xfrm>
            <a:off x="5991225" y="2352675"/>
            <a:ext cx="209550" cy="257175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38" name="循环环节2">
            <a:extLst>
              <a:ext uri="{FF2B5EF4-FFF2-40B4-BE49-F238E27FC236}">
                <a16:creationId xmlns:a16="http://schemas.microsoft.com/office/drawing/2014/main" id="{E46CB8AA-5EB9-4708-A5A9-25E79BF68B87}"/>
              </a:ext>
            </a:extLst>
          </p:cNvPr>
          <p:cNvSpPr>
            <a:spLocks noGrp="1"/>
          </p:cNvSpPr>
          <p:nvPr/>
        </p:nvSpPr>
        <p:spPr>
          <a:xfrm>
            <a:off x="6248400" y="1743075"/>
            <a:ext cx="2590800" cy="14382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9" name="循环环节2标题">
            <a:extLst>
              <a:ext uri="{FF2B5EF4-FFF2-40B4-BE49-F238E27FC236}">
                <a16:creationId xmlns:a16="http://schemas.microsoft.com/office/drawing/2014/main" id="{FAF2E11A-98CC-4DD6-807C-CF713E973DD5}"/>
              </a:ext>
            </a:extLst>
          </p:cNvPr>
          <p:cNvSpPr>
            <a:spLocks noGrp="1"/>
          </p:cNvSpPr>
          <p:nvPr/>
        </p:nvSpPr>
        <p:spPr>
          <a:xfrm>
            <a:off x="6248400" y="1743075"/>
            <a:ext cx="25908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0" name="循环环节2标题文字">
            <a:extLst>
              <a:ext uri="{FF2B5EF4-FFF2-40B4-BE49-F238E27FC236}">
                <a16:creationId xmlns:a16="http://schemas.microsoft.com/office/drawing/2014/main" id="{F1591E72-3BC4-4027-A86B-16B219FC77E7}"/>
              </a:ext>
            </a:extLst>
          </p:cNvPr>
          <p:cNvSpPr>
            <a:spLocks noGrp="1"/>
          </p:cNvSpPr>
          <p:nvPr/>
        </p:nvSpPr>
        <p:spPr>
          <a:xfrm>
            <a:off x="6324600" y="1762125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工具执行</a:t>
            </a:r>
          </a:p>
        </p:txBody>
      </p:sp>
      <p:sp>
        <p:nvSpPr>
          <p:cNvPr id="41" name="循环环节2说明">
            <a:extLst>
              <a:ext uri="{FF2B5EF4-FFF2-40B4-BE49-F238E27FC236}">
                <a16:creationId xmlns:a16="http://schemas.microsoft.com/office/drawing/2014/main" id="{64A5A4D2-383A-4FB8-8B60-90C95AC302DA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23241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编辑、校验与求解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返回数据或错误</a:t>
            </a:r>
          </a:p>
        </p:txBody>
      </p:sp>
      <p:sp>
        <p:nvSpPr>
          <p:cNvPr id="42" name="循环箭头2">
            <a:extLst>
              <a:ext uri="{FF2B5EF4-FFF2-40B4-BE49-F238E27FC236}">
                <a16:creationId xmlns:a16="http://schemas.microsoft.com/office/drawing/2014/main" id="{D270D203-4AA9-4DA9-BB63-7B722125401B}"/>
              </a:ext>
            </a:extLst>
          </p:cNvPr>
          <p:cNvSpPr>
            <a:spLocks noGrp="1"/>
          </p:cNvSpPr>
          <p:nvPr/>
        </p:nvSpPr>
        <p:spPr>
          <a:xfrm>
            <a:off x="8886825" y="2352675"/>
            <a:ext cx="209550" cy="257175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43" name="循环环节3">
            <a:extLst>
              <a:ext uri="{FF2B5EF4-FFF2-40B4-BE49-F238E27FC236}">
                <a16:creationId xmlns:a16="http://schemas.microsoft.com/office/drawing/2014/main" id="{0CF4C258-C8D7-4D19-8928-11469DE86EC0}"/>
              </a:ext>
            </a:extLst>
          </p:cNvPr>
          <p:cNvSpPr>
            <a:spLocks noGrp="1"/>
          </p:cNvSpPr>
          <p:nvPr/>
        </p:nvSpPr>
        <p:spPr>
          <a:xfrm>
            <a:off x="9144000" y="1743075"/>
            <a:ext cx="2590800" cy="14382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44" name="循环环节3标题">
            <a:extLst>
              <a:ext uri="{FF2B5EF4-FFF2-40B4-BE49-F238E27FC236}">
                <a16:creationId xmlns:a16="http://schemas.microsoft.com/office/drawing/2014/main" id="{1EADA235-E8F1-4A03-BB6E-B1BA884C6730}"/>
              </a:ext>
            </a:extLst>
          </p:cNvPr>
          <p:cNvSpPr>
            <a:spLocks noGrp="1"/>
          </p:cNvSpPr>
          <p:nvPr/>
        </p:nvSpPr>
        <p:spPr>
          <a:xfrm>
            <a:off x="9144000" y="1743075"/>
            <a:ext cx="25908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5" name="循环环节3标题文字">
            <a:extLst>
              <a:ext uri="{FF2B5EF4-FFF2-40B4-BE49-F238E27FC236}">
                <a16:creationId xmlns:a16="http://schemas.microsoft.com/office/drawing/2014/main" id="{89565554-4AFB-4C48-83A6-D391A2BCD0CD}"/>
              </a:ext>
            </a:extLst>
          </p:cNvPr>
          <p:cNvSpPr>
            <a:spLocks noGrp="1"/>
          </p:cNvSpPr>
          <p:nvPr/>
        </p:nvSpPr>
        <p:spPr>
          <a:xfrm>
            <a:off x="9220200" y="1762125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结果反馈</a:t>
            </a:r>
          </a:p>
        </p:txBody>
      </p:sp>
      <p:sp>
        <p:nvSpPr>
          <p:cNvPr id="46" name="循环环节3说明">
            <a:extLst>
              <a:ext uri="{FF2B5EF4-FFF2-40B4-BE49-F238E27FC236}">
                <a16:creationId xmlns:a16="http://schemas.microsoft.com/office/drawing/2014/main" id="{476FF064-E149-4859-8BA3-EEBE60D7BCE6}"/>
              </a:ext>
            </a:extLst>
          </p:cNvPr>
          <p:cNvSpPr>
            <a:spLocks noGrp="1"/>
          </p:cNvSpPr>
          <p:nvPr/>
        </p:nvSpPr>
        <p:spPr>
          <a:xfrm>
            <a:off x="9277350" y="2190750"/>
            <a:ext cx="23241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回答 / 图 / 报告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继续查询或比较</a:t>
            </a:r>
          </a:p>
        </p:txBody>
      </p:sp>
      <p:sp>
        <p:nvSpPr>
          <p:cNvPr id="47" name="异常返回">
            <a:extLst>
              <a:ext uri="{FF2B5EF4-FFF2-40B4-BE49-F238E27FC236}">
                <a16:creationId xmlns:a16="http://schemas.microsoft.com/office/drawing/2014/main" id="{D8B5A1C5-8C50-473E-9FE4-FC64E36F7974}"/>
              </a:ext>
            </a:extLst>
          </p:cNvPr>
          <p:cNvSpPr>
            <a:spLocks noGrp="1"/>
          </p:cNvSpPr>
          <p:nvPr/>
        </p:nvSpPr>
        <p:spPr>
          <a:xfrm>
            <a:off x="5819775" y="3790950"/>
            <a:ext cx="361950" cy="161925"/>
          </a:xfrm>
          <a:prstGeom prst="leftArrow">
            <a:avLst/>
          </a:prstGeom>
          <a:solidFill>
            <a:srgbClr val="C00000"/>
          </a:solidFill>
          <a:ln w="0">
            <a:solidFill>
              <a:srgbClr val="C00000"/>
            </a:solidFill>
          </a:ln>
        </p:spPr>
      </p:sp>
      <p:sp>
        <p:nvSpPr>
          <p:cNvPr id="48" name="人工确认分支">
            <a:extLst>
              <a:ext uri="{FF2B5EF4-FFF2-40B4-BE49-F238E27FC236}">
                <a16:creationId xmlns:a16="http://schemas.microsoft.com/office/drawing/2014/main" id="{FB0BCD12-A4B9-404B-9319-7F48B68B04CB}"/>
              </a:ext>
            </a:extLst>
          </p:cNvPr>
          <p:cNvSpPr>
            <a:spLocks noGrp="1"/>
          </p:cNvSpPr>
          <p:nvPr/>
        </p:nvSpPr>
        <p:spPr>
          <a:xfrm>
            <a:off x="2000250" y="3324225"/>
            <a:ext cx="8191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缺条件 / 风险修改 → 人工补充、审核或确认 → 继续调用</a:t>
            </a:r>
          </a:p>
        </p:txBody>
      </p:sp>
      <p:sp>
        <p:nvSpPr>
          <p:cNvPr id="49" name="工具分类分组">
            <a:extLst>
              <a:ext uri="{FF2B5EF4-FFF2-40B4-BE49-F238E27FC236}">
                <a16:creationId xmlns:a16="http://schemas.microsoft.com/office/drawing/2014/main" id="{155DC425-57CF-4968-B911-E681EDF16C4A}"/>
              </a:ext>
            </a:extLst>
          </p:cNvPr>
          <p:cNvSpPr>
            <a:spLocks noGrp="1"/>
          </p:cNvSpPr>
          <p:nvPr/>
        </p:nvSpPr>
        <p:spPr>
          <a:xfrm>
            <a:off x="457200" y="4000500"/>
            <a:ext cx="11277600" cy="16859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dash"/>
          </a:ln>
        </p:spPr>
      </p:sp>
      <p:sp>
        <p:nvSpPr>
          <p:cNvPr id="50" name="工具类别0">
            <a:extLst>
              <a:ext uri="{FF2B5EF4-FFF2-40B4-BE49-F238E27FC236}">
                <a16:creationId xmlns:a16="http://schemas.microsoft.com/office/drawing/2014/main" id="{0243F15F-D6DE-4222-9FDA-93689CA54804}"/>
              </a:ext>
            </a:extLst>
          </p:cNvPr>
          <p:cNvSpPr>
            <a:spLocks noGrp="1"/>
          </p:cNvSpPr>
          <p:nvPr/>
        </p:nvSpPr>
        <p:spPr>
          <a:xfrm>
            <a:off x="657225" y="4171950"/>
            <a:ext cx="276225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51" name="工具类别0文字">
            <a:extLst>
              <a:ext uri="{FF2B5EF4-FFF2-40B4-BE49-F238E27FC236}">
                <a16:creationId xmlns:a16="http://schemas.microsoft.com/office/drawing/2014/main" id="{FD3BF25C-2DE4-47EA-AA5E-7F5D9553F4AE}"/>
              </a:ext>
            </a:extLst>
          </p:cNvPr>
          <p:cNvSpPr>
            <a:spLocks noGrp="1"/>
          </p:cNvSpPr>
          <p:nvPr/>
        </p:nvSpPr>
        <p:spPr>
          <a:xfrm>
            <a:off x="733425" y="4191000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模型与属性</a:t>
            </a:r>
          </a:p>
        </p:txBody>
      </p:sp>
      <p:sp>
        <p:nvSpPr>
          <p:cNvPr id="52" name="工具数量0">
            <a:extLst>
              <a:ext uri="{FF2B5EF4-FFF2-40B4-BE49-F238E27FC236}">
                <a16:creationId xmlns:a16="http://schemas.microsoft.com/office/drawing/2014/main" id="{E1F8D114-149E-4990-A445-581B2381B3AD}"/>
              </a:ext>
            </a:extLst>
          </p:cNvPr>
          <p:cNvSpPr>
            <a:spLocks noGrp="1"/>
          </p:cNvSpPr>
          <p:nvPr/>
        </p:nvSpPr>
        <p:spPr>
          <a:xfrm>
            <a:off x="3467100" y="4171950"/>
            <a:ext cx="68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53" name="工具类别1">
            <a:extLst>
              <a:ext uri="{FF2B5EF4-FFF2-40B4-BE49-F238E27FC236}">
                <a16:creationId xmlns:a16="http://schemas.microsoft.com/office/drawing/2014/main" id="{B728EC21-D1FA-45DD-89FB-1B1A5C4A3146}"/>
              </a:ext>
            </a:extLst>
          </p:cNvPr>
          <p:cNvSpPr>
            <a:spLocks noGrp="1"/>
          </p:cNvSpPr>
          <p:nvPr/>
        </p:nvSpPr>
        <p:spPr>
          <a:xfrm>
            <a:off x="4438650" y="4171950"/>
            <a:ext cx="276225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54" name="工具类别1文字">
            <a:extLst>
              <a:ext uri="{FF2B5EF4-FFF2-40B4-BE49-F238E27FC236}">
                <a16:creationId xmlns:a16="http://schemas.microsoft.com/office/drawing/2014/main" id="{EB38C09A-BF86-43B5-A67E-73A55E3641C4}"/>
              </a:ext>
            </a:extLst>
          </p:cNvPr>
          <p:cNvSpPr>
            <a:spLocks noGrp="1"/>
          </p:cNvSpPr>
          <p:nvPr/>
        </p:nvSpPr>
        <p:spPr>
          <a:xfrm>
            <a:off x="4514850" y="4191000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荷载与边界</a:t>
            </a:r>
          </a:p>
        </p:txBody>
      </p:sp>
      <p:sp>
        <p:nvSpPr>
          <p:cNvPr id="55" name="工具数量1">
            <a:extLst>
              <a:ext uri="{FF2B5EF4-FFF2-40B4-BE49-F238E27FC236}">
                <a16:creationId xmlns:a16="http://schemas.microsoft.com/office/drawing/2014/main" id="{A06FE6F3-B50B-4114-8644-7DA987381A0D}"/>
              </a:ext>
            </a:extLst>
          </p:cNvPr>
          <p:cNvSpPr>
            <a:spLocks noGrp="1"/>
          </p:cNvSpPr>
          <p:nvPr/>
        </p:nvSpPr>
        <p:spPr>
          <a:xfrm>
            <a:off x="7248525" y="4171950"/>
            <a:ext cx="68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56" name="工具类别2">
            <a:extLst>
              <a:ext uri="{FF2B5EF4-FFF2-40B4-BE49-F238E27FC236}">
                <a16:creationId xmlns:a16="http://schemas.microsoft.com/office/drawing/2014/main" id="{D8F83623-CAA1-4FF2-BF4D-F7C749EE66E5}"/>
              </a:ext>
            </a:extLst>
          </p:cNvPr>
          <p:cNvSpPr>
            <a:spLocks noGrp="1"/>
          </p:cNvSpPr>
          <p:nvPr/>
        </p:nvSpPr>
        <p:spPr>
          <a:xfrm>
            <a:off x="8220075" y="4171950"/>
            <a:ext cx="276225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57" name="工具类别2文字">
            <a:extLst>
              <a:ext uri="{FF2B5EF4-FFF2-40B4-BE49-F238E27FC236}">
                <a16:creationId xmlns:a16="http://schemas.microsoft.com/office/drawing/2014/main" id="{FBE193C1-11EA-44C6-96A6-A8203E284992}"/>
              </a:ext>
            </a:extLst>
          </p:cNvPr>
          <p:cNvSpPr>
            <a:spLocks noGrp="1"/>
          </p:cNvSpPr>
          <p:nvPr/>
        </p:nvSpPr>
        <p:spPr>
          <a:xfrm>
            <a:off x="8296275" y="4191000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对象与流程</a:t>
            </a:r>
          </a:p>
        </p:txBody>
      </p:sp>
      <p:sp>
        <p:nvSpPr>
          <p:cNvPr id="58" name="工具数量2">
            <a:extLst>
              <a:ext uri="{FF2B5EF4-FFF2-40B4-BE49-F238E27FC236}">
                <a16:creationId xmlns:a16="http://schemas.microsoft.com/office/drawing/2014/main" id="{B73E2AF9-2CFC-48DD-8D9F-C72564CEDD7E}"/>
              </a:ext>
            </a:extLst>
          </p:cNvPr>
          <p:cNvSpPr>
            <a:spLocks noGrp="1"/>
          </p:cNvSpPr>
          <p:nvPr/>
        </p:nvSpPr>
        <p:spPr>
          <a:xfrm>
            <a:off x="11029950" y="4171950"/>
            <a:ext cx="68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59" name="工具类别3">
            <a:extLst>
              <a:ext uri="{FF2B5EF4-FFF2-40B4-BE49-F238E27FC236}">
                <a16:creationId xmlns:a16="http://schemas.microsoft.com/office/drawing/2014/main" id="{AC18FBF1-BB2F-4126-AC1C-0389C6CB2C39}"/>
              </a:ext>
            </a:extLst>
          </p:cNvPr>
          <p:cNvSpPr>
            <a:spLocks noGrp="1"/>
          </p:cNvSpPr>
          <p:nvPr/>
        </p:nvSpPr>
        <p:spPr>
          <a:xfrm>
            <a:off x="657225" y="4886325"/>
            <a:ext cx="276225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60" name="工具类别3文字">
            <a:extLst>
              <a:ext uri="{FF2B5EF4-FFF2-40B4-BE49-F238E27FC236}">
                <a16:creationId xmlns:a16="http://schemas.microsoft.com/office/drawing/2014/main" id="{AE914BEA-7478-4C05-866F-975133E9DD2B}"/>
              </a:ext>
            </a:extLst>
          </p:cNvPr>
          <p:cNvSpPr>
            <a:spLocks noGrp="1"/>
          </p:cNvSpPr>
          <p:nvPr/>
        </p:nvSpPr>
        <p:spPr>
          <a:xfrm>
            <a:off x="733425" y="49053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求解与分析</a:t>
            </a:r>
          </a:p>
        </p:txBody>
      </p:sp>
      <p:sp>
        <p:nvSpPr>
          <p:cNvPr id="61" name="工具数量3">
            <a:extLst>
              <a:ext uri="{FF2B5EF4-FFF2-40B4-BE49-F238E27FC236}">
                <a16:creationId xmlns:a16="http://schemas.microsoft.com/office/drawing/2014/main" id="{A9536D2C-B5A6-46A8-A93F-0975CC81BFA4}"/>
              </a:ext>
            </a:extLst>
          </p:cNvPr>
          <p:cNvSpPr>
            <a:spLocks noGrp="1"/>
          </p:cNvSpPr>
          <p:nvPr/>
        </p:nvSpPr>
        <p:spPr>
          <a:xfrm>
            <a:off x="3467100" y="4886325"/>
            <a:ext cx="68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62" name="工具类别4">
            <a:extLst>
              <a:ext uri="{FF2B5EF4-FFF2-40B4-BE49-F238E27FC236}">
                <a16:creationId xmlns:a16="http://schemas.microsoft.com/office/drawing/2014/main" id="{A8536748-F822-4D4B-BC15-A7D409E8974B}"/>
              </a:ext>
            </a:extLst>
          </p:cNvPr>
          <p:cNvSpPr>
            <a:spLocks noGrp="1"/>
          </p:cNvSpPr>
          <p:nvPr/>
        </p:nvSpPr>
        <p:spPr>
          <a:xfrm>
            <a:off x="4438650" y="4886325"/>
            <a:ext cx="276225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63" name="工具类别4文字">
            <a:extLst>
              <a:ext uri="{FF2B5EF4-FFF2-40B4-BE49-F238E27FC236}">
                <a16:creationId xmlns:a16="http://schemas.microsoft.com/office/drawing/2014/main" id="{3AA30B93-DC61-4ACF-9F76-0D6E3D06F031}"/>
              </a:ext>
            </a:extLst>
          </p:cNvPr>
          <p:cNvSpPr>
            <a:spLocks noGrp="1"/>
          </p:cNvSpPr>
          <p:nvPr/>
        </p:nvSpPr>
        <p:spPr>
          <a:xfrm>
            <a:off x="4514850" y="49053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结果与报告</a:t>
            </a:r>
          </a:p>
        </p:txBody>
      </p:sp>
      <p:sp>
        <p:nvSpPr>
          <p:cNvPr id="64" name="工具数量4">
            <a:extLst>
              <a:ext uri="{FF2B5EF4-FFF2-40B4-BE49-F238E27FC236}">
                <a16:creationId xmlns:a16="http://schemas.microsoft.com/office/drawing/2014/main" id="{F76EA82B-ACE7-4198-A24C-0329527DD2B9}"/>
              </a:ext>
            </a:extLst>
          </p:cNvPr>
          <p:cNvSpPr>
            <a:spLocks noGrp="1"/>
          </p:cNvSpPr>
          <p:nvPr/>
        </p:nvSpPr>
        <p:spPr>
          <a:xfrm>
            <a:off x="7248525" y="4886325"/>
            <a:ext cx="68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5" name="工具类别5">
            <a:extLst>
              <a:ext uri="{FF2B5EF4-FFF2-40B4-BE49-F238E27FC236}">
                <a16:creationId xmlns:a16="http://schemas.microsoft.com/office/drawing/2014/main" id="{79525500-5797-49E4-B696-EFA313BD5CB6}"/>
              </a:ext>
            </a:extLst>
          </p:cNvPr>
          <p:cNvSpPr>
            <a:spLocks noGrp="1"/>
          </p:cNvSpPr>
          <p:nvPr/>
        </p:nvSpPr>
        <p:spPr>
          <a:xfrm>
            <a:off x="8220075" y="4886325"/>
            <a:ext cx="2762250" cy="4000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66" name="工具类别5文字">
            <a:extLst>
              <a:ext uri="{FF2B5EF4-FFF2-40B4-BE49-F238E27FC236}">
                <a16:creationId xmlns:a16="http://schemas.microsoft.com/office/drawing/2014/main" id="{D5C956CB-D932-4695-BA89-3BFDC7C958D2}"/>
              </a:ext>
            </a:extLst>
          </p:cNvPr>
          <p:cNvSpPr>
            <a:spLocks noGrp="1"/>
          </p:cNvSpPr>
          <p:nvPr/>
        </p:nvSpPr>
        <p:spPr>
          <a:xfrm>
            <a:off x="8296275" y="4905375"/>
            <a:ext cx="2609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校核与诊断</a:t>
            </a:r>
          </a:p>
        </p:txBody>
      </p:sp>
      <p:sp>
        <p:nvSpPr>
          <p:cNvPr id="67" name="工具数量5">
            <a:extLst>
              <a:ext uri="{FF2B5EF4-FFF2-40B4-BE49-F238E27FC236}">
                <a16:creationId xmlns:a16="http://schemas.microsoft.com/office/drawing/2014/main" id="{34826993-9EC0-4F79-90F7-FC56BFA2689A}"/>
              </a:ext>
            </a:extLst>
          </p:cNvPr>
          <p:cNvSpPr>
            <a:spLocks noGrp="1"/>
          </p:cNvSpPr>
          <p:nvPr/>
        </p:nvSpPr>
        <p:spPr>
          <a:xfrm>
            <a:off x="11029950" y="4886325"/>
            <a:ext cx="685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8" name="结论底框">
            <a:extLst>
              <a:ext uri="{FF2B5EF4-FFF2-40B4-BE49-F238E27FC236}">
                <a16:creationId xmlns:a16="http://schemas.microsoft.com/office/drawing/2014/main" id="{926BCBA1-B36F-42FF-8D31-2BB8F4540946}"/>
              </a:ext>
            </a:extLst>
          </p:cNvPr>
          <p:cNvSpPr>
            <a:spLocks noGrp="1"/>
          </p:cNvSpPr>
          <p:nvPr/>
        </p:nvSpPr>
        <p:spPr>
          <a:xfrm>
            <a:off x="457200" y="5953125"/>
            <a:ext cx="11277600" cy="419100"/>
          </a:xfrm>
          <a:prstGeom prst="rect">
            <a:avLst/>
          </a:prstGeom>
          <a:solidFill>
            <a:srgbClr val="F1F6FC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69" name="本页结论">
            <a:extLst>
              <a:ext uri="{FF2B5EF4-FFF2-40B4-BE49-F238E27FC236}">
                <a16:creationId xmlns:a16="http://schemas.microsoft.com/office/drawing/2014/main" id="{208ADB0A-B35C-4DC8-B6E4-E305690B8C3C}"/>
              </a:ext>
            </a:extLst>
          </p:cNvPr>
          <p:cNvSpPr>
            <a:spLocks noGrp="1"/>
          </p:cNvSpPr>
          <p:nvPr/>
        </p:nvSpPr>
        <p:spPr>
          <a:xfrm>
            <a:off x="571500" y="59912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63个注册接口支持任务调用；节点实体、Abaqus求解及对比3项仍属实验性</a:t>
            </a:r>
          </a:p>
        </p:txBody>
      </p:sp>
    </p:spTree>
    <p:extLst>
      <p:ext uri="{BB962C8B-B14F-4D97-AF65-F5344CB8AC3E}">
        <p14:creationId xmlns:p14="http://schemas.microsoft.com/office/powerpoint/2010/main" val="2027034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7803E59-9BDF-4219-94FB-0C8791BE6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D1D78DCC-90E6-4F66-BA80-356D9C634D6C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二、实例一：自然语言辅助建模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D5980AD8-1C23-4FF5-A6AE-B6F04B12CF12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2026-10-11真实DeepSeek调用；预设Q355及梁柱截面；演示模型与用户模型隔离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ED3308E2-1E3A-43C3-B74F-4857A72E7684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3A918E53-961C-42F0-ABFD-15B07E2EF811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根据跨度、层高、支座和荷载描述，调用工具生成空间框架</a:t>
            </a:r>
          </a:p>
        </p:txBody>
      </p:sp>
      <p:sp>
        <p:nvSpPr>
          <p:cNvPr id="28" name="输入指令">
            <a:extLst>
              <a:ext uri="{FF2B5EF4-FFF2-40B4-BE49-F238E27FC236}">
                <a16:creationId xmlns:a16="http://schemas.microsoft.com/office/drawing/2014/main" id="{B0E361B2-D544-4020-B1A0-B73ECA6A012B}"/>
              </a:ext>
            </a:extLst>
          </p:cNvPr>
          <p:cNvSpPr>
            <a:spLocks noGrp="1"/>
          </p:cNvSpPr>
          <p:nvPr/>
        </p:nvSpPr>
        <p:spPr>
          <a:xfrm>
            <a:off x="457200" y="1581150"/>
            <a:ext cx="11277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“两跨6 m、开间4 m、层高3.6 m；柱底固接，全部梁施加−Z向5 kN/m。”</a:t>
            </a:r>
          </a:p>
        </p:txBody>
      </p:sp>
      <p:sp>
        <p:nvSpPr>
          <p:cNvPr id="29" name="视频边框">
            <a:extLst>
              <a:ext uri="{FF2B5EF4-FFF2-40B4-BE49-F238E27FC236}">
                <a16:creationId xmlns:a16="http://schemas.microsoft.com/office/drawing/2014/main" id="{91332E3E-0A05-4108-8C84-F1816AF8AC85}"/>
              </a:ext>
            </a:extLst>
          </p:cNvPr>
          <p:cNvSpPr>
            <a:spLocks noGrp="1"/>
          </p:cNvSpPr>
          <p:nvPr/>
        </p:nvSpPr>
        <p:spPr>
          <a:xfrm>
            <a:off x="438150" y="2105025"/>
            <a:ext cx="7581900" cy="4281488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1" name="建模工具">
            <a:extLst>
              <a:ext uri="{FF2B5EF4-FFF2-40B4-BE49-F238E27FC236}">
                <a16:creationId xmlns:a16="http://schemas.microsoft.com/office/drawing/2014/main" id="{0F677C12-1E6A-4A6F-9289-C69D176F7B9B}"/>
              </a:ext>
            </a:extLst>
          </p:cNvPr>
          <p:cNvSpPr>
            <a:spLocks noGrp="1"/>
          </p:cNvSpPr>
          <p:nvPr/>
        </p:nvSpPr>
        <p:spPr>
          <a:xfrm>
            <a:off x="8343900" y="2124075"/>
            <a:ext cx="3390900" cy="11144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2" name="建模工具标题">
            <a:extLst>
              <a:ext uri="{FF2B5EF4-FFF2-40B4-BE49-F238E27FC236}">
                <a16:creationId xmlns:a16="http://schemas.microsoft.com/office/drawing/2014/main" id="{A536620A-BD6A-4C82-8D45-F70D514F3358}"/>
              </a:ext>
            </a:extLst>
          </p:cNvPr>
          <p:cNvSpPr>
            <a:spLocks noGrp="1"/>
          </p:cNvSpPr>
          <p:nvPr/>
        </p:nvSpPr>
        <p:spPr>
          <a:xfrm>
            <a:off x="8343900" y="2124075"/>
            <a:ext cx="33909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3" name="建模工具标题文字">
            <a:extLst>
              <a:ext uri="{FF2B5EF4-FFF2-40B4-BE49-F238E27FC236}">
                <a16:creationId xmlns:a16="http://schemas.microsoft.com/office/drawing/2014/main" id="{37A6C9E6-2C12-41D6-9DCC-B530664EE7A3}"/>
              </a:ext>
            </a:extLst>
          </p:cNvPr>
          <p:cNvSpPr>
            <a:spLocks noGrp="1"/>
          </p:cNvSpPr>
          <p:nvPr/>
        </p:nvSpPr>
        <p:spPr>
          <a:xfrm>
            <a:off x="8420100" y="2143125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理解结构描述</a:t>
            </a:r>
          </a:p>
        </p:txBody>
      </p:sp>
      <p:sp>
        <p:nvSpPr>
          <p:cNvPr id="34" name="建模工具说明">
            <a:extLst>
              <a:ext uri="{FF2B5EF4-FFF2-40B4-BE49-F238E27FC236}">
                <a16:creationId xmlns:a16="http://schemas.microsoft.com/office/drawing/2014/main" id="{5B27D2B7-DF3B-48E8-BCF4-94BEA3386721}"/>
              </a:ext>
            </a:extLst>
          </p:cNvPr>
          <p:cNvSpPr>
            <a:spLocks noGrp="1"/>
          </p:cNvSpPr>
          <p:nvPr/>
        </p:nvSpPr>
        <p:spPr>
          <a:xfrm>
            <a:off x="8477250" y="2571750"/>
            <a:ext cx="3124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generate_frame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采用预设材料与截面</a:t>
            </a:r>
          </a:p>
        </p:txBody>
      </p:sp>
      <p:sp>
        <p:nvSpPr>
          <p:cNvPr id="35" name="校验工具">
            <a:extLst>
              <a:ext uri="{FF2B5EF4-FFF2-40B4-BE49-F238E27FC236}">
                <a16:creationId xmlns:a16="http://schemas.microsoft.com/office/drawing/2014/main" id="{ACCFF1F3-AC6C-488C-A936-5AD058EC556F}"/>
              </a:ext>
            </a:extLst>
          </p:cNvPr>
          <p:cNvSpPr>
            <a:spLocks noGrp="1"/>
          </p:cNvSpPr>
          <p:nvPr/>
        </p:nvSpPr>
        <p:spPr>
          <a:xfrm>
            <a:off x="8343900" y="3438525"/>
            <a:ext cx="3390900" cy="11144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6" name="校验工具标题">
            <a:extLst>
              <a:ext uri="{FF2B5EF4-FFF2-40B4-BE49-F238E27FC236}">
                <a16:creationId xmlns:a16="http://schemas.microsoft.com/office/drawing/2014/main" id="{A92B139D-B8AF-4022-BB8A-F853145FEB5C}"/>
              </a:ext>
            </a:extLst>
          </p:cNvPr>
          <p:cNvSpPr>
            <a:spLocks noGrp="1"/>
          </p:cNvSpPr>
          <p:nvPr/>
        </p:nvSpPr>
        <p:spPr>
          <a:xfrm>
            <a:off x="8343900" y="3438525"/>
            <a:ext cx="33909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7" name="校验工具标题文字">
            <a:extLst>
              <a:ext uri="{FF2B5EF4-FFF2-40B4-BE49-F238E27FC236}">
                <a16:creationId xmlns:a16="http://schemas.microsoft.com/office/drawing/2014/main" id="{787A9F27-4FA7-47A7-A9E6-E41C53B11931}"/>
              </a:ext>
            </a:extLst>
          </p:cNvPr>
          <p:cNvSpPr>
            <a:spLocks noGrp="1"/>
          </p:cNvSpPr>
          <p:nvPr/>
        </p:nvSpPr>
        <p:spPr>
          <a:xfrm>
            <a:off x="8420100" y="3457575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确定性校验</a:t>
            </a:r>
          </a:p>
        </p:txBody>
      </p:sp>
      <p:sp>
        <p:nvSpPr>
          <p:cNvPr id="38" name="校验工具说明">
            <a:extLst>
              <a:ext uri="{FF2B5EF4-FFF2-40B4-BE49-F238E27FC236}">
                <a16:creationId xmlns:a16="http://schemas.microsoft.com/office/drawing/2014/main" id="{80F15026-4066-4912-874C-D0CD844FD00E}"/>
              </a:ext>
            </a:extLst>
          </p:cNvPr>
          <p:cNvSpPr>
            <a:spLocks noGrp="1"/>
          </p:cNvSpPr>
          <p:nvPr/>
        </p:nvSpPr>
        <p:spPr>
          <a:xfrm>
            <a:off x="8477250" y="3886200"/>
            <a:ext cx="3124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validate_model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节点、连接、约束与荷载</a:t>
            </a:r>
          </a:p>
        </p:txBody>
      </p:sp>
      <p:sp>
        <p:nvSpPr>
          <p:cNvPr id="39" name="建模成果">
            <a:extLst>
              <a:ext uri="{FF2B5EF4-FFF2-40B4-BE49-F238E27FC236}">
                <a16:creationId xmlns:a16="http://schemas.microsoft.com/office/drawing/2014/main" id="{15DC1A4C-C742-4326-A492-5A7497CD5188}"/>
              </a:ext>
            </a:extLst>
          </p:cNvPr>
          <p:cNvSpPr>
            <a:spLocks noGrp="1"/>
          </p:cNvSpPr>
          <p:nvPr/>
        </p:nvSpPr>
        <p:spPr>
          <a:xfrm>
            <a:off x="8343900" y="4752975"/>
            <a:ext cx="3390900" cy="11144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40" name="建模成果标题">
            <a:extLst>
              <a:ext uri="{FF2B5EF4-FFF2-40B4-BE49-F238E27FC236}">
                <a16:creationId xmlns:a16="http://schemas.microsoft.com/office/drawing/2014/main" id="{CF070671-674A-4363-8186-F98E36740634}"/>
              </a:ext>
            </a:extLst>
          </p:cNvPr>
          <p:cNvSpPr>
            <a:spLocks noGrp="1"/>
          </p:cNvSpPr>
          <p:nvPr/>
        </p:nvSpPr>
        <p:spPr>
          <a:xfrm>
            <a:off x="8343900" y="4752975"/>
            <a:ext cx="33909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1" name="建模成果标题文字">
            <a:extLst>
              <a:ext uri="{FF2B5EF4-FFF2-40B4-BE49-F238E27FC236}">
                <a16:creationId xmlns:a16="http://schemas.microsoft.com/office/drawing/2014/main" id="{4F9BBC72-B8A8-4DD5-B929-A5E86B73FEFB}"/>
              </a:ext>
            </a:extLst>
          </p:cNvPr>
          <p:cNvSpPr>
            <a:spLocks noGrp="1"/>
          </p:cNvSpPr>
          <p:nvPr/>
        </p:nvSpPr>
        <p:spPr>
          <a:xfrm>
            <a:off x="8420100" y="4772025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生成真实模型</a:t>
            </a:r>
          </a:p>
        </p:txBody>
      </p:sp>
      <p:sp>
        <p:nvSpPr>
          <p:cNvPr id="42" name="建模成果说明">
            <a:extLst>
              <a:ext uri="{FF2B5EF4-FFF2-40B4-BE49-F238E27FC236}">
                <a16:creationId xmlns:a16="http://schemas.microsoft.com/office/drawing/2014/main" id="{0F33D049-2908-4175-9207-D52DE5C85110}"/>
              </a:ext>
            </a:extLst>
          </p:cNvPr>
          <p:cNvSpPr>
            <a:spLocks noGrp="1"/>
          </p:cNvSpPr>
          <p:nvPr/>
        </p:nvSpPr>
        <p:spPr>
          <a:xfrm>
            <a:off x="8477250" y="5200650"/>
            <a:ext cx="3124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12节点 / 13杆件 / 6固接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单工况G，不计自重</a:t>
            </a:r>
          </a:p>
        </p:txBody>
      </p:sp>
      <p:sp>
        <p:nvSpPr>
          <p:cNvPr id="43" name="建模播放提示">
            <a:extLst>
              <a:ext uri="{FF2B5EF4-FFF2-40B4-BE49-F238E27FC236}">
                <a16:creationId xmlns:a16="http://schemas.microsoft.com/office/drawing/2014/main" id="{101CE2CD-61DF-40EA-BA89-7809E86B0D1C}"/>
              </a:ext>
            </a:extLst>
          </p:cNvPr>
          <p:cNvSpPr>
            <a:spLocks noGrp="1"/>
          </p:cNvSpPr>
          <p:nvPr/>
        </p:nvSpPr>
        <p:spPr>
          <a:xfrm>
            <a:off x="8343900" y="5895975"/>
            <a:ext cx="3390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单击播放18秒</a:t>
            </a:r>
          </a:p>
          <a:p>
            <a:pPr algn="ctr">
              <a:def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操作节选；等待剪短</a:t>
            </a:r>
          </a:p>
        </p:txBody>
      </p:sp>
      <p:pic>
        <p:nvPicPr>
          <p:cNvPr id="2" name="嵌入实机视频_建模">
            <a:hlinkClick action="ppaction://media"/>
            <a:extLst>
              <a:ext uri="{FF2B5EF4-FFF2-40B4-BE49-F238E27FC236}">
                <a16:creationId xmlns:a16="http://schemas.microsoft.com/office/drawing/2014/main" id="{CA0D5C45-876B-4D54-9F9D-2F26ED5BA64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57200" y="2124075"/>
            <a:ext cx="7543800" cy="424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221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E8134AC-FAFC-44C0-A471-DD3F3E52E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0BD17F43-6D7B-4C27-9495-0F50C370EFAA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二、实例二：图纸识别与交互审核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5E5A7E76-4C30-4F91-A59F-B29629279BE1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原图：Tkn20 / Wikimedia Commons / Public domain；真实2026-10-10草稿，当前软件人工审核及导入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7C7C6A4C-6A6C-4118-9D2A-AE20A374D164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8301DFAE-EFEE-4756-9F73-10FFDE06430D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从图纸形成草稿，经位置修正、尺度与荷载确认后导入</a:t>
            </a:r>
          </a:p>
        </p:txBody>
      </p:sp>
      <p:sp>
        <p:nvSpPr>
          <p:cNvPr id="28" name="原图标题">
            <a:extLst>
              <a:ext uri="{FF2B5EF4-FFF2-40B4-BE49-F238E27FC236}">
                <a16:creationId xmlns:a16="http://schemas.microsoft.com/office/drawing/2014/main" id="{D1F6C64F-8834-4017-AAE8-6E17DFA67FEA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2857500" cy="352425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29" name="原图标题文字">
            <a:extLst>
              <a:ext uri="{FF2B5EF4-FFF2-40B4-BE49-F238E27FC236}">
                <a16:creationId xmlns:a16="http://schemas.microsoft.com/office/drawing/2014/main" id="{AD74B05F-3E2E-4FE4-94EE-F4EC888BA1AC}"/>
              </a:ext>
            </a:extLst>
          </p:cNvPr>
          <p:cNvSpPr>
            <a:spLocks noGrp="1"/>
          </p:cNvSpPr>
          <p:nvPr/>
        </p:nvSpPr>
        <p:spPr>
          <a:xfrm>
            <a:off x="533400" y="1733550"/>
            <a:ext cx="27051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公开原图：梁轴局部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DBD31C2-92F1-49AF-85D3-E709347E19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57200" y="2626700"/>
            <a:ext cx="2857500" cy="956900"/>
          </a:xfrm>
          <a:prstGeom prst="rect">
            <a:avLst/>
          </a:prstGeom>
        </p:spPr>
      </p:pic>
      <p:sp>
        <p:nvSpPr>
          <p:cNvPr id="31" name="人工信息边框">
            <a:extLst>
              <a:ext uri="{FF2B5EF4-FFF2-40B4-BE49-F238E27FC236}">
                <a16:creationId xmlns:a16="http://schemas.microsoft.com/office/drawing/2014/main" id="{ED1A2A6D-9203-486F-916F-70AE5605EEDD}"/>
              </a:ext>
            </a:extLst>
          </p:cNvPr>
          <p:cNvSpPr>
            <a:spLocks noGrp="1"/>
          </p:cNvSpPr>
          <p:nvPr/>
        </p:nvSpPr>
        <p:spPr>
          <a:xfrm>
            <a:off x="457200" y="4191000"/>
            <a:ext cx="2857500" cy="1714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dash"/>
          </a:ln>
        </p:spPr>
      </p:sp>
      <p:sp>
        <p:nvSpPr>
          <p:cNvPr id="32" name="人工信息">
            <a:extLst>
              <a:ext uri="{FF2B5EF4-FFF2-40B4-BE49-F238E27FC236}">
                <a16:creationId xmlns:a16="http://schemas.microsoft.com/office/drawing/2014/main" id="{771C9F24-D0A5-4DFF-BE48-7D874D1AB661}"/>
              </a:ext>
            </a:extLst>
          </p:cNvPr>
          <p:cNvSpPr>
            <a:spLocks noGrp="1"/>
          </p:cNvSpPr>
          <p:nvPr/>
        </p:nvSpPr>
        <p:spPr>
          <a:xfrm>
            <a:off x="590550" y="4305300"/>
            <a:ext cx="25908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原图F、L没有数值</a:t>
            </a:r>
          </a:p>
          <a:p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演示人工设定：</a:t>
            </a:r>
          </a:p>
          <a:p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L = 6 m，F = 10 kN</a:t>
            </a:r>
          </a:p>
          <a:p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XZ平面，两端铰支</a:t>
            </a:r>
          </a:p>
        </p:txBody>
      </p:sp>
      <p:sp>
        <p:nvSpPr>
          <p:cNvPr id="33" name="视频边框">
            <a:extLst>
              <a:ext uri="{FF2B5EF4-FFF2-40B4-BE49-F238E27FC236}">
                <a16:creationId xmlns:a16="http://schemas.microsoft.com/office/drawing/2014/main" id="{6187E195-9B82-4787-BA35-C427CD7AA4FE}"/>
              </a:ext>
            </a:extLst>
          </p:cNvPr>
          <p:cNvSpPr>
            <a:spLocks noGrp="1"/>
          </p:cNvSpPr>
          <p:nvPr/>
        </p:nvSpPr>
        <p:spPr>
          <a:xfrm>
            <a:off x="3657600" y="1819275"/>
            <a:ext cx="8096250" cy="4571048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pic>
        <p:nvPicPr>
          <p:cNvPr id="2" name="嵌入实机视频_图纸审核">
            <a:hlinkClick action="ppaction://media"/>
            <a:extLst>
              <a:ext uri="{FF2B5EF4-FFF2-40B4-BE49-F238E27FC236}">
                <a16:creationId xmlns:a16="http://schemas.microsoft.com/office/drawing/2014/main" id="{8FA77A27-CA56-4269-BA7B-B0B2CCD56F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676650" y="1838325"/>
            <a:ext cx="8058575" cy="453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84208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9F0FCC1-07C6-4C48-BE02-549707D59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7A191F1F-8849-40E5-B6AF-140C5F9BA406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二、实例三：连续查询与参数比较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B15190FB-A67E-4D7C-84F0-E8A1470ADB91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同一双跨框架 / G / 线性静力；solve_model → query_results → sweep；扫描后原模型及结果保持一致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F44C7020-6A8E-4FC4-AC99-7F987C180A3A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AEA7493A-7C56-46B9-861D-5424A68FAAF4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连续对话指定查询与比较目标，Agent组织多次实际试算</a:t>
            </a:r>
          </a:p>
        </p:txBody>
      </p:sp>
      <p:sp>
        <p:nvSpPr>
          <p:cNvPr id="28" name="两条查询指令">
            <a:extLst>
              <a:ext uri="{FF2B5EF4-FFF2-40B4-BE49-F238E27FC236}">
                <a16:creationId xmlns:a16="http://schemas.microsoft.com/office/drawing/2014/main" id="{349F4AB8-9C86-49D3-8D0C-68F12A8A2165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112776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5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5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5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“查询G最大节点位移。” → “比较G荷载0.5、1、1.5、2倍的最大节点位移。”</a:t>
            </a:r>
          </a:p>
        </p:txBody>
      </p:sp>
      <p:sp>
        <p:nvSpPr>
          <p:cNvPr id="29" name="视频边框">
            <a:extLst>
              <a:ext uri="{FF2B5EF4-FFF2-40B4-BE49-F238E27FC236}">
                <a16:creationId xmlns:a16="http://schemas.microsoft.com/office/drawing/2014/main" id="{F179F263-37CE-4439-B64B-70C7585B5340}"/>
              </a:ext>
            </a:extLst>
          </p:cNvPr>
          <p:cNvSpPr>
            <a:spLocks noGrp="1"/>
          </p:cNvSpPr>
          <p:nvPr/>
        </p:nvSpPr>
        <p:spPr>
          <a:xfrm>
            <a:off x="438150" y="2343150"/>
            <a:ext cx="6496050" cy="367093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graphicFrame>
        <p:nvGraphicFramePr>
          <p:cNvPr id="31" name="四档实际扫描">
            <a:extLst>
              <a:ext uri="{FF2B5EF4-FFF2-40B4-BE49-F238E27FC236}">
                <a16:creationId xmlns:a16="http://schemas.microsoft.com/office/drawing/2014/main" id="{B4C594D3-E1C2-4053-A176-160621D2C3D4}"/>
              </a:ext>
            </a:extLst>
          </p:cNvPr>
          <p:cNvGraphicFramePr/>
          <p:nvPr/>
        </p:nvGraphicFramePr>
        <p:xfrm>
          <a:off x="7258050" y="2124075"/>
          <a:ext cx="4476750" cy="19335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G荷载倍数</a:t>
                      </a:r>
                    </a:p>
                  </a:txBody>
                  <a:tcPr marL="114300" marR="95250" marT="57150" marB="57150"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最大节点位移/mm</a:t>
                      </a:r>
                    </a:p>
                  </a:txBody>
                  <a:tcPr marL="114300" marR="95250" marT="57150" marB="57150" anchor="ctr">
                    <a:solidFill>
                      <a:srgbClr val="092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0.021215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0.042430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0.063646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0.084861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Chart">
            <a:extLst>
              <a:ext uri="{FF2B5EF4-FFF2-40B4-BE49-F238E27FC236}">
                <a16:creationId xmlns:a16="http://schemas.microsoft.com/office/drawing/2014/main" id="{549030B6-5306-4A4D-91E3-3CF94BE2A40B}"/>
              </a:ext>
            </a:extLst>
          </p:cNvPr>
          <p:cNvGraphicFramePr/>
          <p:nvPr/>
        </p:nvGraphicFramePr>
        <p:xfrm>
          <a:off x="7258050" y="4248150"/>
          <a:ext cx="4476750" cy="1724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3" name="扫描结论">
            <a:extLst>
              <a:ext uri="{FF2B5EF4-FFF2-40B4-BE49-F238E27FC236}">
                <a16:creationId xmlns:a16="http://schemas.microsoft.com/office/drawing/2014/main" id="{61DC9F7C-D733-4E42-9A87-2D84D201DA7D}"/>
              </a:ext>
            </a:extLst>
          </p:cNvPr>
          <p:cNvSpPr>
            <a:spLocks noGrp="1"/>
          </p:cNvSpPr>
          <p:nvPr/>
        </p:nvSpPr>
        <p:spPr>
          <a:xfrm>
            <a:off x="457200" y="6076950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节点平移幅值；1倍为0.042430 mm（节点8）｜单击播放18秒</a:t>
            </a:r>
          </a:p>
        </p:txBody>
      </p:sp>
      <p:pic>
        <p:nvPicPr>
          <p:cNvPr id="2" name="嵌入实机视频_扫描">
            <a:hlinkClick action="ppaction://media"/>
            <a:extLst>
              <a:ext uri="{FF2B5EF4-FFF2-40B4-BE49-F238E27FC236}">
                <a16:creationId xmlns:a16="http://schemas.microsoft.com/office/drawing/2014/main" id="{54E68D50-3ED4-49A2-9761-7782C0D709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57200" y="2362201"/>
            <a:ext cx="6458373" cy="36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5187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AAA7BA4-F405-493C-8D94-E6B155009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5977E359-F390-4BF4-8CEE-DFEA7862FF2E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二、实例四：结果展示与计算书输出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269C75EC-7B70-4B7A-8E7D-BBD6D1282C92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真实对话：plot_results + write_report；截图及报告来自实际工具执行，G工况来源编号见备注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D2FDCDD7-9A06-4A72-8B06-B52F7596FB0F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F3E388E5-9BAF-4ACF-A238-C1F5A1682414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通过指令组织结果图与计算书，保留模型、工况和求解来源</a:t>
            </a:r>
          </a:p>
        </p:txBody>
      </p:sp>
      <p:sp>
        <p:nvSpPr>
          <p:cNvPr id="28" name="出图指令">
            <a:extLst>
              <a:ext uri="{FF2B5EF4-FFF2-40B4-BE49-F238E27FC236}">
                <a16:creationId xmlns:a16="http://schemas.microsoft.com/office/drawing/2014/main" id="{6BCAFB54-EC70-4DDA-A0D5-51047E9E0E85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11277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“生成G工况变形图，将本次分析整理成Word与Markdown计算书。”</a:t>
            </a:r>
          </a:p>
        </p:txBody>
      </p:sp>
      <p:sp>
        <p:nvSpPr>
          <p:cNvPr id="29" name="整体响应标题">
            <a:extLst>
              <a:ext uri="{FF2B5EF4-FFF2-40B4-BE49-F238E27FC236}">
                <a16:creationId xmlns:a16="http://schemas.microsoft.com/office/drawing/2014/main" id="{46A27E8C-F2DF-4E96-BAE0-CDAEE4167722}"/>
              </a:ext>
            </a:extLst>
          </p:cNvPr>
          <p:cNvSpPr>
            <a:spLocks noGrp="1"/>
          </p:cNvSpPr>
          <p:nvPr/>
        </p:nvSpPr>
        <p:spPr>
          <a:xfrm>
            <a:off x="457200" y="2200275"/>
            <a:ext cx="7019925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0" name="整体响应标题文字">
            <a:extLst>
              <a:ext uri="{FF2B5EF4-FFF2-40B4-BE49-F238E27FC236}">
                <a16:creationId xmlns:a16="http://schemas.microsoft.com/office/drawing/2014/main" id="{66543369-BBFB-4183-9A0D-46446C4DFF70}"/>
              </a:ext>
            </a:extLst>
          </p:cNvPr>
          <p:cNvSpPr>
            <a:spLocks noGrp="1"/>
          </p:cNvSpPr>
          <p:nvPr/>
        </p:nvSpPr>
        <p:spPr>
          <a:xfrm>
            <a:off x="533400" y="2219325"/>
            <a:ext cx="68675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同一双跨框架 / G / 放大变形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2811E2A2-A297-42C7-8F62-6BFCD5089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52538" y="2733675"/>
            <a:ext cx="5429250" cy="2714625"/>
          </a:xfrm>
          <a:prstGeom prst="rect">
            <a:avLst/>
          </a:prstGeom>
        </p:spPr>
      </p:pic>
      <p:sp>
        <p:nvSpPr>
          <p:cNvPr id="32" name="整体成果说明">
            <a:extLst>
              <a:ext uri="{FF2B5EF4-FFF2-40B4-BE49-F238E27FC236}">
                <a16:creationId xmlns:a16="http://schemas.microsoft.com/office/drawing/2014/main" id="{F52E236E-D154-405E-B82B-C122A34D7EE4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7019925" cy="742950"/>
          </a:xfrm>
          <a:prstGeom prst="rect">
            <a:avLst/>
          </a:prstGeom>
          <a:solidFill>
            <a:srgbClr val="F1F6FC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3" name="整体输出">
            <a:extLst>
              <a:ext uri="{FF2B5EF4-FFF2-40B4-BE49-F238E27FC236}">
                <a16:creationId xmlns:a16="http://schemas.microsoft.com/office/drawing/2014/main" id="{F5894069-31A2-44CF-A720-23ACB084B390}"/>
              </a:ext>
            </a:extLst>
          </p:cNvPr>
          <p:cNvSpPr>
            <a:spLocks noGrp="1"/>
          </p:cNvSpPr>
          <p:nvPr/>
        </p:nvSpPr>
        <p:spPr>
          <a:xfrm>
            <a:off x="590550" y="5695950"/>
            <a:ext cx="67532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整体位移 / 反力 / 杆件内力 / 结果图</a:t>
            </a:r>
          </a:p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报告按实际工况与模型版本记录</a:t>
            </a:r>
          </a:p>
        </p:txBody>
      </p:sp>
      <p:sp>
        <p:nvSpPr>
          <p:cNvPr id="34" name="报告标题">
            <a:extLst>
              <a:ext uri="{FF2B5EF4-FFF2-40B4-BE49-F238E27FC236}">
                <a16:creationId xmlns:a16="http://schemas.microsoft.com/office/drawing/2014/main" id="{E34AE39D-7C2C-44C9-BE99-2F536EB13739}"/>
              </a:ext>
            </a:extLst>
          </p:cNvPr>
          <p:cNvSpPr>
            <a:spLocks noGrp="1"/>
          </p:cNvSpPr>
          <p:nvPr/>
        </p:nvSpPr>
        <p:spPr>
          <a:xfrm>
            <a:off x="7953375" y="2200275"/>
            <a:ext cx="3781425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5" name="报告标题文字">
            <a:extLst>
              <a:ext uri="{FF2B5EF4-FFF2-40B4-BE49-F238E27FC236}">
                <a16:creationId xmlns:a16="http://schemas.microsoft.com/office/drawing/2014/main" id="{63C1AFB8-5CBB-44F0-953A-28B565DE9D38}"/>
              </a:ext>
            </a:extLst>
          </p:cNvPr>
          <p:cNvSpPr>
            <a:spLocks noGrp="1"/>
          </p:cNvSpPr>
          <p:nvPr/>
        </p:nvSpPr>
        <p:spPr>
          <a:xfrm>
            <a:off x="8029575" y="2219325"/>
            <a:ext cx="3629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真实Word计算书局部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C55E4F4A-BE15-4645-8235-6B25D0806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976113" y="2714625"/>
            <a:ext cx="3735949" cy="147637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289719D2-E8E0-438C-9ABC-D9D713F8E5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102883" y="4419600"/>
            <a:ext cx="3482410" cy="1476375"/>
          </a:xfrm>
          <a:prstGeom prst="rect">
            <a:avLst/>
          </a:prstGeom>
        </p:spPr>
      </p:pic>
      <p:sp>
        <p:nvSpPr>
          <p:cNvPr id="38" name="报告追溯">
            <a:extLst>
              <a:ext uri="{FF2B5EF4-FFF2-40B4-BE49-F238E27FC236}">
                <a16:creationId xmlns:a16="http://schemas.microsoft.com/office/drawing/2014/main" id="{41BD0A23-A130-42DD-B91E-5EDBAE4920C2}"/>
              </a:ext>
            </a:extLst>
          </p:cNvPr>
          <p:cNvSpPr>
            <a:spLocks noGrp="1"/>
          </p:cNvSpPr>
          <p:nvPr/>
        </p:nvSpPr>
        <p:spPr>
          <a:xfrm>
            <a:off x="7953375" y="6019800"/>
            <a:ext cx="37814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模型指纹 + 工况 + 求解编号</a:t>
            </a:r>
          </a:p>
        </p:txBody>
      </p:sp>
    </p:spTree>
    <p:extLst>
      <p:ext uri="{BB962C8B-B14F-4D97-AF65-F5344CB8AC3E}">
        <p14:creationId xmlns:p14="http://schemas.microsoft.com/office/powerpoint/2010/main" val="2270814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6216A4F-3B74-4849-B028-6F7B63EF2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DC494577-B9D4-4EAD-AC1C-3F96163E824A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三、空间刚架计算方法与实现范围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5A1823EB-90D8-444D-99CE-EFE68DDEBD4B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自研空间梁有限元；每节点6自由度，单元12×12；区分梁理论及验证条件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9BEB8A34-B8E5-4421-82AE-7694C45D72F9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4CF39538-EBD0-45F9-B350-74A4D4B675F0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由结构化输入建立有限元模型，数值程序完成整体求解与内力恢复</a:t>
            </a:r>
          </a:p>
        </p:txBody>
      </p:sp>
      <p:sp>
        <p:nvSpPr>
          <p:cNvPr id="28" name="有限元环节0">
            <a:extLst>
              <a:ext uri="{FF2B5EF4-FFF2-40B4-BE49-F238E27FC236}">
                <a16:creationId xmlns:a16="http://schemas.microsoft.com/office/drawing/2014/main" id="{1E076868-F83B-414C-9FB1-9D4FEF6C4E6E}"/>
              </a:ext>
            </a:extLst>
          </p:cNvPr>
          <p:cNvSpPr>
            <a:spLocks noGrp="1"/>
          </p:cNvSpPr>
          <p:nvPr/>
        </p:nvSpPr>
        <p:spPr>
          <a:xfrm>
            <a:off x="457200" y="1743075"/>
            <a:ext cx="2590800" cy="14954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29" name="有限元环节0标题">
            <a:extLst>
              <a:ext uri="{FF2B5EF4-FFF2-40B4-BE49-F238E27FC236}">
                <a16:creationId xmlns:a16="http://schemas.microsoft.com/office/drawing/2014/main" id="{7BE2DCC3-2C1B-4C15-8013-82D3C2A8F37F}"/>
              </a:ext>
            </a:extLst>
          </p:cNvPr>
          <p:cNvSpPr>
            <a:spLocks noGrp="1"/>
          </p:cNvSpPr>
          <p:nvPr/>
        </p:nvSpPr>
        <p:spPr>
          <a:xfrm>
            <a:off x="457200" y="1743075"/>
            <a:ext cx="25908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0" name="有限元环节0标题文字">
            <a:extLst>
              <a:ext uri="{FF2B5EF4-FFF2-40B4-BE49-F238E27FC236}">
                <a16:creationId xmlns:a16="http://schemas.microsoft.com/office/drawing/2014/main" id="{08C7EC81-4FEF-4E2F-8259-FBDAE14EC5CF}"/>
              </a:ext>
            </a:extLst>
          </p:cNvPr>
          <p:cNvSpPr>
            <a:spLocks noGrp="1"/>
          </p:cNvSpPr>
          <p:nvPr/>
        </p:nvSpPr>
        <p:spPr>
          <a:xfrm>
            <a:off x="533400" y="1762125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模型输入</a:t>
            </a:r>
          </a:p>
        </p:txBody>
      </p:sp>
      <p:sp>
        <p:nvSpPr>
          <p:cNvPr id="31" name="有限元环节0说明">
            <a:extLst>
              <a:ext uri="{FF2B5EF4-FFF2-40B4-BE49-F238E27FC236}">
                <a16:creationId xmlns:a16="http://schemas.microsoft.com/office/drawing/2014/main" id="{C0E82F10-796F-4434-A0E5-4126A5332540}"/>
              </a:ext>
            </a:extLst>
          </p:cNvPr>
          <p:cNvSpPr>
            <a:spLocks noGrp="1"/>
          </p:cNvSpPr>
          <p:nvPr/>
        </p:nvSpPr>
        <p:spPr>
          <a:xfrm>
            <a:off x="590550" y="2190750"/>
            <a:ext cx="23241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节点 / 杆件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属性 / 荷载 / 支座</a:t>
            </a:r>
          </a:p>
        </p:txBody>
      </p:sp>
      <p:sp>
        <p:nvSpPr>
          <p:cNvPr id="32" name="有限元箭头0">
            <a:extLst>
              <a:ext uri="{FF2B5EF4-FFF2-40B4-BE49-F238E27FC236}">
                <a16:creationId xmlns:a16="http://schemas.microsoft.com/office/drawing/2014/main" id="{A018BF7E-2B5D-4E54-B04B-36B06E403FD1}"/>
              </a:ext>
            </a:extLst>
          </p:cNvPr>
          <p:cNvSpPr>
            <a:spLocks noGrp="1"/>
          </p:cNvSpPr>
          <p:nvPr/>
        </p:nvSpPr>
        <p:spPr>
          <a:xfrm>
            <a:off x="3095625" y="2381250"/>
            <a:ext cx="219075" cy="266700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33" name="有限元环节1">
            <a:extLst>
              <a:ext uri="{FF2B5EF4-FFF2-40B4-BE49-F238E27FC236}">
                <a16:creationId xmlns:a16="http://schemas.microsoft.com/office/drawing/2014/main" id="{5ABC45A2-7427-4994-98A2-434B87952FAA}"/>
              </a:ext>
            </a:extLst>
          </p:cNvPr>
          <p:cNvSpPr>
            <a:spLocks noGrp="1"/>
          </p:cNvSpPr>
          <p:nvPr/>
        </p:nvSpPr>
        <p:spPr>
          <a:xfrm>
            <a:off x="3352800" y="1743075"/>
            <a:ext cx="2590800" cy="14954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4" name="有限元环节1标题">
            <a:extLst>
              <a:ext uri="{FF2B5EF4-FFF2-40B4-BE49-F238E27FC236}">
                <a16:creationId xmlns:a16="http://schemas.microsoft.com/office/drawing/2014/main" id="{87D58133-90FA-4EF5-A1BF-991A0DC58313}"/>
              </a:ext>
            </a:extLst>
          </p:cNvPr>
          <p:cNvSpPr>
            <a:spLocks noGrp="1"/>
          </p:cNvSpPr>
          <p:nvPr/>
        </p:nvSpPr>
        <p:spPr>
          <a:xfrm>
            <a:off x="3352800" y="1743075"/>
            <a:ext cx="25908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5" name="有限元环节1标题文字">
            <a:extLst>
              <a:ext uri="{FF2B5EF4-FFF2-40B4-BE49-F238E27FC236}">
                <a16:creationId xmlns:a16="http://schemas.microsoft.com/office/drawing/2014/main" id="{ACE2FAA4-3252-4AD3-8168-4F6AADF40BCC}"/>
              </a:ext>
            </a:extLst>
          </p:cNvPr>
          <p:cNvSpPr>
            <a:spLocks noGrp="1"/>
          </p:cNvSpPr>
          <p:nvPr/>
        </p:nvSpPr>
        <p:spPr>
          <a:xfrm>
            <a:off x="3429000" y="1762125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单元编译</a:t>
            </a:r>
          </a:p>
        </p:txBody>
      </p:sp>
      <p:sp>
        <p:nvSpPr>
          <p:cNvPr id="36" name="有限元环节1说明">
            <a:extLst>
              <a:ext uri="{FF2B5EF4-FFF2-40B4-BE49-F238E27FC236}">
                <a16:creationId xmlns:a16="http://schemas.microsoft.com/office/drawing/2014/main" id="{64923CAB-E36C-44C9-9AA3-A94271C1B166}"/>
              </a:ext>
            </a:extLst>
          </p:cNvPr>
          <p:cNvSpPr>
            <a:spLocks noGrp="1"/>
          </p:cNvSpPr>
          <p:nvPr/>
        </p:nvSpPr>
        <p:spPr>
          <a:xfrm>
            <a:off x="3486150" y="2190750"/>
            <a:ext cx="23241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局部刚度12×12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坐标变换与剖分</a:t>
            </a:r>
          </a:p>
        </p:txBody>
      </p:sp>
      <p:sp>
        <p:nvSpPr>
          <p:cNvPr id="37" name="有限元箭头1">
            <a:extLst>
              <a:ext uri="{FF2B5EF4-FFF2-40B4-BE49-F238E27FC236}">
                <a16:creationId xmlns:a16="http://schemas.microsoft.com/office/drawing/2014/main" id="{F2050950-E875-490B-8861-880AF7316DB5}"/>
              </a:ext>
            </a:extLst>
          </p:cNvPr>
          <p:cNvSpPr>
            <a:spLocks noGrp="1"/>
          </p:cNvSpPr>
          <p:nvPr/>
        </p:nvSpPr>
        <p:spPr>
          <a:xfrm>
            <a:off x="5991225" y="2381250"/>
            <a:ext cx="219075" cy="266700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38" name="有限元环节2">
            <a:extLst>
              <a:ext uri="{FF2B5EF4-FFF2-40B4-BE49-F238E27FC236}">
                <a16:creationId xmlns:a16="http://schemas.microsoft.com/office/drawing/2014/main" id="{C2ABAA7B-DFE2-4DA7-B399-1058BDEEF5BE}"/>
              </a:ext>
            </a:extLst>
          </p:cNvPr>
          <p:cNvSpPr>
            <a:spLocks noGrp="1"/>
          </p:cNvSpPr>
          <p:nvPr/>
        </p:nvSpPr>
        <p:spPr>
          <a:xfrm>
            <a:off x="6248400" y="1743075"/>
            <a:ext cx="2590800" cy="14954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9" name="有限元环节2标题">
            <a:extLst>
              <a:ext uri="{FF2B5EF4-FFF2-40B4-BE49-F238E27FC236}">
                <a16:creationId xmlns:a16="http://schemas.microsoft.com/office/drawing/2014/main" id="{FEDB0A7F-01C9-47E4-9873-6BAAF4911351}"/>
              </a:ext>
            </a:extLst>
          </p:cNvPr>
          <p:cNvSpPr>
            <a:spLocks noGrp="1"/>
          </p:cNvSpPr>
          <p:nvPr/>
        </p:nvSpPr>
        <p:spPr>
          <a:xfrm>
            <a:off x="6248400" y="1743075"/>
            <a:ext cx="25908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0" name="有限元环节2标题文字">
            <a:extLst>
              <a:ext uri="{FF2B5EF4-FFF2-40B4-BE49-F238E27FC236}">
                <a16:creationId xmlns:a16="http://schemas.microsoft.com/office/drawing/2014/main" id="{050B45D7-C9DA-4416-A70D-4AA839E1BDE8}"/>
              </a:ext>
            </a:extLst>
          </p:cNvPr>
          <p:cNvSpPr>
            <a:spLocks noGrp="1"/>
          </p:cNvSpPr>
          <p:nvPr/>
        </p:nvSpPr>
        <p:spPr>
          <a:xfrm>
            <a:off x="6324600" y="1762125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整体求解</a:t>
            </a:r>
          </a:p>
        </p:txBody>
      </p:sp>
      <p:sp>
        <p:nvSpPr>
          <p:cNvPr id="41" name="有限元环节2说明">
            <a:extLst>
              <a:ext uri="{FF2B5EF4-FFF2-40B4-BE49-F238E27FC236}">
                <a16:creationId xmlns:a16="http://schemas.microsoft.com/office/drawing/2014/main" id="{CF571EDC-782B-4C0B-AA05-D7C676A62CCF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23241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组装、杆端释放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约束处理与Ku = F</a:t>
            </a:r>
          </a:p>
        </p:txBody>
      </p:sp>
      <p:sp>
        <p:nvSpPr>
          <p:cNvPr id="42" name="有限元箭头2">
            <a:extLst>
              <a:ext uri="{FF2B5EF4-FFF2-40B4-BE49-F238E27FC236}">
                <a16:creationId xmlns:a16="http://schemas.microsoft.com/office/drawing/2014/main" id="{FF96920A-EB38-4F45-A849-535C5212C682}"/>
              </a:ext>
            </a:extLst>
          </p:cNvPr>
          <p:cNvSpPr>
            <a:spLocks noGrp="1"/>
          </p:cNvSpPr>
          <p:nvPr/>
        </p:nvSpPr>
        <p:spPr>
          <a:xfrm>
            <a:off x="8886825" y="2381250"/>
            <a:ext cx="219075" cy="266700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43" name="有限元环节3">
            <a:extLst>
              <a:ext uri="{FF2B5EF4-FFF2-40B4-BE49-F238E27FC236}">
                <a16:creationId xmlns:a16="http://schemas.microsoft.com/office/drawing/2014/main" id="{FAC9EA5F-D6E6-4AFD-AE9F-73F2B01E8433}"/>
              </a:ext>
            </a:extLst>
          </p:cNvPr>
          <p:cNvSpPr>
            <a:spLocks noGrp="1"/>
          </p:cNvSpPr>
          <p:nvPr/>
        </p:nvSpPr>
        <p:spPr>
          <a:xfrm>
            <a:off x="9144000" y="1743075"/>
            <a:ext cx="2590800" cy="14954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44" name="有限元环节3标题">
            <a:extLst>
              <a:ext uri="{FF2B5EF4-FFF2-40B4-BE49-F238E27FC236}">
                <a16:creationId xmlns:a16="http://schemas.microsoft.com/office/drawing/2014/main" id="{C08B236C-825D-4354-AD17-415EE476B1CB}"/>
              </a:ext>
            </a:extLst>
          </p:cNvPr>
          <p:cNvSpPr>
            <a:spLocks noGrp="1"/>
          </p:cNvSpPr>
          <p:nvPr/>
        </p:nvSpPr>
        <p:spPr>
          <a:xfrm>
            <a:off x="9144000" y="1743075"/>
            <a:ext cx="25908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5" name="有限元环节3标题文字">
            <a:extLst>
              <a:ext uri="{FF2B5EF4-FFF2-40B4-BE49-F238E27FC236}">
                <a16:creationId xmlns:a16="http://schemas.microsoft.com/office/drawing/2014/main" id="{134AE159-309A-4CC3-8FF4-318FB19D0D5F}"/>
              </a:ext>
            </a:extLst>
          </p:cNvPr>
          <p:cNvSpPr>
            <a:spLocks noGrp="1"/>
          </p:cNvSpPr>
          <p:nvPr/>
        </p:nvSpPr>
        <p:spPr>
          <a:xfrm>
            <a:off x="9220200" y="1762125"/>
            <a:ext cx="2438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结果恢复</a:t>
            </a:r>
          </a:p>
        </p:txBody>
      </p:sp>
      <p:sp>
        <p:nvSpPr>
          <p:cNvPr id="46" name="有限元环节3说明">
            <a:extLst>
              <a:ext uri="{FF2B5EF4-FFF2-40B4-BE49-F238E27FC236}">
                <a16:creationId xmlns:a16="http://schemas.microsoft.com/office/drawing/2014/main" id="{1C82D2A3-3CF9-4F9A-BC16-6274C005AE92}"/>
              </a:ext>
            </a:extLst>
          </p:cNvPr>
          <p:cNvSpPr>
            <a:spLocks noGrp="1"/>
          </p:cNvSpPr>
          <p:nvPr/>
        </p:nvSpPr>
        <p:spPr>
          <a:xfrm>
            <a:off x="9277350" y="2190750"/>
            <a:ext cx="23241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位移 / 反力 / 内力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平衡校核与图表</a:t>
            </a:r>
          </a:p>
        </p:txBody>
      </p:sp>
      <p:sp>
        <p:nvSpPr>
          <p:cNvPr id="47" name="EB理论">
            <a:extLst>
              <a:ext uri="{FF2B5EF4-FFF2-40B4-BE49-F238E27FC236}">
                <a16:creationId xmlns:a16="http://schemas.microsoft.com/office/drawing/2014/main" id="{C1D1FFAF-8762-4B28-BEFF-EAE652B4CBFA}"/>
              </a:ext>
            </a:extLst>
          </p:cNvPr>
          <p:cNvSpPr>
            <a:spLocks noGrp="1"/>
          </p:cNvSpPr>
          <p:nvPr/>
        </p:nvSpPr>
        <p:spPr>
          <a:xfrm>
            <a:off x="457200" y="3676650"/>
            <a:ext cx="5372100" cy="14097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48" name="EB理论标题">
            <a:extLst>
              <a:ext uri="{FF2B5EF4-FFF2-40B4-BE49-F238E27FC236}">
                <a16:creationId xmlns:a16="http://schemas.microsoft.com/office/drawing/2014/main" id="{5703C0F5-A5DE-4FBA-B568-A26CC76089E0}"/>
              </a:ext>
            </a:extLst>
          </p:cNvPr>
          <p:cNvSpPr>
            <a:spLocks noGrp="1"/>
          </p:cNvSpPr>
          <p:nvPr/>
        </p:nvSpPr>
        <p:spPr>
          <a:xfrm>
            <a:off x="457200" y="3676650"/>
            <a:ext cx="53721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9" name="EB理论标题文字">
            <a:extLst>
              <a:ext uri="{FF2B5EF4-FFF2-40B4-BE49-F238E27FC236}">
                <a16:creationId xmlns:a16="http://schemas.microsoft.com/office/drawing/2014/main" id="{624D80E1-9493-4EEA-81EF-1E25AD5D456E}"/>
              </a:ext>
            </a:extLst>
          </p:cNvPr>
          <p:cNvSpPr>
            <a:spLocks noGrp="1"/>
          </p:cNvSpPr>
          <p:nvPr/>
        </p:nvSpPr>
        <p:spPr>
          <a:xfrm>
            <a:off x="533400" y="3695700"/>
            <a:ext cx="521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Euler–Bernoulli</a:t>
            </a:r>
          </a:p>
        </p:txBody>
      </p:sp>
      <p:sp>
        <p:nvSpPr>
          <p:cNvPr id="50" name="EB理论说明">
            <a:extLst>
              <a:ext uri="{FF2B5EF4-FFF2-40B4-BE49-F238E27FC236}">
                <a16:creationId xmlns:a16="http://schemas.microsoft.com/office/drawing/2014/main" id="{0AB7D4AF-EDBA-4166-B272-E7B6AEE8BC29}"/>
              </a:ext>
            </a:extLst>
          </p:cNvPr>
          <p:cNvSpPr>
            <a:spLocks noGrp="1"/>
          </p:cNvSpPr>
          <p:nvPr/>
        </p:nvSpPr>
        <p:spPr>
          <a:xfrm>
            <a:off x="590550" y="4124325"/>
            <a:ext cx="51054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忽略剪切变形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本次教材整体对照采用此分支</a:t>
            </a:r>
          </a:p>
        </p:txBody>
      </p:sp>
      <p:sp>
        <p:nvSpPr>
          <p:cNvPr id="51" name="T理论">
            <a:extLst>
              <a:ext uri="{FF2B5EF4-FFF2-40B4-BE49-F238E27FC236}">
                <a16:creationId xmlns:a16="http://schemas.microsoft.com/office/drawing/2014/main" id="{A7653391-C8F7-495C-9850-D499234B73C4}"/>
              </a:ext>
            </a:extLst>
          </p:cNvPr>
          <p:cNvSpPr>
            <a:spLocks noGrp="1"/>
          </p:cNvSpPr>
          <p:nvPr/>
        </p:nvSpPr>
        <p:spPr>
          <a:xfrm>
            <a:off x="6267450" y="3676650"/>
            <a:ext cx="5467350" cy="14097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52" name="T理论标题">
            <a:extLst>
              <a:ext uri="{FF2B5EF4-FFF2-40B4-BE49-F238E27FC236}">
                <a16:creationId xmlns:a16="http://schemas.microsoft.com/office/drawing/2014/main" id="{317708B0-5B66-4CED-956D-F7678EC383E6}"/>
              </a:ext>
            </a:extLst>
          </p:cNvPr>
          <p:cNvSpPr>
            <a:spLocks noGrp="1"/>
          </p:cNvSpPr>
          <p:nvPr/>
        </p:nvSpPr>
        <p:spPr>
          <a:xfrm>
            <a:off x="6267450" y="3676650"/>
            <a:ext cx="54673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53" name="T理论标题文字">
            <a:extLst>
              <a:ext uri="{FF2B5EF4-FFF2-40B4-BE49-F238E27FC236}">
                <a16:creationId xmlns:a16="http://schemas.microsoft.com/office/drawing/2014/main" id="{C88F6D20-2B21-4AD7-9667-2B1113C0303F}"/>
              </a:ext>
            </a:extLst>
          </p:cNvPr>
          <p:cNvSpPr>
            <a:spLocks noGrp="1"/>
          </p:cNvSpPr>
          <p:nvPr/>
        </p:nvSpPr>
        <p:spPr>
          <a:xfrm>
            <a:off x="6343650" y="369570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Timoshenko</a:t>
            </a:r>
          </a:p>
        </p:txBody>
      </p:sp>
      <p:sp>
        <p:nvSpPr>
          <p:cNvPr id="54" name="T理论说明">
            <a:extLst>
              <a:ext uri="{FF2B5EF4-FFF2-40B4-BE49-F238E27FC236}">
                <a16:creationId xmlns:a16="http://schemas.microsoft.com/office/drawing/2014/main" id="{A6576D22-6AC4-42D2-9D58-9D6F65DC653D}"/>
              </a:ext>
            </a:extLst>
          </p:cNvPr>
          <p:cNvSpPr>
            <a:spLocks noGrp="1"/>
          </p:cNvSpPr>
          <p:nvPr/>
        </p:nvSpPr>
        <p:spPr>
          <a:xfrm>
            <a:off x="6400800" y="4124325"/>
            <a:ext cx="520065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计入剪切变形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需有效剪切面积及对应独立基准</a:t>
            </a:r>
          </a:p>
        </p:txBody>
      </p:sp>
      <p:sp>
        <p:nvSpPr>
          <p:cNvPr id="55" name="自由度说明">
            <a:extLst>
              <a:ext uri="{FF2B5EF4-FFF2-40B4-BE49-F238E27FC236}">
                <a16:creationId xmlns:a16="http://schemas.microsoft.com/office/drawing/2014/main" id="{9A17AE11-971D-49EE-9D65-FD2BF3441DF0}"/>
              </a:ext>
            </a:extLst>
          </p:cNvPr>
          <p:cNvSpPr>
            <a:spLocks noGrp="1"/>
          </p:cNvSpPr>
          <p:nvPr/>
        </p:nvSpPr>
        <p:spPr>
          <a:xfrm>
            <a:off x="457200" y="5295900"/>
            <a:ext cx="11277600" cy="466725"/>
          </a:xfrm>
          <a:prstGeom prst="rect">
            <a:avLst/>
          </a:prstGeom>
          <a:solidFill>
            <a:srgbClr val="F1F6FC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56" name="六自由度">
            <a:extLst>
              <a:ext uri="{FF2B5EF4-FFF2-40B4-BE49-F238E27FC236}">
                <a16:creationId xmlns:a16="http://schemas.microsoft.com/office/drawing/2014/main" id="{E02783EF-71A0-4608-9E25-D45E91DA2235}"/>
              </a:ext>
            </a:extLst>
          </p:cNvPr>
          <p:cNvSpPr>
            <a:spLocks noGrp="1"/>
          </p:cNvSpPr>
          <p:nvPr/>
        </p:nvSpPr>
        <p:spPr>
          <a:xfrm>
            <a:off x="590550" y="5353050"/>
            <a:ext cx="110109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5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5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5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每节点：[Ux, Uy, Uz, Rx, Ry, Rz]；局部实体采用Gmsh + 自研C3D10</a:t>
            </a:r>
          </a:p>
        </p:txBody>
      </p:sp>
      <p:sp>
        <p:nvSpPr>
          <p:cNvPr id="57" name="结论底框">
            <a:extLst>
              <a:ext uri="{FF2B5EF4-FFF2-40B4-BE49-F238E27FC236}">
                <a16:creationId xmlns:a16="http://schemas.microsoft.com/office/drawing/2014/main" id="{4E62B2C7-5240-4531-A146-69F7C203B468}"/>
              </a:ext>
            </a:extLst>
          </p:cNvPr>
          <p:cNvSpPr>
            <a:spLocks noGrp="1"/>
          </p:cNvSpPr>
          <p:nvPr/>
        </p:nvSpPr>
        <p:spPr>
          <a:xfrm>
            <a:off x="457200" y="5953125"/>
            <a:ext cx="11277600" cy="419100"/>
          </a:xfrm>
          <a:prstGeom prst="rect">
            <a:avLst/>
          </a:prstGeom>
          <a:solidFill>
            <a:srgbClr val="F1F6FC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58" name="本页结论">
            <a:extLst>
              <a:ext uri="{FF2B5EF4-FFF2-40B4-BE49-F238E27FC236}">
                <a16:creationId xmlns:a16="http://schemas.microsoft.com/office/drawing/2014/main" id="{F61D3096-1688-4B8B-B739-AC70CB49220C}"/>
              </a:ext>
            </a:extLst>
          </p:cNvPr>
          <p:cNvSpPr>
            <a:spLocks noGrp="1"/>
          </p:cNvSpPr>
          <p:nvPr/>
        </p:nvSpPr>
        <p:spPr>
          <a:xfrm>
            <a:off x="571500" y="59912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已实现整体分析与圆截面节点扩展；局部应力的验证范围需单独说明</a:t>
            </a:r>
          </a:p>
        </p:txBody>
      </p:sp>
    </p:spTree>
    <p:extLst>
      <p:ext uri="{BB962C8B-B14F-4D97-AF65-F5344CB8AC3E}">
        <p14:creationId xmlns:p14="http://schemas.microsoft.com/office/powerpoint/2010/main" val="31514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9D9611F-181D-495A-82E7-1506CC29A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9898629E-4F94-498E-AB79-8C7F1E47F9CC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三、教材例题：整体结果逐项对照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3DE57A54-6483-417C-A92F-703149FF68D8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例IV-1 / 图IV-5：用户提供教材照片；4物理节点、3物理杆件；N-m-Pa，位移统一为mm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AFE1BD4E-D12A-4E00-A7EA-0F18E26FE7FB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BB49B02B-6513-4EDD-B182-01E0C5BE3014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同一教材例题验证整体响应，再沿用节点3开展实体分析</a:t>
            </a:r>
          </a:p>
        </p:txBody>
      </p:sp>
      <p:sp>
        <p:nvSpPr>
          <p:cNvPr id="28" name="原题标题">
            <a:extLst>
              <a:ext uri="{FF2B5EF4-FFF2-40B4-BE49-F238E27FC236}">
                <a16:creationId xmlns:a16="http://schemas.microsoft.com/office/drawing/2014/main" id="{462A617A-1F73-470A-BA32-B50A86BDD926}"/>
              </a:ext>
            </a:extLst>
          </p:cNvPr>
          <p:cNvSpPr>
            <a:spLocks noGrp="1"/>
          </p:cNvSpPr>
          <p:nvPr/>
        </p:nvSpPr>
        <p:spPr>
          <a:xfrm>
            <a:off x="457200" y="1704975"/>
            <a:ext cx="46863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29" name="原题标题文字">
            <a:extLst>
              <a:ext uri="{FF2B5EF4-FFF2-40B4-BE49-F238E27FC236}">
                <a16:creationId xmlns:a16="http://schemas.microsoft.com/office/drawing/2014/main" id="{7100433E-8B1D-4F47-90EF-79F619EFADED}"/>
              </a:ext>
            </a:extLst>
          </p:cNvPr>
          <p:cNvSpPr>
            <a:spLocks noGrp="1"/>
          </p:cNvSpPr>
          <p:nvPr/>
        </p:nvSpPr>
        <p:spPr>
          <a:xfrm>
            <a:off x="533400" y="1724025"/>
            <a:ext cx="4533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题设：R=0.05 m，E=210 GPa，ν=0.3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9DC9040F-46B6-47AF-B6F3-A6B9D1C3E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" y="2248965"/>
            <a:ext cx="4686300" cy="2922046"/>
          </a:xfrm>
          <a:prstGeom prst="rect">
            <a:avLst/>
          </a:prstGeom>
        </p:spPr>
      </p:pic>
      <p:sp>
        <p:nvSpPr>
          <p:cNvPr id="31" name="软件模型标题">
            <a:extLst>
              <a:ext uri="{FF2B5EF4-FFF2-40B4-BE49-F238E27FC236}">
                <a16:creationId xmlns:a16="http://schemas.microsoft.com/office/drawing/2014/main" id="{C5FB935A-C065-4E97-9A5E-87EA7638872B}"/>
              </a:ext>
            </a:extLst>
          </p:cNvPr>
          <p:cNvSpPr>
            <a:spLocks noGrp="1"/>
          </p:cNvSpPr>
          <p:nvPr/>
        </p:nvSpPr>
        <p:spPr>
          <a:xfrm>
            <a:off x="5543550" y="1704975"/>
            <a:ext cx="61912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2" name="软件模型标题文字">
            <a:extLst>
              <a:ext uri="{FF2B5EF4-FFF2-40B4-BE49-F238E27FC236}">
                <a16:creationId xmlns:a16="http://schemas.microsoft.com/office/drawing/2014/main" id="{D83FD235-8FB0-4416-AE68-24878D39B4D2}"/>
              </a:ext>
            </a:extLst>
          </p:cNvPr>
          <p:cNvSpPr>
            <a:spLocks noGrp="1"/>
          </p:cNvSpPr>
          <p:nvPr/>
        </p:nvSpPr>
        <p:spPr>
          <a:xfrm>
            <a:off x="5619750" y="1724025"/>
            <a:ext cx="6038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软件模型：同工况 / 同几何 / 同截面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64F6B15-06E9-4590-A5BA-3DF6BFE5E7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88058" y="2247900"/>
            <a:ext cx="5102233" cy="2924175"/>
          </a:xfrm>
          <a:prstGeom prst="rect">
            <a:avLst/>
          </a:prstGeom>
        </p:spPr>
      </p:pic>
      <p:graphicFrame>
        <p:nvGraphicFramePr>
          <p:cNvPr id="34" name="教材位移对照">
            <a:extLst>
              <a:ext uri="{FF2B5EF4-FFF2-40B4-BE49-F238E27FC236}">
                <a16:creationId xmlns:a16="http://schemas.microsoft.com/office/drawing/2014/main" id="{CD88FD24-E6E9-43B2-87AF-D8FF1673A22C}"/>
              </a:ext>
            </a:extLst>
          </p:cNvPr>
          <p:cNvGraphicFramePr/>
          <p:nvPr/>
        </p:nvGraphicFramePr>
        <p:xfrm>
          <a:off x="5543550" y="5229225"/>
          <a:ext cx="6191250" cy="11049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 / 分量</a:t>
                      </a:r>
                    </a:p>
                  </a:txBody>
                  <a:tcPr marL="114300" marR="95250" marT="57150" marB="57150"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教材/mm</a:t>
                      </a:r>
                    </a:p>
                  </a:txBody>
                  <a:tcPr marL="114300" marR="95250" marT="57150" marB="57150"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程序/mm</a:t>
                      </a:r>
                    </a:p>
                  </a:txBody>
                  <a:tcPr marL="114300" marR="95250" marT="57150" marB="57150" anchor="ctr">
                    <a:solidFill>
                      <a:srgbClr val="092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Ux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14.394500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14.394388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/ Uy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−2.382300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-2.382437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/ Ux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10.238600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10.238504</a:t>
                      </a:r>
                    </a:p>
                  </a:txBody>
                  <a:tcPr marL="114300" marR="95250" marT="57150" marB="57150" anchor="ctr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/ Uz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7.826900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0928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7.826641</a:t>
                      </a:r>
                    </a:p>
                  </a:txBody>
                  <a:tcPr marL="11430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对照边界">
            <a:extLst>
              <a:ext uri="{FF2B5EF4-FFF2-40B4-BE49-F238E27FC236}">
                <a16:creationId xmlns:a16="http://schemas.microsoft.com/office/drawing/2014/main" id="{F9C783C4-3C9B-4111-AE5C-A84047930C87}"/>
              </a:ext>
            </a:extLst>
          </p:cNvPr>
          <p:cNvSpPr>
            <a:spLocks noGrp="1"/>
          </p:cNvSpPr>
          <p:nvPr/>
        </p:nvSpPr>
        <p:spPr>
          <a:xfrm>
            <a:off x="457200" y="5314950"/>
            <a:ext cx="46863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两节点平移最大绝对差0.000259 mm</a:t>
            </a:r>
          </a:p>
          <a:p>
            <a: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内力分量需先统一局部轴与正号</a:t>
            </a:r>
          </a:p>
        </p:txBody>
      </p:sp>
    </p:spTree>
    <p:extLst>
      <p:ext uri="{BB962C8B-B14F-4D97-AF65-F5344CB8AC3E}">
        <p14:creationId xmlns:p14="http://schemas.microsoft.com/office/powerpoint/2010/main" val="202201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888957C-E0D6-436C-8FF9-A6D21C2DD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C17D7619-9836-4F34-BE9D-CA48B1BEFE27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三、同一节点的整体—局部实体化方法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19CA964F-1628-4F53-9FF9-761DF27FC316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选图IV-5节点3；连接杆件1、2，实心圆D100；局部臂长200 mm，锚固臂为杆件2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D85123A5-CC73-48E7-9929-5BAFADEAE9A9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9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59F9CFC7-0735-4D41-9CAD-D985EBD45134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从整体求解提取截面六内力，建立同一节点的局部实体子模型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23EB70F-7CB3-4C84-97B3-C605F1670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" y="1785705"/>
            <a:ext cx="4305300" cy="2467439"/>
          </a:xfrm>
          <a:prstGeom prst="rect">
            <a:avLst/>
          </a:prstGeom>
        </p:spPr>
      </p:pic>
      <p:sp>
        <p:nvSpPr>
          <p:cNvPr id="29" name="选定节点">
            <a:extLst>
              <a:ext uri="{FF2B5EF4-FFF2-40B4-BE49-F238E27FC236}">
                <a16:creationId xmlns:a16="http://schemas.microsoft.com/office/drawing/2014/main" id="{8115B39F-E722-44A9-BBC3-9A63DF946809}"/>
              </a:ext>
            </a:extLst>
          </p:cNvPr>
          <p:cNvSpPr>
            <a:spLocks noGrp="1"/>
          </p:cNvSpPr>
          <p:nvPr/>
        </p:nvSpPr>
        <p:spPr>
          <a:xfrm>
            <a:off x="457200" y="4381500"/>
            <a:ext cx="43053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选定节点3：横杆1与立杆2交汇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FCE0338A-024B-4306-B5A9-145873476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30137" y="4905375"/>
            <a:ext cx="2559426" cy="1466850"/>
          </a:xfrm>
          <a:prstGeom prst="rect">
            <a:avLst/>
          </a:prstGeom>
        </p:spPr>
      </p:pic>
      <p:sp>
        <p:nvSpPr>
          <p:cNvPr id="31" name="实体步骤0">
            <a:extLst>
              <a:ext uri="{FF2B5EF4-FFF2-40B4-BE49-F238E27FC236}">
                <a16:creationId xmlns:a16="http://schemas.microsoft.com/office/drawing/2014/main" id="{C54B98A0-3FCE-462A-9787-935ED0C7C7DC}"/>
              </a:ext>
            </a:extLst>
          </p:cNvPr>
          <p:cNvSpPr>
            <a:spLocks noGrp="1"/>
          </p:cNvSpPr>
          <p:nvPr/>
        </p:nvSpPr>
        <p:spPr>
          <a:xfrm>
            <a:off x="5276850" y="1733550"/>
            <a:ext cx="6457950" cy="8667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2" name="实体步骤0标题">
            <a:extLst>
              <a:ext uri="{FF2B5EF4-FFF2-40B4-BE49-F238E27FC236}">
                <a16:creationId xmlns:a16="http://schemas.microsoft.com/office/drawing/2014/main" id="{E5596173-9A2B-420A-AD31-C759A0B77F8B}"/>
              </a:ext>
            </a:extLst>
          </p:cNvPr>
          <p:cNvSpPr>
            <a:spLocks noGrp="1"/>
          </p:cNvSpPr>
          <p:nvPr/>
        </p:nvSpPr>
        <p:spPr>
          <a:xfrm>
            <a:off x="5276850" y="1733550"/>
            <a:ext cx="64579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3" name="实体步骤0标题文字">
            <a:extLst>
              <a:ext uri="{FF2B5EF4-FFF2-40B4-BE49-F238E27FC236}">
                <a16:creationId xmlns:a16="http://schemas.microsoft.com/office/drawing/2014/main" id="{99AE99B5-DF2A-4E80-90CA-DB611FE8F097}"/>
              </a:ext>
            </a:extLst>
          </p:cNvPr>
          <p:cNvSpPr>
            <a:spLocks noGrp="1"/>
          </p:cNvSpPr>
          <p:nvPr/>
        </p:nvSpPr>
        <p:spPr>
          <a:xfrm>
            <a:off x="5353050" y="1752600"/>
            <a:ext cx="6305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截面内力传递</a:t>
            </a:r>
          </a:p>
        </p:txBody>
      </p:sp>
      <p:sp>
        <p:nvSpPr>
          <p:cNvPr id="34" name="实体步骤0说明">
            <a:extLst>
              <a:ext uri="{FF2B5EF4-FFF2-40B4-BE49-F238E27FC236}">
                <a16:creationId xmlns:a16="http://schemas.microsoft.com/office/drawing/2014/main" id="{AF633385-422B-4C05-BC40-CB5181798C4C}"/>
              </a:ext>
            </a:extLst>
          </p:cNvPr>
          <p:cNvSpPr>
            <a:spLocks noGrp="1"/>
          </p:cNvSpPr>
          <p:nvPr/>
        </p:nvSpPr>
        <p:spPr>
          <a:xfrm>
            <a:off x="5410200" y="2181225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N、Vy、Vz、T、My、Mz</a:t>
            </a:r>
          </a:p>
        </p:txBody>
      </p:sp>
      <p:sp>
        <p:nvSpPr>
          <p:cNvPr id="35" name="实体向下箭头0">
            <a:extLst>
              <a:ext uri="{FF2B5EF4-FFF2-40B4-BE49-F238E27FC236}">
                <a16:creationId xmlns:a16="http://schemas.microsoft.com/office/drawing/2014/main" id="{88DB5B61-F604-4F9F-A2EA-ABF710E24C72}"/>
              </a:ext>
            </a:extLst>
          </p:cNvPr>
          <p:cNvSpPr>
            <a:spLocks noGrp="1"/>
          </p:cNvSpPr>
          <p:nvPr/>
        </p:nvSpPr>
        <p:spPr>
          <a:xfrm>
            <a:off x="8286750" y="2609850"/>
            <a:ext cx="247650" cy="133350"/>
          </a:xfrm>
          <a:prstGeom prst="down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36" name="实体步骤1">
            <a:extLst>
              <a:ext uri="{FF2B5EF4-FFF2-40B4-BE49-F238E27FC236}">
                <a16:creationId xmlns:a16="http://schemas.microsoft.com/office/drawing/2014/main" id="{881E9F92-A2CF-4A23-96B4-38271F06CDF3}"/>
              </a:ext>
            </a:extLst>
          </p:cNvPr>
          <p:cNvSpPr>
            <a:spLocks noGrp="1"/>
          </p:cNvSpPr>
          <p:nvPr/>
        </p:nvSpPr>
        <p:spPr>
          <a:xfrm>
            <a:off x="5276850" y="2743200"/>
            <a:ext cx="6457950" cy="8667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7" name="实体步骤1标题">
            <a:extLst>
              <a:ext uri="{FF2B5EF4-FFF2-40B4-BE49-F238E27FC236}">
                <a16:creationId xmlns:a16="http://schemas.microsoft.com/office/drawing/2014/main" id="{7B2D6567-D36C-43C6-A45C-93F3CE7C82A4}"/>
              </a:ext>
            </a:extLst>
          </p:cNvPr>
          <p:cNvSpPr>
            <a:spLocks noGrp="1"/>
          </p:cNvSpPr>
          <p:nvPr/>
        </p:nvSpPr>
        <p:spPr>
          <a:xfrm>
            <a:off x="5276850" y="2743200"/>
            <a:ext cx="64579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8" name="实体步骤1标题文字">
            <a:extLst>
              <a:ext uri="{FF2B5EF4-FFF2-40B4-BE49-F238E27FC236}">
                <a16:creationId xmlns:a16="http://schemas.microsoft.com/office/drawing/2014/main" id="{4297AFF0-139F-4618-A5CB-36A1BDF83C58}"/>
              </a:ext>
            </a:extLst>
          </p:cNvPr>
          <p:cNvSpPr>
            <a:spLocks noGrp="1"/>
          </p:cNvSpPr>
          <p:nvPr/>
        </p:nvSpPr>
        <p:spPr>
          <a:xfrm>
            <a:off x="5353050" y="2762250"/>
            <a:ext cx="6305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圆截面局部几何</a:t>
            </a:r>
          </a:p>
        </p:txBody>
      </p:sp>
      <p:sp>
        <p:nvSpPr>
          <p:cNvPr id="39" name="实体步骤1说明">
            <a:extLst>
              <a:ext uri="{FF2B5EF4-FFF2-40B4-BE49-F238E27FC236}">
                <a16:creationId xmlns:a16="http://schemas.microsoft.com/office/drawing/2014/main" id="{5D08DAC9-86AE-42E7-9DA2-21AF493FBCD7}"/>
              </a:ext>
            </a:extLst>
          </p:cNvPr>
          <p:cNvSpPr>
            <a:spLocks noGrp="1"/>
          </p:cNvSpPr>
          <p:nvPr/>
        </p:nvSpPr>
        <p:spPr>
          <a:xfrm>
            <a:off x="5410200" y="3190875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D100实心圆；两臂各200 mm</a:t>
            </a:r>
          </a:p>
        </p:txBody>
      </p:sp>
      <p:sp>
        <p:nvSpPr>
          <p:cNvPr id="40" name="实体向下箭头1">
            <a:extLst>
              <a:ext uri="{FF2B5EF4-FFF2-40B4-BE49-F238E27FC236}">
                <a16:creationId xmlns:a16="http://schemas.microsoft.com/office/drawing/2014/main" id="{9D497DB6-FB9E-4075-BCDD-1B9464D4301C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47650" cy="133350"/>
          </a:xfrm>
          <a:prstGeom prst="down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41" name="实体步骤2">
            <a:extLst>
              <a:ext uri="{FF2B5EF4-FFF2-40B4-BE49-F238E27FC236}">
                <a16:creationId xmlns:a16="http://schemas.microsoft.com/office/drawing/2014/main" id="{656D16CB-9FA1-4EFE-9FC3-8E7FD72FFFC7}"/>
              </a:ext>
            </a:extLst>
          </p:cNvPr>
          <p:cNvSpPr>
            <a:spLocks noGrp="1"/>
          </p:cNvSpPr>
          <p:nvPr/>
        </p:nvSpPr>
        <p:spPr>
          <a:xfrm>
            <a:off x="5276850" y="3752850"/>
            <a:ext cx="6457950" cy="8667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42" name="实体步骤2标题">
            <a:extLst>
              <a:ext uri="{FF2B5EF4-FFF2-40B4-BE49-F238E27FC236}">
                <a16:creationId xmlns:a16="http://schemas.microsoft.com/office/drawing/2014/main" id="{CA4B164D-7C7F-4DEF-A127-6BF4E1F21693}"/>
              </a:ext>
            </a:extLst>
          </p:cNvPr>
          <p:cNvSpPr>
            <a:spLocks noGrp="1"/>
          </p:cNvSpPr>
          <p:nvPr/>
        </p:nvSpPr>
        <p:spPr>
          <a:xfrm>
            <a:off x="5276850" y="3752850"/>
            <a:ext cx="64579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3" name="实体步骤2标题文字">
            <a:extLst>
              <a:ext uri="{FF2B5EF4-FFF2-40B4-BE49-F238E27FC236}">
                <a16:creationId xmlns:a16="http://schemas.microsoft.com/office/drawing/2014/main" id="{3AB49B23-6985-438D-8BAD-D62F50F62517}"/>
              </a:ext>
            </a:extLst>
          </p:cNvPr>
          <p:cNvSpPr>
            <a:spLocks noGrp="1"/>
          </p:cNvSpPr>
          <p:nvPr/>
        </p:nvSpPr>
        <p:spPr>
          <a:xfrm>
            <a:off x="5353050" y="3771900"/>
            <a:ext cx="6305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Gmsh实体网格</a:t>
            </a:r>
          </a:p>
        </p:txBody>
      </p:sp>
      <p:sp>
        <p:nvSpPr>
          <p:cNvPr id="44" name="实体步骤2说明">
            <a:extLst>
              <a:ext uri="{FF2B5EF4-FFF2-40B4-BE49-F238E27FC236}">
                <a16:creationId xmlns:a16="http://schemas.microsoft.com/office/drawing/2014/main" id="{F95CC9A8-FBAD-4B4D-BFBF-8646722FD797}"/>
              </a:ext>
            </a:extLst>
          </p:cNvPr>
          <p:cNvSpPr>
            <a:spLocks noGrp="1"/>
          </p:cNvSpPr>
          <p:nvPr/>
        </p:nvSpPr>
        <p:spPr>
          <a:xfrm>
            <a:off x="5410200" y="4200525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二次四面体C3D10</a:t>
            </a:r>
          </a:p>
        </p:txBody>
      </p:sp>
      <p:sp>
        <p:nvSpPr>
          <p:cNvPr id="45" name="实体向下箭头2">
            <a:extLst>
              <a:ext uri="{FF2B5EF4-FFF2-40B4-BE49-F238E27FC236}">
                <a16:creationId xmlns:a16="http://schemas.microsoft.com/office/drawing/2014/main" id="{4ABFD8CB-CDCC-4EE3-A7F0-532908F70702}"/>
              </a:ext>
            </a:extLst>
          </p:cNvPr>
          <p:cNvSpPr>
            <a:spLocks noGrp="1"/>
          </p:cNvSpPr>
          <p:nvPr/>
        </p:nvSpPr>
        <p:spPr>
          <a:xfrm>
            <a:off x="8286750" y="4629150"/>
            <a:ext cx="247650" cy="133350"/>
          </a:xfrm>
          <a:prstGeom prst="down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46" name="实体步骤3">
            <a:extLst>
              <a:ext uri="{FF2B5EF4-FFF2-40B4-BE49-F238E27FC236}">
                <a16:creationId xmlns:a16="http://schemas.microsoft.com/office/drawing/2014/main" id="{318D989E-57FE-41F5-A131-5C73D81867A0}"/>
              </a:ext>
            </a:extLst>
          </p:cNvPr>
          <p:cNvSpPr>
            <a:spLocks noGrp="1"/>
          </p:cNvSpPr>
          <p:nvPr/>
        </p:nvSpPr>
        <p:spPr>
          <a:xfrm>
            <a:off x="5276850" y="4762500"/>
            <a:ext cx="6457950" cy="86677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47" name="实体步骤3标题">
            <a:extLst>
              <a:ext uri="{FF2B5EF4-FFF2-40B4-BE49-F238E27FC236}">
                <a16:creationId xmlns:a16="http://schemas.microsoft.com/office/drawing/2014/main" id="{6AEAB701-1704-4B4D-B7A9-DB07A08EA3EF}"/>
              </a:ext>
            </a:extLst>
          </p:cNvPr>
          <p:cNvSpPr>
            <a:spLocks noGrp="1"/>
          </p:cNvSpPr>
          <p:nvPr/>
        </p:nvSpPr>
        <p:spPr>
          <a:xfrm>
            <a:off x="5276850" y="4762500"/>
            <a:ext cx="64579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8" name="实体步骤3标题文字">
            <a:extLst>
              <a:ext uri="{FF2B5EF4-FFF2-40B4-BE49-F238E27FC236}">
                <a16:creationId xmlns:a16="http://schemas.microsoft.com/office/drawing/2014/main" id="{ECD81620-7304-4AC2-B12D-B71B0F4103E5}"/>
              </a:ext>
            </a:extLst>
          </p:cNvPr>
          <p:cNvSpPr>
            <a:spLocks noGrp="1"/>
          </p:cNvSpPr>
          <p:nvPr/>
        </p:nvSpPr>
        <p:spPr>
          <a:xfrm>
            <a:off x="5353050" y="4781550"/>
            <a:ext cx="6305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自研线弹性求解</a:t>
            </a:r>
          </a:p>
        </p:txBody>
      </p:sp>
      <p:sp>
        <p:nvSpPr>
          <p:cNvPr id="49" name="实体步骤3说明">
            <a:extLst>
              <a:ext uri="{FF2B5EF4-FFF2-40B4-BE49-F238E27FC236}">
                <a16:creationId xmlns:a16="http://schemas.microsoft.com/office/drawing/2014/main" id="{65EF08FB-79C4-4F54-ACD0-D1B825ED8B02}"/>
              </a:ext>
            </a:extLst>
          </p:cNvPr>
          <p:cNvSpPr>
            <a:spLocks noGrp="1"/>
          </p:cNvSpPr>
          <p:nvPr/>
        </p:nvSpPr>
        <p:spPr>
          <a:xfrm>
            <a:off x="5410200" y="5210175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截面力等效加载、约束处理与应力恢复</a:t>
            </a:r>
          </a:p>
        </p:txBody>
      </p:sp>
      <p:sp>
        <p:nvSpPr>
          <p:cNvPr id="50" name="节点荷载告警">
            <a:extLst>
              <a:ext uri="{FF2B5EF4-FFF2-40B4-BE49-F238E27FC236}">
                <a16:creationId xmlns:a16="http://schemas.microsoft.com/office/drawing/2014/main" id="{8FD2D765-4112-44E9-B67D-EE5AF85A7FED}"/>
              </a:ext>
            </a:extLst>
          </p:cNvPr>
          <p:cNvSpPr>
            <a:spLocks noGrp="1"/>
          </p:cNvSpPr>
          <p:nvPr/>
        </p:nvSpPr>
        <p:spPr>
          <a:xfrm>
            <a:off x="5276850" y="5876925"/>
            <a:ext cx="645795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dash"/>
          </a:ln>
        </p:spPr>
      </p:sp>
      <p:sp>
        <p:nvSpPr>
          <p:cNvPr id="51" name="加载几何限制">
            <a:extLst>
              <a:ext uri="{FF2B5EF4-FFF2-40B4-BE49-F238E27FC236}">
                <a16:creationId xmlns:a16="http://schemas.microsoft.com/office/drawing/2014/main" id="{9D779C49-AF1C-4209-8E50-2B8995490682}"/>
              </a:ext>
            </a:extLst>
          </p:cNvPr>
          <p:cNvSpPr>
            <a:spLocks noGrp="1"/>
          </p:cNvSpPr>
          <p:nvPr/>
        </p:nvSpPr>
        <p:spPr>
          <a:xfrm>
            <a:off x="5410200" y="5943600"/>
            <a:ext cx="6191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节点3直接荷载：未建加载头几何，局部传递假设需复核</a:t>
            </a:r>
          </a:p>
        </p:txBody>
      </p:sp>
    </p:spTree>
    <p:extLst>
      <p:ext uri="{BB962C8B-B14F-4D97-AF65-F5344CB8AC3E}">
        <p14:creationId xmlns:p14="http://schemas.microsoft.com/office/powerpoint/2010/main" val="594502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E12D5BE-6D7D-46C6-ACC6-B519BD92D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02B5CD88-D364-4F05-8440-BD12123EB6BD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三、节点3实体实例：网格与应力结果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00468051-C405-4669-BFB6-B83A8967E580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同一图IV-5 / 节点3 / 单档局部试算；完整Mises范围，MPa；变形倍数0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2FA6E269-A8B6-43AD-8510-4C45A58F4B83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91629E09-C330-4D56-9C5E-0E790D603559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已完成实体化、网格、求解和软件主视口展示，结论限定于当前试算</a:t>
            </a:r>
          </a:p>
        </p:txBody>
      </p:sp>
      <p:sp>
        <p:nvSpPr>
          <p:cNvPr id="28" name="节点网格标题">
            <a:extLst>
              <a:ext uri="{FF2B5EF4-FFF2-40B4-BE49-F238E27FC236}">
                <a16:creationId xmlns:a16="http://schemas.microsoft.com/office/drawing/2014/main" id="{C03437E9-9193-43AC-9DE2-13153D7650FB}"/>
              </a:ext>
            </a:extLst>
          </p:cNvPr>
          <p:cNvSpPr>
            <a:spLocks noGrp="1"/>
          </p:cNvSpPr>
          <p:nvPr/>
        </p:nvSpPr>
        <p:spPr>
          <a:xfrm>
            <a:off x="457200" y="1724025"/>
            <a:ext cx="53530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29" name="节点网格标题文字">
            <a:extLst>
              <a:ext uri="{FF2B5EF4-FFF2-40B4-BE49-F238E27FC236}">
                <a16:creationId xmlns:a16="http://schemas.microsoft.com/office/drawing/2014/main" id="{F9A3D017-D8BA-4133-AF35-94812FA37C21}"/>
              </a:ext>
            </a:extLst>
          </p:cNvPr>
          <p:cNvSpPr>
            <a:spLocks noGrp="1"/>
          </p:cNvSpPr>
          <p:nvPr/>
        </p:nvSpPr>
        <p:spPr>
          <a:xfrm>
            <a:off x="533400" y="1743075"/>
            <a:ext cx="5200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Gmsh网格 / C3D10</a:t>
            </a:r>
          </a:p>
        </p:txBody>
      </p:sp>
      <p:sp>
        <p:nvSpPr>
          <p:cNvPr id="30" name="节点应力标题">
            <a:extLst>
              <a:ext uri="{FF2B5EF4-FFF2-40B4-BE49-F238E27FC236}">
                <a16:creationId xmlns:a16="http://schemas.microsoft.com/office/drawing/2014/main" id="{AF0BAB53-A180-4F51-99B6-282DA9D86FE4}"/>
              </a:ext>
            </a:extLst>
          </p:cNvPr>
          <p:cNvSpPr>
            <a:spLocks noGrp="1"/>
          </p:cNvSpPr>
          <p:nvPr/>
        </p:nvSpPr>
        <p:spPr>
          <a:xfrm>
            <a:off x="6191250" y="1724025"/>
            <a:ext cx="55435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1" name="节点应力标题文字">
            <a:extLst>
              <a:ext uri="{FF2B5EF4-FFF2-40B4-BE49-F238E27FC236}">
                <a16:creationId xmlns:a16="http://schemas.microsoft.com/office/drawing/2014/main" id="{5FBFF0A2-6457-48F0-B66B-1F55A1BBFC10}"/>
              </a:ext>
            </a:extLst>
          </p:cNvPr>
          <p:cNvSpPr>
            <a:spLocks noGrp="1"/>
          </p:cNvSpPr>
          <p:nvPr/>
        </p:nvSpPr>
        <p:spPr>
          <a:xfrm>
            <a:off x="6267450" y="1743075"/>
            <a:ext cx="539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Mises应力 / MPa / 完整范围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596B257B-5768-4103-A7F5-73479DBB6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961" y="2266950"/>
            <a:ext cx="5351528" cy="306705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25616A15-F5E9-41CD-BAA4-1F590C443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87261" y="2266950"/>
            <a:ext cx="5351528" cy="3067050"/>
          </a:xfrm>
          <a:prstGeom prst="rect">
            <a:avLst/>
          </a:prstGeom>
        </p:spPr>
      </p:pic>
      <p:sp>
        <p:nvSpPr>
          <p:cNvPr id="34" name="网格实际规模">
            <a:extLst>
              <a:ext uri="{FF2B5EF4-FFF2-40B4-BE49-F238E27FC236}">
                <a16:creationId xmlns:a16="http://schemas.microsoft.com/office/drawing/2014/main" id="{8E85183D-FDB6-482E-AE73-51D184153534}"/>
              </a:ext>
            </a:extLst>
          </p:cNvPr>
          <p:cNvSpPr>
            <a:spLocks noGrp="1"/>
          </p:cNvSpPr>
          <p:nvPr/>
        </p:nvSpPr>
        <p:spPr>
          <a:xfrm>
            <a:off x="457200" y="5476875"/>
            <a:ext cx="53530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4415节点 / 2500单元</a:t>
            </a:r>
          </a:p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全局尺寸30 mm，局部尺寸12 mm</a:t>
            </a:r>
          </a:p>
        </p:txBody>
      </p:sp>
      <p:sp>
        <p:nvSpPr>
          <p:cNvPr id="35" name="实际峰值">
            <a:extLst>
              <a:ext uri="{FF2B5EF4-FFF2-40B4-BE49-F238E27FC236}">
                <a16:creationId xmlns:a16="http://schemas.microsoft.com/office/drawing/2014/main" id="{F356AFCC-CC80-4166-AADE-661DCBED0E20}"/>
              </a:ext>
            </a:extLst>
          </p:cNvPr>
          <p:cNvSpPr>
            <a:spLocks noGrp="1"/>
          </p:cNvSpPr>
          <p:nvPr/>
        </p:nvSpPr>
        <p:spPr>
          <a:xfrm>
            <a:off x="6191250" y="5476875"/>
            <a:ext cx="55435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Mises峰值 30.0784 MPa</a:t>
            </a:r>
          </a:p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自由自由度残差约4.97×10⁻⁹ N</a:t>
            </a:r>
          </a:p>
        </p:txBody>
      </p:sp>
      <p:sp>
        <p:nvSpPr>
          <p:cNvPr id="36" name="实体结论边界">
            <a:extLst>
              <a:ext uri="{FF2B5EF4-FFF2-40B4-BE49-F238E27FC236}">
                <a16:creationId xmlns:a16="http://schemas.microsoft.com/office/drawing/2014/main" id="{9446B022-2923-44A2-ADA7-9D16BC46E0B2}"/>
              </a:ext>
            </a:extLst>
          </p:cNvPr>
          <p:cNvSpPr>
            <a:spLocks noGrp="1"/>
          </p:cNvSpPr>
          <p:nvPr/>
        </p:nvSpPr>
        <p:spPr>
          <a:xfrm>
            <a:off x="457200" y="6124575"/>
            <a:ext cx="11277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7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尚无三档网格收敛和教材局部应力对照；本次不报告正式Kt</a:t>
            </a:r>
          </a:p>
        </p:txBody>
      </p:sp>
    </p:spTree>
    <p:extLst>
      <p:ext uri="{BB962C8B-B14F-4D97-AF65-F5344CB8AC3E}">
        <p14:creationId xmlns:p14="http://schemas.microsoft.com/office/powerpoint/2010/main" val="1420079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FEA76A3-E84D-4EBA-A4CD-92FC48AE1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F29359E7-2CE7-45F2-9068-BD77B96D1728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三、实例验证边界与已完成规模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D64AF7A9-F691-4849-86C6-BBA8344E879F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验证分别对应Agent任务、整体力学与局部试算；规模数据注明日期，不等同识别准确率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6E95E76A-7C70-40D1-B3E1-677F9776E057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7988F7C0-06CA-430E-BA48-EBC22B651F6C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同一算例贯通整体与局部流程，各层成果按证据分别评价</a:t>
            </a:r>
          </a:p>
        </p:txBody>
      </p:sp>
      <p:sp>
        <p:nvSpPr>
          <p:cNvPr id="28" name="整体对照结论">
            <a:extLst>
              <a:ext uri="{FF2B5EF4-FFF2-40B4-BE49-F238E27FC236}">
                <a16:creationId xmlns:a16="http://schemas.microsoft.com/office/drawing/2014/main" id="{CE6E834B-9DC0-4DB2-AFA8-A0B8385D9E1F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5372100" cy="14097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29" name="整体对照结论标题">
            <a:extLst>
              <a:ext uri="{FF2B5EF4-FFF2-40B4-BE49-F238E27FC236}">
                <a16:creationId xmlns:a16="http://schemas.microsoft.com/office/drawing/2014/main" id="{73ED615A-CF39-443E-9321-02FF89171DE5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537210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0" name="整体对照结论标题文字">
            <a:extLst>
              <a:ext uri="{FF2B5EF4-FFF2-40B4-BE49-F238E27FC236}">
                <a16:creationId xmlns:a16="http://schemas.microsoft.com/office/drawing/2014/main" id="{888D707A-50D4-4112-8F43-776913D5C105}"/>
              </a:ext>
            </a:extLst>
          </p:cNvPr>
          <p:cNvSpPr>
            <a:spLocks noGrp="1"/>
          </p:cNvSpPr>
          <p:nvPr/>
        </p:nvSpPr>
        <p:spPr>
          <a:xfrm>
            <a:off x="533400" y="1733550"/>
            <a:ext cx="521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整体数值对照</a:t>
            </a:r>
          </a:p>
        </p:txBody>
      </p:sp>
      <p:sp>
        <p:nvSpPr>
          <p:cNvPr id="31" name="整体对照结论说明">
            <a:extLst>
              <a:ext uri="{FF2B5EF4-FFF2-40B4-BE49-F238E27FC236}">
                <a16:creationId xmlns:a16="http://schemas.microsoft.com/office/drawing/2014/main" id="{D58EABE2-2557-4358-82A3-15C054364DF5}"/>
              </a:ext>
            </a:extLst>
          </p:cNvPr>
          <p:cNvSpPr>
            <a:spLocks noGrp="1"/>
          </p:cNvSpPr>
          <p:nvPr/>
        </p:nvSpPr>
        <p:spPr>
          <a:xfrm>
            <a:off x="590550" y="2162175"/>
            <a:ext cx="51054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图IV-5节点3、4全局位移接近教材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内力方向 / 正号仍需教材定义</a:t>
            </a:r>
          </a:p>
        </p:txBody>
      </p:sp>
      <p:sp>
        <p:nvSpPr>
          <p:cNvPr id="32" name="局部结论">
            <a:extLst>
              <a:ext uri="{FF2B5EF4-FFF2-40B4-BE49-F238E27FC236}">
                <a16:creationId xmlns:a16="http://schemas.microsoft.com/office/drawing/2014/main" id="{E72E534D-27C5-46A6-85DA-B141BB8162DB}"/>
              </a:ext>
            </a:extLst>
          </p:cNvPr>
          <p:cNvSpPr>
            <a:spLocks noGrp="1"/>
          </p:cNvSpPr>
          <p:nvPr/>
        </p:nvSpPr>
        <p:spPr>
          <a:xfrm>
            <a:off x="6267450" y="1714500"/>
            <a:ext cx="5467350" cy="1409700"/>
          </a:xfrm>
          <a:prstGeom prst="rect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dash"/>
          </a:ln>
        </p:spPr>
      </p:sp>
      <p:sp>
        <p:nvSpPr>
          <p:cNvPr id="33" name="局部结论标题">
            <a:extLst>
              <a:ext uri="{FF2B5EF4-FFF2-40B4-BE49-F238E27FC236}">
                <a16:creationId xmlns:a16="http://schemas.microsoft.com/office/drawing/2014/main" id="{19C55B9D-EAF9-4C54-BCC7-FB48F58CA034}"/>
              </a:ext>
            </a:extLst>
          </p:cNvPr>
          <p:cNvSpPr>
            <a:spLocks noGrp="1"/>
          </p:cNvSpPr>
          <p:nvPr/>
        </p:nvSpPr>
        <p:spPr>
          <a:xfrm>
            <a:off x="6267450" y="1714500"/>
            <a:ext cx="54673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4" name="局部结论标题文字">
            <a:extLst>
              <a:ext uri="{FF2B5EF4-FFF2-40B4-BE49-F238E27FC236}">
                <a16:creationId xmlns:a16="http://schemas.microsoft.com/office/drawing/2014/main" id="{92B756EF-A96C-4F8E-95EF-A9DDBB0709BB}"/>
              </a:ext>
            </a:extLst>
          </p:cNvPr>
          <p:cNvSpPr>
            <a:spLocks noGrp="1"/>
          </p:cNvSpPr>
          <p:nvPr/>
        </p:nvSpPr>
        <p:spPr>
          <a:xfrm>
            <a:off x="6343650" y="1733550"/>
            <a:ext cx="5314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局部流程实现</a:t>
            </a:r>
          </a:p>
        </p:txBody>
      </p:sp>
      <p:sp>
        <p:nvSpPr>
          <p:cNvPr id="35" name="局部结论说明">
            <a:extLst>
              <a:ext uri="{FF2B5EF4-FFF2-40B4-BE49-F238E27FC236}">
                <a16:creationId xmlns:a16="http://schemas.microsoft.com/office/drawing/2014/main" id="{2D3C1065-93C0-474F-A2EE-FEFED2381E35}"/>
              </a:ext>
            </a:extLst>
          </p:cNvPr>
          <p:cNvSpPr>
            <a:spLocks noGrp="1"/>
          </p:cNvSpPr>
          <p:nvPr/>
        </p:nvSpPr>
        <p:spPr>
          <a:xfrm>
            <a:off x="6400800" y="2162175"/>
            <a:ext cx="520065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同一节点3实体网格与Mises已展示</a:t>
            </a:r>
          </a:p>
          <a:p>
            <a:pPr algn="ctr">
              <a:defRPr sz="19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收敛、切口敏感性与独立对标待做</a:t>
            </a:r>
          </a:p>
        </p:txBody>
      </p:sp>
      <p:sp>
        <p:nvSpPr>
          <p:cNvPr id="36" name="开发模块分组">
            <a:extLst>
              <a:ext uri="{FF2B5EF4-FFF2-40B4-BE49-F238E27FC236}">
                <a16:creationId xmlns:a16="http://schemas.microsoft.com/office/drawing/2014/main" id="{E340D7F9-C835-430E-94D9-0707B9D9BA64}"/>
              </a:ext>
            </a:extLst>
          </p:cNvPr>
          <p:cNvSpPr>
            <a:spLocks noGrp="1"/>
          </p:cNvSpPr>
          <p:nvPr/>
        </p:nvSpPr>
        <p:spPr>
          <a:xfrm>
            <a:off x="457200" y="3457575"/>
            <a:ext cx="11277600" cy="12573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dash"/>
          </a:ln>
        </p:spPr>
      </p:sp>
      <p:sp>
        <p:nvSpPr>
          <p:cNvPr id="37" name="开发模块0">
            <a:extLst>
              <a:ext uri="{FF2B5EF4-FFF2-40B4-BE49-F238E27FC236}">
                <a16:creationId xmlns:a16="http://schemas.microsoft.com/office/drawing/2014/main" id="{886FAC17-719B-43B5-A3B7-3D2964EDAC28}"/>
              </a:ext>
            </a:extLst>
          </p:cNvPr>
          <p:cNvSpPr>
            <a:spLocks noGrp="1"/>
          </p:cNvSpPr>
          <p:nvPr/>
        </p:nvSpPr>
        <p:spPr>
          <a:xfrm>
            <a:off x="657225" y="3590925"/>
            <a:ext cx="3495675" cy="38100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8" name="开发模块0文字">
            <a:extLst>
              <a:ext uri="{FF2B5EF4-FFF2-40B4-BE49-F238E27FC236}">
                <a16:creationId xmlns:a16="http://schemas.microsoft.com/office/drawing/2014/main" id="{BD756791-0921-4FA7-89DB-27063A08D471}"/>
              </a:ext>
            </a:extLst>
          </p:cNvPr>
          <p:cNvSpPr>
            <a:spLocks noGrp="1"/>
          </p:cNvSpPr>
          <p:nvPr/>
        </p:nvSpPr>
        <p:spPr>
          <a:xfrm>
            <a:off x="733425" y="3609975"/>
            <a:ext cx="33432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力学内核</a:t>
            </a:r>
          </a:p>
        </p:txBody>
      </p:sp>
      <p:sp>
        <p:nvSpPr>
          <p:cNvPr id="39" name="开发模块1">
            <a:extLst>
              <a:ext uri="{FF2B5EF4-FFF2-40B4-BE49-F238E27FC236}">
                <a16:creationId xmlns:a16="http://schemas.microsoft.com/office/drawing/2014/main" id="{45EBBACA-F66A-43D4-AF64-4C8519F8B338}"/>
              </a:ext>
            </a:extLst>
          </p:cNvPr>
          <p:cNvSpPr>
            <a:spLocks noGrp="1"/>
          </p:cNvSpPr>
          <p:nvPr/>
        </p:nvSpPr>
        <p:spPr>
          <a:xfrm>
            <a:off x="4438650" y="3590925"/>
            <a:ext cx="3495675" cy="38100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0" name="开发模块1文字">
            <a:extLst>
              <a:ext uri="{FF2B5EF4-FFF2-40B4-BE49-F238E27FC236}">
                <a16:creationId xmlns:a16="http://schemas.microsoft.com/office/drawing/2014/main" id="{FD3CA47C-70A7-45CC-958C-695BF3008C54}"/>
              </a:ext>
            </a:extLst>
          </p:cNvPr>
          <p:cNvSpPr>
            <a:spLocks noGrp="1"/>
          </p:cNvSpPr>
          <p:nvPr/>
        </p:nvSpPr>
        <p:spPr>
          <a:xfrm>
            <a:off x="4514850" y="3609975"/>
            <a:ext cx="33432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Agent工具</a:t>
            </a:r>
          </a:p>
        </p:txBody>
      </p:sp>
      <p:sp>
        <p:nvSpPr>
          <p:cNvPr id="41" name="开发模块2">
            <a:extLst>
              <a:ext uri="{FF2B5EF4-FFF2-40B4-BE49-F238E27FC236}">
                <a16:creationId xmlns:a16="http://schemas.microsoft.com/office/drawing/2014/main" id="{E9365A1D-92FD-48F1-9B62-B63DCAD0C3B4}"/>
              </a:ext>
            </a:extLst>
          </p:cNvPr>
          <p:cNvSpPr>
            <a:spLocks noGrp="1"/>
          </p:cNvSpPr>
          <p:nvPr/>
        </p:nvSpPr>
        <p:spPr>
          <a:xfrm>
            <a:off x="8220075" y="3590925"/>
            <a:ext cx="3495675" cy="38100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2" name="开发模块2文字">
            <a:extLst>
              <a:ext uri="{FF2B5EF4-FFF2-40B4-BE49-F238E27FC236}">
                <a16:creationId xmlns:a16="http://schemas.microsoft.com/office/drawing/2014/main" id="{F765312F-F1FF-4983-A369-767BFD1331E3}"/>
              </a:ext>
            </a:extLst>
          </p:cNvPr>
          <p:cNvSpPr>
            <a:spLocks noGrp="1"/>
          </p:cNvSpPr>
          <p:nvPr/>
        </p:nvSpPr>
        <p:spPr>
          <a:xfrm>
            <a:off x="8296275" y="3609975"/>
            <a:ext cx="33432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桌面交互</a:t>
            </a:r>
          </a:p>
        </p:txBody>
      </p:sp>
      <p:sp>
        <p:nvSpPr>
          <p:cNvPr id="43" name="开发模块3">
            <a:extLst>
              <a:ext uri="{FF2B5EF4-FFF2-40B4-BE49-F238E27FC236}">
                <a16:creationId xmlns:a16="http://schemas.microsoft.com/office/drawing/2014/main" id="{CBC29791-0248-4552-A664-64FDAF72232B}"/>
              </a:ext>
            </a:extLst>
          </p:cNvPr>
          <p:cNvSpPr>
            <a:spLocks noGrp="1"/>
          </p:cNvSpPr>
          <p:nvPr/>
        </p:nvSpPr>
        <p:spPr>
          <a:xfrm>
            <a:off x="657225" y="4105275"/>
            <a:ext cx="3495675" cy="38100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4" name="开发模块3文字">
            <a:extLst>
              <a:ext uri="{FF2B5EF4-FFF2-40B4-BE49-F238E27FC236}">
                <a16:creationId xmlns:a16="http://schemas.microsoft.com/office/drawing/2014/main" id="{3309566F-EF42-4A8B-A09F-B511FE72105B}"/>
              </a:ext>
            </a:extLst>
          </p:cNvPr>
          <p:cNvSpPr>
            <a:spLocks noGrp="1"/>
          </p:cNvSpPr>
          <p:nvPr/>
        </p:nvSpPr>
        <p:spPr>
          <a:xfrm>
            <a:off x="733425" y="4124325"/>
            <a:ext cx="33432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 / 结果管理</a:t>
            </a:r>
          </a:p>
        </p:txBody>
      </p:sp>
      <p:sp>
        <p:nvSpPr>
          <p:cNvPr id="45" name="开发模块4">
            <a:extLst>
              <a:ext uri="{FF2B5EF4-FFF2-40B4-BE49-F238E27FC236}">
                <a16:creationId xmlns:a16="http://schemas.microsoft.com/office/drawing/2014/main" id="{528B376F-5B61-4757-B99C-08CD92237BB4}"/>
              </a:ext>
            </a:extLst>
          </p:cNvPr>
          <p:cNvSpPr>
            <a:spLocks noGrp="1"/>
          </p:cNvSpPr>
          <p:nvPr/>
        </p:nvSpPr>
        <p:spPr>
          <a:xfrm>
            <a:off x="4438650" y="4105275"/>
            <a:ext cx="3495675" cy="38100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6" name="开发模块4文字">
            <a:extLst>
              <a:ext uri="{FF2B5EF4-FFF2-40B4-BE49-F238E27FC236}">
                <a16:creationId xmlns:a16="http://schemas.microsoft.com/office/drawing/2014/main" id="{30DCA1D4-D17C-4279-B882-DD8EEBEED752}"/>
              </a:ext>
            </a:extLst>
          </p:cNvPr>
          <p:cNvSpPr>
            <a:spLocks noGrp="1"/>
          </p:cNvSpPr>
          <p:nvPr/>
        </p:nvSpPr>
        <p:spPr>
          <a:xfrm>
            <a:off x="4514850" y="4124325"/>
            <a:ext cx="33432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多模态审核</a:t>
            </a:r>
          </a:p>
        </p:txBody>
      </p:sp>
      <p:sp>
        <p:nvSpPr>
          <p:cNvPr id="47" name="开发模块5">
            <a:extLst>
              <a:ext uri="{FF2B5EF4-FFF2-40B4-BE49-F238E27FC236}">
                <a16:creationId xmlns:a16="http://schemas.microsoft.com/office/drawing/2014/main" id="{31F065A8-85AC-4280-B422-790C4B67228F}"/>
              </a:ext>
            </a:extLst>
          </p:cNvPr>
          <p:cNvSpPr>
            <a:spLocks noGrp="1"/>
          </p:cNvSpPr>
          <p:nvPr/>
        </p:nvSpPr>
        <p:spPr>
          <a:xfrm>
            <a:off x="8220075" y="4105275"/>
            <a:ext cx="3495675" cy="38100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8" name="开发模块5文字">
            <a:extLst>
              <a:ext uri="{FF2B5EF4-FFF2-40B4-BE49-F238E27FC236}">
                <a16:creationId xmlns:a16="http://schemas.microsoft.com/office/drawing/2014/main" id="{7D3BC10A-5FEB-4CB4-A4F0-42BBD178AB7E}"/>
              </a:ext>
            </a:extLst>
          </p:cNvPr>
          <p:cNvSpPr>
            <a:spLocks noGrp="1"/>
          </p:cNvSpPr>
          <p:nvPr/>
        </p:nvSpPr>
        <p:spPr>
          <a:xfrm>
            <a:off x="8296275" y="4124325"/>
            <a:ext cx="33432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 / 验证</a:t>
            </a:r>
          </a:p>
        </p:txBody>
      </p:sp>
      <p:sp>
        <p:nvSpPr>
          <p:cNvPr id="49" name="规模指标">
            <a:extLst>
              <a:ext uri="{FF2B5EF4-FFF2-40B4-BE49-F238E27FC236}">
                <a16:creationId xmlns:a16="http://schemas.microsoft.com/office/drawing/2014/main" id="{F5803F94-5505-4ACE-A225-4BB8410ECF11}"/>
              </a:ext>
            </a:extLst>
          </p:cNvPr>
          <p:cNvSpPr>
            <a:spLocks noGrp="1"/>
          </p:cNvSpPr>
          <p:nvPr/>
        </p:nvSpPr>
        <p:spPr>
          <a:xfrm>
            <a:off x="457200" y="4943475"/>
            <a:ext cx="11277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5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5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defRPr>
            </a:pPr>
            <a:r>
              <a:rPr sz="1750" b="1">
                <a:solidFill>
                  <a:srgbClr val="0075C9"/>
                </a:solidFill>
                <a:latin typeface="微软雅黑"/>
                <a:ea typeface="微软雅黑"/>
                <a:cs typeface="微软雅黑"/>
              </a:rPr>
              <a:t>2026-10-10：240 Python文件 · 63工具 · 28解析基准 · 完整回归2837通过 / 1环境跳过</a:t>
            </a:r>
          </a:p>
        </p:txBody>
      </p:sp>
      <p:sp>
        <p:nvSpPr>
          <p:cNvPr id="50" name="最新基线说明">
            <a:extLst>
              <a:ext uri="{FF2B5EF4-FFF2-40B4-BE49-F238E27FC236}">
                <a16:creationId xmlns:a16="http://schemas.microsoft.com/office/drawing/2014/main" id="{82604355-C1EC-4903-ACB0-A4F66FDD15DB}"/>
              </a:ext>
            </a:extLst>
          </p:cNvPr>
          <p:cNvSpPr>
            <a:spLocks noGrp="1"/>
          </p:cNvSpPr>
          <p:nvPr/>
        </p:nvSpPr>
        <p:spPr>
          <a:xfrm>
            <a:off x="457200" y="5419725"/>
            <a:ext cx="112776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5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55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55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10月11日坐标功能后最近完整回归：2872通过 / 1环境跳过；本轮仅做增量验证</a:t>
            </a:r>
          </a:p>
        </p:txBody>
      </p:sp>
      <p:sp>
        <p:nvSpPr>
          <p:cNvPr id="51" name="结论底框">
            <a:extLst>
              <a:ext uri="{FF2B5EF4-FFF2-40B4-BE49-F238E27FC236}">
                <a16:creationId xmlns:a16="http://schemas.microsoft.com/office/drawing/2014/main" id="{EDFC7E4C-ECD1-4D63-9826-99D0B7FAE30E}"/>
              </a:ext>
            </a:extLst>
          </p:cNvPr>
          <p:cNvSpPr>
            <a:spLocks noGrp="1"/>
          </p:cNvSpPr>
          <p:nvPr/>
        </p:nvSpPr>
        <p:spPr>
          <a:xfrm>
            <a:off x="457200" y="5953125"/>
            <a:ext cx="11277600" cy="419100"/>
          </a:xfrm>
          <a:prstGeom prst="rect">
            <a:avLst/>
          </a:prstGeom>
          <a:solidFill>
            <a:srgbClr val="F1F6FC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52" name="本页结论">
            <a:extLst>
              <a:ext uri="{FF2B5EF4-FFF2-40B4-BE49-F238E27FC236}">
                <a16:creationId xmlns:a16="http://schemas.microsoft.com/office/drawing/2014/main" id="{69A1F0AF-200B-49AA-ACAA-FDC949E207FA}"/>
              </a:ext>
            </a:extLst>
          </p:cNvPr>
          <p:cNvSpPr>
            <a:spLocks noGrp="1"/>
          </p:cNvSpPr>
          <p:nvPr/>
        </p:nvSpPr>
        <p:spPr>
          <a:xfrm>
            <a:off x="571500" y="59912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前期问题：缺失荷载曾默认补零 → 现保留空值、校验单位并阻断未确认导入</a:t>
            </a:r>
          </a:p>
        </p:txBody>
      </p:sp>
    </p:spTree>
    <p:extLst>
      <p:ext uri="{BB962C8B-B14F-4D97-AF65-F5344CB8AC3E}">
        <p14:creationId xmlns:p14="http://schemas.microsoft.com/office/powerpoint/2010/main" val="1956399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E73ED96-20DF-42EA-A025-14F8ADCD0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1502" y="99851"/>
            <a:ext cx="2197658" cy="575281"/>
          </a:xfrm>
          <a:prstGeom prst="rect">
            <a:avLst/>
          </a:prstGeom>
        </p:spPr>
      </p:pic>
      <p:sp>
        <p:nvSpPr>
          <p:cNvPr id="24" name="章节标题">
            <a:extLst>
              <a:ext uri="{FF2B5EF4-FFF2-40B4-BE49-F238E27FC236}">
                <a16:creationId xmlns:a16="http://schemas.microsoft.com/office/drawing/2014/main" id="{08425C96-7B3C-47AE-8AD5-FFA2C5C316EB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四、中期总结与后三周研究计划</a:t>
            </a:r>
          </a:p>
        </p:txBody>
      </p:sp>
      <p:sp>
        <p:nvSpPr>
          <p:cNvPr id="25" name="资料来源">
            <a:extLst>
              <a:ext uri="{FF2B5EF4-FFF2-40B4-BE49-F238E27FC236}">
                <a16:creationId xmlns:a16="http://schemas.microsoft.com/office/drawing/2014/main" id="{A117EC19-D6B9-4A74-A865-0F4D2313FD1F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已实现 / 已验证 / 实验性 / 计划分别表述；MMC仅为拟研究方向，尚未实现节点优化</a:t>
            </a:r>
          </a:p>
        </p:txBody>
      </p:sp>
      <p:sp>
        <p:nvSpPr>
          <p:cNvPr id="26" name="页码">
            <a:extLst>
              <a:ext uri="{FF2B5EF4-FFF2-40B4-BE49-F238E27FC236}">
                <a16:creationId xmlns:a16="http://schemas.microsoft.com/office/drawing/2014/main" id="{A7EA0946-FD35-47F1-936C-0606BE16A6DA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核心说明">
            <a:extLst>
              <a:ext uri="{FF2B5EF4-FFF2-40B4-BE49-F238E27FC236}">
                <a16:creationId xmlns:a16="http://schemas.microsoft.com/office/drawing/2014/main" id="{DF147C55-FD3B-4B56-B6FC-F1C36843CD2B}"/>
              </a:ext>
            </a:extLst>
          </p:cNvPr>
          <p:cNvSpPr>
            <a:spLocks noGrp="1"/>
          </p:cNvSpPr>
          <p:nvPr/>
        </p:nvSpPr>
        <p:spPr>
          <a:xfrm>
            <a:off x="457200" y="990600"/>
            <a:ext cx="11277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已有可运行、可复算、可追溯流程，后续围绕验证与交付完善</a:t>
            </a:r>
          </a:p>
        </p:txBody>
      </p:sp>
      <p:sp>
        <p:nvSpPr>
          <p:cNvPr id="28" name="计划周0">
            <a:extLst>
              <a:ext uri="{FF2B5EF4-FFF2-40B4-BE49-F238E27FC236}">
                <a16:creationId xmlns:a16="http://schemas.microsoft.com/office/drawing/2014/main" id="{7AE6608D-BA48-46C4-85BE-31C1D586ABC3}"/>
              </a:ext>
            </a:extLst>
          </p:cNvPr>
          <p:cNvSpPr>
            <a:spLocks noGrp="1"/>
          </p:cNvSpPr>
          <p:nvPr/>
        </p:nvSpPr>
        <p:spPr>
          <a:xfrm>
            <a:off x="457200" y="1724025"/>
            <a:ext cx="3562350" cy="390525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29" name="计划周0文字">
            <a:extLst>
              <a:ext uri="{FF2B5EF4-FFF2-40B4-BE49-F238E27FC236}">
                <a16:creationId xmlns:a16="http://schemas.microsoft.com/office/drawing/2014/main" id="{74B1C497-BFA4-43AF-8BB1-DA97AFE6982D}"/>
              </a:ext>
            </a:extLst>
          </p:cNvPr>
          <p:cNvSpPr>
            <a:spLocks noGrp="1"/>
          </p:cNvSpPr>
          <p:nvPr/>
        </p:nvSpPr>
        <p:spPr>
          <a:xfrm>
            <a:off x="533400" y="1743075"/>
            <a:ext cx="3409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sp>
        <p:nvSpPr>
          <p:cNvPr id="30" name="研究计划0">
            <a:extLst>
              <a:ext uri="{FF2B5EF4-FFF2-40B4-BE49-F238E27FC236}">
                <a16:creationId xmlns:a16="http://schemas.microsoft.com/office/drawing/2014/main" id="{756F00CC-DC6A-4DD0-9192-9E58AD92D2C0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3562350" cy="18383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1" name="研究计划0标题">
            <a:extLst>
              <a:ext uri="{FF2B5EF4-FFF2-40B4-BE49-F238E27FC236}">
                <a16:creationId xmlns:a16="http://schemas.microsoft.com/office/drawing/2014/main" id="{9E93F24E-5205-4B28-9F6E-08B43692BB8C}"/>
              </a:ext>
            </a:extLst>
          </p:cNvPr>
          <p:cNvSpPr>
            <a:spLocks noGrp="1"/>
          </p:cNvSpPr>
          <p:nvPr/>
        </p:nvSpPr>
        <p:spPr>
          <a:xfrm>
            <a:off x="457200" y="2343150"/>
            <a:ext cx="35623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2" name="研究计划0标题文字">
            <a:extLst>
              <a:ext uri="{FF2B5EF4-FFF2-40B4-BE49-F238E27FC236}">
                <a16:creationId xmlns:a16="http://schemas.microsoft.com/office/drawing/2014/main" id="{23A51B7D-343D-4393-90FA-3A652967B698}"/>
              </a:ext>
            </a:extLst>
          </p:cNvPr>
          <p:cNvSpPr>
            <a:spLocks noGrp="1"/>
          </p:cNvSpPr>
          <p:nvPr/>
        </p:nvSpPr>
        <p:spPr>
          <a:xfrm>
            <a:off x="533400" y="2362200"/>
            <a:ext cx="3409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冻结与交付验收</a:t>
            </a:r>
          </a:p>
        </p:txBody>
      </p:sp>
      <p:sp>
        <p:nvSpPr>
          <p:cNvPr id="33" name="研究计划0说明">
            <a:extLst>
              <a:ext uri="{FF2B5EF4-FFF2-40B4-BE49-F238E27FC236}">
                <a16:creationId xmlns:a16="http://schemas.microsoft.com/office/drawing/2014/main" id="{7A092047-BCE7-47F7-90F3-2C4E4F0A6C75}"/>
              </a:ext>
            </a:extLst>
          </p:cNvPr>
          <p:cNvSpPr>
            <a:spLocks noGrp="1"/>
          </p:cNvSpPr>
          <p:nvPr/>
        </p:nvSpPr>
        <p:spPr>
          <a:xfrm>
            <a:off x="590550" y="2790825"/>
            <a:ext cx="32956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修复明确缺陷、保存重开、显示与报告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固定版本，复现三段演示任务</a:t>
            </a:r>
          </a:p>
        </p:txBody>
      </p:sp>
      <p:sp>
        <p:nvSpPr>
          <p:cNvPr id="34" name="计划箭头0">
            <a:extLst>
              <a:ext uri="{FF2B5EF4-FFF2-40B4-BE49-F238E27FC236}">
                <a16:creationId xmlns:a16="http://schemas.microsoft.com/office/drawing/2014/main" id="{CFDE8F68-A8E0-4E5B-A60B-84B9802CD800}"/>
              </a:ext>
            </a:extLst>
          </p:cNvPr>
          <p:cNvSpPr>
            <a:spLocks noGrp="1"/>
          </p:cNvSpPr>
          <p:nvPr/>
        </p:nvSpPr>
        <p:spPr>
          <a:xfrm>
            <a:off x="4057650" y="3133725"/>
            <a:ext cx="228600" cy="257175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35" name="计划周1">
            <a:extLst>
              <a:ext uri="{FF2B5EF4-FFF2-40B4-BE49-F238E27FC236}">
                <a16:creationId xmlns:a16="http://schemas.microsoft.com/office/drawing/2014/main" id="{5B691439-1B54-4E54-8192-FDD357EA5024}"/>
              </a:ext>
            </a:extLst>
          </p:cNvPr>
          <p:cNvSpPr>
            <a:spLocks noGrp="1"/>
          </p:cNvSpPr>
          <p:nvPr/>
        </p:nvSpPr>
        <p:spPr>
          <a:xfrm>
            <a:off x="4314825" y="1724025"/>
            <a:ext cx="3562350" cy="390525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6" name="计划周1文字">
            <a:extLst>
              <a:ext uri="{FF2B5EF4-FFF2-40B4-BE49-F238E27FC236}">
                <a16:creationId xmlns:a16="http://schemas.microsoft.com/office/drawing/2014/main" id="{B23B62D2-88CE-4453-8C8B-EA2E71A3CCC8}"/>
              </a:ext>
            </a:extLst>
          </p:cNvPr>
          <p:cNvSpPr>
            <a:spLocks noGrp="1"/>
          </p:cNvSpPr>
          <p:nvPr/>
        </p:nvSpPr>
        <p:spPr>
          <a:xfrm>
            <a:off x="4391025" y="1743075"/>
            <a:ext cx="3409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</p:txBody>
      </p:sp>
      <p:sp>
        <p:nvSpPr>
          <p:cNvPr id="37" name="研究计划1">
            <a:extLst>
              <a:ext uri="{FF2B5EF4-FFF2-40B4-BE49-F238E27FC236}">
                <a16:creationId xmlns:a16="http://schemas.microsoft.com/office/drawing/2014/main" id="{8BBC7BA9-D354-4044-AB0C-761252D766B6}"/>
              </a:ext>
            </a:extLst>
          </p:cNvPr>
          <p:cNvSpPr>
            <a:spLocks noGrp="1"/>
          </p:cNvSpPr>
          <p:nvPr/>
        </p:nvSpPr>
        <p:spPr>
          <a:xfrm>
            <a:off x="4314825" y="2343150"/>
            <a:ext cx="3562350" cy="18383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38" name="研究计划1标题">
            <a:extLst>
              <a:ext uri="{FF2B5EF4-FFF2-40B4-BE49-F238E27FC236}">
                <a16:creationId xmlns:a16="http://schemas.microsoft.com/office/drawing/2014/main" id="{FCD40302-3767-4BF0-9AF7-62742451ECD4}"/>
              </a:ext>
            </a:extLst>
          </p:cNvPr>
          <p:cNvSpPr>
            <a:spLocks noGrp="1"/>
          </p:cNvSpPr>
          <p:nvPr/>
        </p:nvSpPr>
        <p:spPr>
          <a:xfrm>
            <a:off x="4314825" y="2343150"/>
            <a:ext cx="35623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39" name="研究计划1标题文字">
            <a:extLst>
              <a:ext uri="{FF2B5EF4-FFF2-40B4-BE49-F238E27FC236}">
                <a16:creationId xmlns:a16="http://schemas.microsoft.com/office/drawing/2014/main" id="{87541BFC-BAC2-4F17-8E04-4F10C217A4BE}"/>
              </a:ext>
            </a:extLst>
          </p:cNvPr>
          <p:cNvSpPr>
            <a:spLocks noGrp="1"/>
          </p:cNvSpPr>
          <p:nvPr/>
        </p:nvSpPr>
        <p:spPr>
          <a:xfrm>
            <a:off x="4391025" y="2362200"/>
            <a:ext cx="3409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Agent与图纸任务评测</a:t>
            </a:r>
          </a:p>
        </p:txBody>
      </p:sp>
      <p:sp>
        <p:nvSpPr>
          <p:cNvPr id="40" name="研究计划1说明">
            <a:extLst>
              <a:ext uri="{FF2B5EF4-FFF2-40B4-BE49-F238E27FC236}">
                <a16:creationId xmlns:a16="http://schemas.microsoft.com/office/drawing/2014/main" id="{7360D0E4-959F-4865-9DCF-0EF42061F719}"/>
              </a:ext>
            </a:extLst>
          </p:cNvPr>
          <p:cNvSpPr>
            <a:spLocks noGrp="1"/>
          </p:cNvSpPr>
          <p:nvPr/>
        </p:nvSpPr>
        <p:spPr>
          <a:xfrm>
            <a:off x="4448175" y="2790825"/>
            <a:ext cx="32956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许可明确、独立复核的留出任务 / 图纸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调用正确率、完整通过率、耗时与确认违规</a:t>
            </a:r>
          </a:p>
        </p:txBody>
      </p:sp>
      <p:sp>
        <p:nvSpPr>
          <p:cNvPr id="41" name="计划箭头1">
            <a:extLst>
              <a:ext uri="{FF2B5EF4-FFF2-40B4-BE49-F238E27FC236}">
                <a16:creationId xmlns:a16="http://schemas.microsoft.com/office/drawing/2014/main" id="{E27E28FD-CFF5-4359-B949-71B1EC9C0E47}"/>
              </a:ext>
            </a:extLst>
          </p:cNvPr>
          <p:cNvSpPr>
            <a:spLocks noGrp="1"/>
          </p:cNvSpPr>
          <p:nvPr/>
        </p:nvSpPr>
        <p:spPr>
          <a:xfrm>
            <a:off x="7915275" y="3133725"/>
            <a:ext cx="228600" cy="257175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42" name="计划周2">
            <a:extLst>
              <a:ext uri="{FF2B5EF4-FFF2-40B4-BE49-F238E27FC236}">
                <a16:creationId xmlns:a16="http://schemas.microsoft.com/office/drawing/2014/main" id="{6A57ABBC-E02C-4A9D-A85A-872168FC9D0B}"/>
              </a:ext>
            </a:extLst>
          </p:cNvPr>
          <p:cNvSpPr>
            <a:spLocks noGrp="1"/>
          </p:cNvSpPr>
          <p:nvPr/>
        </p:nvSpPr>
        <p:spPr>
          <a:xfrm>
            <a:off x="8172450" y="1724025"/>
            <a:ext cx="3562350" cy="390525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3" name="计划周2文字">
            <a:extLst>
              <a:ext uri="{FF2B5EF4-FFF2-40B4-BE49-F238E27FC236}">
                <a16:creationId xmlns:a16="http://schemas.microsoft.com/office/drawing/2014/main" id="{F08A0570-B0FD-4A53-B1AF-52D620948001}"/>
              </a:ext>
            </a:extLst>
          </p:cNvPr>
          <p:cNvSpPr>
            <a:spLocks noGrp="1"/>
          </p:cNvSpPr>
          <p:nvPr/>
        </p:nvSpPr>
        <p:spPr>
          <a:xfrm>
            <a:off x="8248650" y="1743075"/>
            <a:ext cx="34099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第3周</a:t>
            </a:r>
          </a:p>
        </p:txBody>
      </p:sp>
      <p:sp>
        <p:nvSpPr>
          <p:cNvPr id="44" name="研究计划2">
            <a:extLst>
              <a:ext uri="{FF2B5EF4-FFF2-40B4-BE49-F238E27FC236}">
                <a16:creationId xmlns:a16="http://schemas.microsoft.com/office/drawing/2014/main" id="{4B64F8BF-C95A-4DE6-8955-6CDC10FC913E}"/>
              </a:ext>
            </a:extLst>
          </p:cNvPr>
          <p:cNvSpPr>
            <a:spLocks noGrp="1"/>
          </p:cNvSpPr>
          <p:nvPr/>
        </p:nvSpPr>
        <p:spPr>
          <a:xfrm>
            <a:off x="8172450" y="2343150"/>
            <a:ext cx="3562350" cy="18383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45" name="研究计划2标题">
            <a:extLst>
              <a:ext uri="{FF2B5EF4-FFF2-40B4-BE49-F238E27FC236}">
                <a16:creationId xmlns:a16="http://schemas.microsoft.com/office/drawing/2014/main" id="{7078BB0A-4F1F-4624-A93A-F07F3EAA4255}"/>
              </a:ext>
            </a:extLst>
          </p:cNvPr>
          <p:cNvSpPr>
            <a:spLocks noGrp="1"/>
          </p:cNvSpPr>
          <p:nvPr/>
        </p:nvSpPr>
        <p:spPr>
          <a:xfrm>
            <a:off x="8172450" y="2343150"/>
            <a:ext cx="3562350" cy="361950"/>
          </a:xfrm>
          <a:prstGeom prst="rect">
            <a:avLst/>
          </a:prstGeom>
          <a:solidFill>
            <a:srgbClr val="092858"/>
          </a:solidFill>
          <a:ln w="14288">
            <a:solidFill>
              <a:srgbClr val="092858"/>
            </a:solidFill>
            <a:prstDash val="solid"/>
          </a:ln>
        </p:spPr>
      </p:sp>
      <p:sp>
        <p:nvSpPr>
          <p:cNvPr id="46" name="研究计划2标题文字">
            <a:extLst>
              <a:ext uri="{FF2B5EF4-FFF2-40B4-BE49-F238E27FC236}">
                <a16:creationId xmlns:a16="http://schemas.microsoft.com/office/drawing/2014/main" id="{59C0C101-F777-4693-B249-9688633FE617}"/>
              </a:ext>
            </a:extLst>
          </p:cNvPr>
          <p:cNvSpPr>
            <a:spLocks noGrp="1"/>
          </p:cNvSpPr>
          <p:nvPr/>
        </p:nvSpPr>
        <p:spPr>
          <a:xfrm>
            <a:off x="8248650" y="2362200"/>
            <a:ext cx="3409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局部应力独立验证</a:t>
            </a:r>
          </a:p>
        </p:txBody>
      </p:sp>
      <p:sp>
        <p:nvSpPr>
          <p:cNvPr id="47" name="研究计划2说明">
            <a:extLst>
              <a:ext uri="{FF2B5EF4-FFF2-40B4-BE49-F238E27FC236}">
                <a16:creationId xmlns:a16="http://schemas.microsoft.com/office/drawing/2014/main" id="{CA36C56C-AC03-45A0-B17F-8AC7C8EEF700}"/>
              </a:ext>
            </a:extLst>
          </p:cNvPr>
          <p:cNvSpPr>
            <a:spLocks noGrp="1"/>
          </p:cNvSpPr>
          <p:nvPr/>
        </p:nvSpPr>
        <p:spPr>
          <a:xfrm>
            <a:off x="8305800" y="2790825"/>
            <a:ext cx="32956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三档网格与切口敏感性，Abaqus对标</a:t>
            </a:r>
          </a:p>
          <a:p>
            <a:pPr algn="ctr">
              <a:def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热点定义、误差与适用范围</a:t>
            </a:r>
          </a:p>
        </p:txBody>
      </p:sp>
      <p:sp>
        <p:nvSpPr>
          <p:cNvPr id="48" name="MMC分组">
            <a:extLst>
              <a:ext uri="{FF2B5EF4-FFF2-40B4-BE49-F238E27FC236}">
                <a16:creationId xmlns:a16="http://schemas.microsoft.com/office/drawing/2014/main" id="{5ACC1B14-0A5C-4951-BF05-3CD38874AA5B}"/>
              </a:ext>
            </a:extLst>
          </p:cNvPr>
          <p:cNvSpPr>
            <a:spLocks noGrp="1"/>
          </p:cNvSpPr>
          <p:nvPr/>
        </p:nvSpPr>
        <p:spPr>
          <a:xfrm>
            <a:off x="457200" y="4543425"/>
            <a:ext cx="112776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C00000"/>
            </a:solidFill>
            <a:prstDash val="dash"/>
          </a:ln>
        </p:spPr>
      </p:sp>
      <p:sp>
        <p:nvSpPr>
          <p:cNvPr id="49" name="MMC研究题目">
            <a:extLst>
              <a:ext uri="{FF2B5EF4-FFF2-40B4-BE49-F238E27FC236}">
                <a16:creationId xmlns:a16="http://schemas.microsoft.com/office/drawing/2014/main" id="{647DAA5A-2FAD-4BA3-BD2F-A59B44E852DF}"/>
              </a:ext>
            </a:extLst>
          </p:cNvPr>
          <p:cNvSpPr>
            <a:spLocks noGrp="1"/>
          </p:cNvSpPr>
          <p:nvPr/>
        </p:nvSpPr>
        <p:spPr>
          <a:xfrm>
            <a:off x="628650" y="4629150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探索MMC节点建模 / 优化</a:t>
            </a:r>
          </a:p>
        </p:txBody>
      </p:sp>
      <p:sp>
        <p:nvSpPr>
          <p:cNvPr id="50" name="MMC研究路线">
            <a:extLst>
              <a:ext uri="{FF2B5EF4-FFF2-40B4-BE49-F238E27FC236}">
                <a16:creationId xmlns:a16="http://schemas.microsoft.com/office/drawing/2014/main" id="{049BFE54-68DB-4676-8129-06046E578EEF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9347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先确认MMC的具体定义与设计变量 → 设定目标、约束及独立基准</a:t>
            </a:r>
          </a:p>
          <a:p>
            <a:pPr algn="l">
              <a:defRPr sz="18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再开展参数化节点建模、灵敏度分析与优化试验</a:t>
            </a:r>
          </a:p>
        </p:txBody>
      </p:sp>
      <p:sp>
        <p:nvSpPr>
          <p:cNvPr id="51" name="结论底框">
            <a:extLst>
              <a:ext uri="{FF2B5EF4-FFF2-40B4-BE49-F238E27FC236}">
                <a16:creationId xmlns:a16="http://schemas.microsoft.com/office/drawing/2014/main" id="{E83BF8E7-BEF2-490F-A360-ADD5AE340800}"/>
              </a:ext>
            </a:extLst>
          </p:cNvPr>
          <p:cNvSpPr>
            <a:spLocks noGrp="1"/>
          </p:cNvSpPr>
          <p:nvPr/>
        </p:nvSpPr>
        <p:spPr>
          <a:xfrm>
            <a:off x="457200" y="5953125"/>
            <a:ext cx="11277600" cy="419100"/>
          </a:xfrm>
          <a:prstGeom prst="rect">
            <a:avLst/>
          </a:prstGeom>
          <a:solidFill>
            <a:srgbClr val="F1F6FC"/>
          </a:solidFill>
          <a:ln w="14288">
            <a:solidFill>
              <a:srgbClr val="0075C9"/>
            </a:solidFill>
            <a:prstDash val="solid"/>
          </a:ln>
        </p:spPr>
      </p:sp>
      <p:sp>
        <p:nvSpPr>
          <p:cNvPr id="52" name="本页结论">
            <a:extLst>
              <a:ext uri="{FF2B5EF4-FFF2-40B4-BE49-F238E27FC236}">
                <a16:creationId xmlns:a16="http://schemas.microsoft.com/office/drawing/2014/main" id="{809D0273-CFD2-4999-9270-08494E21B839}"/>
              </a:ext>
            </a:extLst>
          </p:cNvPr>
          <p:cNvSpPr>
            <a:spLocks noGrp="1"/>
          </p:cNvSpPr>
          <p:nvPr/>
        </p:nvSpPr>
        <p:spPr>
          <a:xfrm>
            <a:off x="571500" y="5991225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研究者负责力学假设与验收标准；AI辅助实现与诊断；独立验证决定结论</a:t>
            </a:r>
          </a:p>
        </p:txBody>
      </p:sp>
    </p:spTree>
    <p:extLst>
      <p:ext uri="{BB962C8B-B14F-4D97-AF65-F5344CB8AC3E}">
        <p14:creationId xmlns:p14="http://schemas.microsoft.com/office/powerpoint/2010/main" val="3679379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5E1ECAD9-8D97-4CFC-A2BB-418880F364E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8419" y="99849"/>
            <a:ext cx="2203824" cy="575281"/>
          </a:xfrm>
          <a:prstGeom prst="rect">
            <a:avLst/>
          </a:prstGeom>
          <a:ln>
            <a:noFill/>
          </a:ln>
        </p:spPr>
      </p:pic>
      <p:sp>
        <p:nvSpPr>
          <p:cNvPr id="33" name="章节标题">
            <a:extLst>
              <a:ext uri="{FF2B5EF4-FFF2-40B4-BE49-F238E27FC236}">
                <a16:creationId xmlns:a16="http://schemas.microsoft.com/office/drawing/2014/main" id="{24B4090C-3A0E-4C8B-BA14-EE268374908F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实机演示：屋盖求解与节点位移</a:t>
            </a:r>
          </a:p>
        </p:txBody>
      </p:sp>
      <p:sp>
        <p:nvSpPr>
          <p:cNvPr id="34" name="模型核对">
            <a:extLst>
              <a:ext uri="{FF2B5EF4-FFF2-40B4-BE49-F238E27FC236}">
                <a16:creationId xmlns:a16="http://schemas.microsoft.com/office/drawing/2014/main" id="{DFA0C92D-13D3-4E52-AD54-4795A1CB2792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3276600" cy="657225"/>
          </a:xfrm>
          <a:prstGeom prst="rect">
            <a:avLst/>
          </a:prstGeom>
          <a:solidFill>
            <a:srgbClr val="FFFFFF"/>
          </a:solidFill>
          <a:ln w="19050">
            <a:solidFill>
              <a:srgbClr val="0075C9"/>
            </a:solidFill>
          </a:ln>
        </p:spPr>
      </p:sp>
      <p:sp>
        <p:nvSpPr>
          <p:cNvPr id="35" name="模型核对文字">
            <a:extLst>
              <a:ext uri="{FF2B5EF4-FFF2-40B4-BE49-F238E27FC236}">
                <a16:creationId xmlns:a16="http://schemas.microsoft.com/office/drawing/2014/main" id="{2794DD60-E565-45BF-B88F-783F645EA334}"/>
              </a:ext>
            </a:extLst>
          </p:cNvPr>
          <p:cNvSpPr>
            <a:spLocks noGrp="1"/>
          </p:cNvSpPr>
          <p:nvPr/>
        </p:nvSpPr>
        <p:spPr>
          <a:xfrm>
            <a:off x="552450" y="1181100"/>
            <a:ext cx="30861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  观察模型（10秒）</a:t>
            </a:r>
          </a:p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239节点 / 622杆件</a:t>
            </a:r>
          </a:p>
        </p:txBody>
      </p:sp>
      <p:sp>
        <p:nvSpPr>
          <p:cNvPr id="36" name="操作顺序箭头">
            <a:extLst>
              <a:ext uri="{FF2B5EF4-FFF2-40B4-BE49-F238E27FC236}">
                <a16:creationId xmlns:a16="http://schemas.microsoft.com/office/drawing/2014/main" id="{86F5A824-62E1-4204-BFD1-859DC4D4D2D4}"/>
              </a:ext>
            </a:extLst>
          </p:cNvPr>
          <p:cNvSpPr>
            <a:spLocks noGrp="1"/>
          </p:cNvSpPr>
          <p:nvPr/>
        </p:nvSpPr>
        <p:spPr>
          <a:xfrm>
            <a:off x="3876675" y="1371600"/>
            <a:ext cx="361950" cy="219075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37" name="现场求解">
            <a:extLst>
              <a:ext uri="{FF2B5EF4-FFF2-40B4-BE49-F238E27FC236}">
                <a16:creationId xmlns:a16="http://schemas.microsoft.com/office/drawing/2014/main" id="{4A1310C5-493E-4D8E-A7EB-97813C6E3DFE}"/>
              </a:ext>
            </a:extLst>
          </p:cNvPr>
          <p:cNvSpPr>
            <a:spLocks noGrp="1"/>
          </p:cNvSpPr>
          <p:nvPr/>
        </p:nvSpPr>
        <p:spPr>
          <a:xfrm>
            <a:off x="4391025" y="1143000"/>
            <a:ext cx="3181350" cy="657225"/>
          </a:xfrm>
          <a:prstGeom prst="rect">
            <a:avLst/>
          </a:prstGeom>
          <a:solidFill>
            <a:srgbClr val="FFFFFF"/>
          </a:solidFill>
          <a:ln w="19050">
            <a:solidFill>
              <a:srgbClr val="0075C9"/>
            </a:solidFill>
          </a:ln>
        </p:spPr>
      </p:sp>
      <p:sp>
        <p:nvSpPr>
          <p:cNvPr id="38" name="现场求解文字">
            <a:extLst>
              <a:ext uri="{FF2B5EF4-FFF2-40B4-BE49-F238E27FC236}">
                <a16:creationId xmlns:a16="http://schemas.microsoft.com/office/drawing/2014/main" id="{8CCA1389-9E98-44AB-BABE-D92F57B80B02}"/>
              </a:ext>
            </a:extLst>
          </p:cNvPr>
          <p:cNvSpPr>
            <a:spLocks noGrp="1"/>
          </p:cNvSpPr>
          <p:nvPr/>
        </p:nvSpPr>
        <p:spPr>
          <a:xfrm>
            <a:off x="4486275" y="1181100"/>
            <a:ext cx="29908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  现场求解（15秒）</a:t>
            </a:r>
          </a:p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F5：确定性数值程序</a:t>
            </a:r>
          </a:p>
        </p:txBody>
      </p:sp>
      <p:sp>
        <p:nvSpPr>
          <p:cNvPr id="39" name="操作顺序箭头">
            <a:extLst>
              <a:ext uri="{FF2B5EF4-FFF2-40B4-BE49-F238E27FC236}">
                <a16:creationId xmlns:a16="http://schemas.microsoft.com/office/drawing/2014/main" id="{A76BA561-9DA9-4F18-9F75-D4963CD34053}"/>
              </a:ext>
            </a:extLst>
          </p:cNvPr>
          <p:cNvSpPr>
            <a:spLocks noGrp="1"/>
          </p:cNvSpPr>
          <p:nvPr/>
        </p:nvSpPr>
        <p:spPr>
          <a:xfrm>
            <a:off x="7724775" y="1371600"/>
            <a:ext cx="361950" cy="219075"/>
          </a:xfrm>
          <a:prstGeom prst="rightArrow">
            <a:avLst/>
          </a:prstGeom>
          <a:solidFill>
            <a:srgbClr val="0075C9"/>
          </a:solidFill>
          <a:ln w="0">
            <a:solidFill>
              <a:srgbClr val="0075C9"/>
            </a:solidFill>
          </a:ln>
        </p:spPr>
      </p:sp>
      <p:sp>
        <p:nvSpPr>
          <p:cNvPr id="40" name="真实读数">
            <a:extLst>
              <a:ext uri="{FF2B5EF4-FFF2-40B4-BE49-F238E27FC236}">
                <a16:creationId xmlns:a16="http://schemas.microsoft.com/office/drawing/2014/main" id="{C36DEAA5-E5D0-4039-B846-AE4B587ADA0B}"/>
              </a:ext>
            </a:extLst>
          </p:cNvPr>
          <p:cNvSpPr>
            <a:spLocks noGrp="1"/>
          </p:cNvSpPr>
          <p:nvPr/>
        </p:nvSpPr>
        <p:spPr>
          <a:xfrm>
            <a:off x="8239125" y="1143000"/>
            <a:ext cx="3495675" cy="657225"/>
          </a:xfrm>
          <a:prstGeom prst="rect">
            <a:avLst/>
          </a:prstGeom>
          <a:solidFill>
            <a:srgbClr val="FFFFFF"/>
          </a:solidFill>
          <a:ln w="19050">
            <a:solidFill>
              <a:srgbClr val="0075C9"/>
            </a:solidFill>
          </a:ln>
        </p:spPr>
      </p:sp>
      <p:sp>
        <p:nvSpPr>
          <p:cNvPr id="41" name="真实读数文字">
            <a:extLst>
              <a:ext uri="{FF2B5EF4-FFF2-40B4-BE49-F238E27FC236}">
                <a16:creationId xmlns:a16="http://schemas.microsoft.com/office/drawing/2014/main" id="{52AD7BE4-2A1A-447E-AC91-61BE8E8AEB15}"/>
              </a:ext>
            </a:extLst>
          </p:cNvPr>
          <p:cNvSpPr>
            <a:spLocks noGrp="1"/>
          </p:cNvSpPr>
          <p:nvPr/>
        </p:nvSpPr>
        <p:spPr>
          <a:xfrm>
            <a:off x="8334375" y="1181100"/>
            <a:ext cx="33051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  结果查询（35秒）</a:t>
            </a:r>
          </a:p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ULS-GW / 节点110</a:t>
            </a:r>
          </a:p>
        </p:txBody>
      </p:sp>
      <p:sp>
        <p:nvSpPr>
          <p:cNvPr id="42" name="模型图片说明">
            <a:extLst>
              <a:ext uri="{FF2B5EF4-FFF2-40B4-BE49-F238E27FC236}">
                <a16:creationId xmlns:a16="http://schemas.microsoft.com/office/drawing/2014/main" id="{5B49E155-3D7E-4EED-81A9-CDF6BF97C279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6953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实际软件：调整版屋盖与放大变形</a:t>
            </a:r>
          </a:p>
        </p:txBody>
      </p:sp>
      <p:sp>
        <p:nvSpPr>
          <p:cNvPr id="43" name="位移表图片说明">
            <a:extLst>
              <a:ext uri="{FF2B5EF4-FFF2-40B4-BE49-F238E27FC236}">
                <a16:creationId xmlns:a16="http://schemas.microsoft.com/office/drawing/2014/main" id="{F63D2952-D66A-49AB-84F1-B5DB63803789}"/>
              </a:ext>
            </a:extLst>
          </p:cNvPr>
          <p:cNvSpPr>
            <a:spLocks noGrp="1"/>
          </p:cNvSpPr>
          <p:nvPr/>
        </p:nvSpPr>
        <p:spPr>
          <a:xfrm>
            <a:off x="7800975" y="2000250"/>
            <a:ext cx="39338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节点110 · 全局坐标 · 实际值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84740AE-D089-4290-A680-F020C3DE8C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18" t="18050" r="72712" b="47068"/>
          <a:stretch/>
        </p:blipFill>
        <p:spPr>
          <a:xfrm>
            <a:off x="7800975" y="2362200"/>
            <a:ext cx="3933825" cy="3793035"/>
          </a:xfrm>
          <a:prstGeom prst="rect">
            <a:avLst/>
          </a:prstGeom>
        </p:spPr>
      </p:pic>
      <p:sp>
        <p:nvSpPr>
          <p:cNvPr id="46" name="资料来源">
            <a:extLst>
              <a:ext uri="{FF2B5EF4-FFF2-40B4-BE49-F238E27FC236}">
                <a16:creationId xmlns:a16="http://schemas.microsoft.com/office/drawing/2014/main" id="{D3F1F136-EBFF-4BCD-B5D0-7E125EB190E7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模型：拱形网格屋盖.json；节点结果来自本轮实际F5求解；位移表不乘变形放大系数</a:t>
            </a:r>
          </a:p>
        </p:txBody>
      </p:sp>
      <p:sp>
        <p:nvSpPr>
          <p:cNvPr id="47" name="页码">
            <a:extLst>
              <a:ext uri="{FF2B5EF4-FFF2-40B4-BE49-F238E27FC236}">
                <a16:creationId xmlns:a16="http://schemas.microsoft.com/office/drawing/2014/main" id="{01E6EF76-E179-47DB-A6DB-9972F2E8D115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</a:t>
            </a: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" name="空间刚架Agent_屋盖实机演示_60秒_1080p">
            <a:hlinkClick action="ppaction://media"/>
            <a:extLst>
              <a:ext uri="{FF2B5EF4-FFF2-40B4-BE49-F238E27FC236}">
                <a16:creationId xmlns:a16="http://schemas.microsoft.com/office/drawing/2014/main" id="{64D762AC-9588-44AB-8053-CC7760ADD3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52233" y="2379825"/>
            <a:ext cx="7048883" cy="43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51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BA02DBA6-F94A-4A52-B9D3-B1821A21B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8419" y="99849"/>
            <a:ext cx="2203824" cy="575281"/>
          </a:xfrm>
          <a:prstGeom prst="rect">
            <a:avLst/>
          </a:prstGeom>
          <a:ln>
            <a:noFill/>
          </a:ln>
        </p:spPr>
      </p:pic>
      <p:sp>
        <p:nvSpPr>
          <p:cNvPr id="33" name="章节标题">
            <a:extLst>
              <a:ext uri="{FF2B5EF4-FFF2-40B4-BE49-F238E27FC236}">
                <a16:creationId xmlns:a16="http://schemas.microsoft.com/office/drawing/2014/main" id="{B7A7ADE2-1A79-48F4-9560-E46992F63530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1  相同梁理论的数值对标</a:t>
            </a:r>
          </a:p>
        </p:txBody>
      </p:sp>
      <p:sp>
        <p:nvSpPr>
          <p:cNvPr id="34" name="资料来源">
            <a:extLst>
              <a:ext uri="{FF2B5EF4-FFF2-40B4-BE49-F238E27FC236}">
                <a16:creationId xmlns:a16="http://schemas.microsoft.com/office/drawing/2014/main" id="{8D369085-F17B-4386-BD17-3A32FCE04CE9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来源：abaqus_bench/benchmark_B33.md；相同输入、相同EB梁理论；误差为原记录定义</a:t>
            </a:r>
          </a:p>
        </p:txBody>
      </p:sp>
      <p:sp>
        <p:nvSpPr>
          <p:cNvPr id="35" name="页码">
            <a:extLst>
              <a:ext uri="{FF2B5EF4-FFF2-40B4-BE49-F238E27FC236}">
                <a16:creationId xmlns:a16="http://schemas.microsoft.com/office/drawing/2014/main" id="{92A480E6-6517-4876-8A66-83993C0A7E92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</a:t>
            </a: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对标主题">
            <a:extLst>
              <a:ext uri="{FF2B5EF4-FFF2-40B4-BE49-F238E27FC236}">
                <a16:creationId xmlns:a16="http://schemas.microsoft.com/office/drawing/2014/main" id="{BE3DD37E-53C9-4C37-BF01-9043277F8EE6}"/>
              </a:ext>
            </a:extLst>
          </p:cNvPr>
          <p:cNvSpPr>
            <a:spLocks noGrp="1"/>
          </p:cNvSpPr>
          <p:nvPr/>
        </p:nvSpPr>
        <p:spPr>
          <a:xfrm>
            <a:off x="457200" y="1095375"/>
            <a:ext cx="112776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已测试梁算例与 Abaqus B33 的位移对照</a:t>
            </a:r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57095B2E-53DC-4FF1-B07B-841AAC9550EA}"/>
              </a:ext>
            </a:extLst>
          </p:cNvPr>
          <p:cNvGraphicFramePr/>
          <p:nvPr/>
        </p:nvGraphicFramePr>
        <p:xfrm>
          <a:off x="457200" y="1866900"/>
          <a:ext cx="11277600" cy="3267075"/>
        </p:xfrm>
        <a:graphic>
          <a:graphicData uri="http://schemas.openxmlformats.org/drawingml/2006/table">
            <a:tbl>
              <a:tblPr firstRow="1"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3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算例</a:t>
                      </a:r>
                    </a:p>
                  </a:txBody>
                  <a:tcPr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本程序 / mm</a:t>
                      </a:r>
                    </a:p>
                  </a:txBody>
                  <a:tcPr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Abaqus B33 / mm</a:t>
                      </a:r>
                    </a:p>
                  </a:txBody>
                  <a:tcPr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e(‖U‖)</a:t>
                      </a:r>
                    </a:p>
                  </a:txBody>
                  <a:tcPr anchor="ctr">
                    <a:solidFill>
                      <a:srgbClr val="092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悬臂强轴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42.8571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42.8570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8.74×10⁻⁶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悬臂弱轴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857.1000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5.30×10⁻⁵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门式刚架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6.3901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7.23×10⁻⁶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空间刚架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5.83×10⁻⁶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对标条件">
            <a:extLst>
              <a:ext uri="{FF2B5EF4-FFF2-40B4-BE49-F238E27FC236}">
                <a16:creationId xmlns:a16="http://schemas.microsoft.com/office/drawing/2014/main" id="{4552F2CB-F968-466F-9D94-678770B7E9F5}"/>
              </a:ext>
            </a:extLst>
          </p:cNvPr>
          <p:cNvSpPr>
            <a:spLocks noGrp="1"/>
          </p:cNvSpPr>
          <p:nvPr/>
        </p:nvSpPr>
        <p:spPr>
          <a:xfrm>
            <a:off x="457200" y="5343525"/>
            <a:ext cx="11277600" cy="466725"/>
          </a:xfrm>
          <a:prstGeom prst="rect">
            <a:avLst/>
          </a:prstGeom>
          <a:solidFill>
            <a:srgbClr val="FFFFFF"/>
          </a:solidFill>
          <a:ln w="19050">
            <a:solidFill>
              <a:srgbClr val="092858"/>
            </a:solidFill>
            <a:prstDash val="solid"/>
          </a:ln>
        </p:spPr>
      </p:sp>
      <p:sp>
        <p:nvSpPr>
          <p:cNvPr id="39" name="对标条件文字">
            <a:extLst>
              <a:ext uri="{FF2B5EF4-FFF2-40B4-BE49-F238E27FC236}">
                <a16:creationId xmlns:a16="http://schemas.microsoft.com/office/drawing/2014/main" id="{FCF2D6C9-9636-4CF5-90D7-8EF8EE4131D4}"/>
              </a:ext>
            </a:extLst>
          </p:cNvPr>
          <p:cNvSpPr>
            <a:spLocks noGrp="1"/>
          </p:cNvSpPr>
          <p:nvPr/>
        </p:nvSpPr>
        <p:spPr>
          <a:xfrm>
            <a:off x="571500" y="5391150"/>
            <a:ext cx="11049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Euler–Bernoulli ↔ Abaqus B33：均不计横向剪切</a:t>
            </a:r>
          </a:p>
        </p:txBody>
      </p:sp>
      <p:sp>
        <p:nvSpPr>
          <p:cNvPr id="40" name="误差含义">
            <a:extLst>
              <a:ext uri="{FF2B5EF4-FFF2-40B4-BE49-F238E27FC236}">
                <a16:creationId xmlns:a16="http://schemas.microsoft.com/office/drawing/2014/main" id="{4ADAAC15-1831-48AC-9CC0-3F66165920F7}"/>
              </a:ext>
            </a:extLst>
          </p:cNvPr>
          <p:cNvSpPr>
            <a:spLocks noGrp="1"/>
          </p:cNvSpPr>
          <p:nvPr/>
        </p:nvSpPr>
        <p:spPr>
          <a:xfrm>
            <a:off x="457200" y="592455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e(‖U‖)：位移向量归一化误差；表中最大位移为四舍五入的展示值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>
            <a:extLst>
              <a:ext uri="{FF2B5EF4-FFF2-40B4-BE49-F238E27FC236}">
                <a16:creationId xmlns:a16="http://schemas.microsoft.com/office/drawing/2014/main" id="{FC9517E2-0DEF-4848-8600-6E968E317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8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95D4FFB7-9189-47AA-A21E-134C65823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8419" y="99849"/>
            <a:ext cx="2203824" cy="575281"/>
          </a:xfrm>
          <a:prstGeom prst="rect">
            <a:avLst/>
          </a:prstGeom>
          <a:ln>
            <a:noFill/>
          </a:ln>
        </p:spPr>
      </p:pic>
      <p:sp>
        <p:nvSpPr>
          <p:cNvPr id="33" name="章节标题">
            <a:extLst>
              <a:ext uri="{FF2B5EF4-FFF2-40B4-BE49-F238E27FC236}">
                <a16:creationId xmlns:a16="http://schemas.microsoft.com/office/drawing/2014/main" id="{83CB4A11-9C6E-45EA-A9D6-1951A5B63BB5}"/>
              </a:ext>
            </a:extLst>
          </p:cNvPr>
          <p:cNvSpPr>
            <a:spLocks noGrp="1"/>
          </p:cNvSpPr>
          <p:nvPr/>
        </p:nvSpPr>
        <p:spPr>
          <a:xfrm>
            <a:off x="2895600" y="190500"/>
            <a:ext cx="8724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 2  实现规模与验证层级</a:t>
            </a:r>
          </a:p>
        </p:txBody>
      </p:sp>
      <p:sp>
        <p:nvSpPr>
          <p:cNvPr id="34" name="资料来源">
            <a:extLst>
              <a:ext uri="{FF2B5EF4-FFF2-40B4-BE49-F238E27FC236}">
                <a16:creationId xmlns:a16="http://schemas.microsoft.com/office/drawing/2014/main" id="{495357E4-C026-402D-B7DE-51A3B70C9461}"/>
              </a:ext>
            </a:extLst>
          </p:cNvPr>
          <p:cNvSpPr>
            <a:spLocks noGrp="1"/>
          </p:cNvSpPr>
          <p:nvPr/>
        </p:nvSpPr>
        <p:spPr>
          <a:xfrm>
            <a:off x="457200" y="6467475"/>
            <a:ext cx="10344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586273"/>
                </a:solidFill>
                <a:latin typeface="微软雅黑"/>
                <a:ea typeface="微软雅黑"/>
                <a:cs typeface="微软雅黑"/>
              </a:rPr>
              <a:t>统计截止2026-10-10；代码行数包含注释与空行；来源：课程报告 §2.1 与解析金标准</a:t>
            </a:r>
          </a:p>
        </p:txBody>
      </p:sp>
      <p:sp>
        <p:nvSpPr>
          <p:cNvPr id="35" name="页码">
            <a:extLst>
              <a:ext uri="{FF2B5EF4-FFF2-40B4-BE49-F238E27FC236}">
                <a16:creationId xmlns:a16="http://schemas.microsoft.com/office/drawing/2014/main" id="{37AA5238-600A-4707-95DE-858531BCF856}"/>
              </a:ext>
            </a:extLst>
          </p:cNvPr>
          <p:cNvSpPr>
            <a:spLocks noGrp="1"/>
          </p:cNvSpPr>
          <p:nvPr/>
        </p:nvSpPr>
        <p:spPr>
          <a:xfrm>
            <a:off x="10953750" y="644842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buNone/>
              <a:defRPr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备答</a:t>
            </a:r>
            <a:r>
              <a:rPr lang="en-US" altLang="zh-CN" sz="13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00" b="1">
              <a:solidFill>
                <a:srgbClr val="09285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6F0484D4-D6A3-487F-885F-9A14B206C258}"/>
              </a:ext>
            </a:extLst>
          </p:cNvPr>
          <p:cNvGraphicFramePr/>
          <p:nvPr/>
        </p:nvGraphicFramePr>
        <p:xfrm>
          <a:off x="457200" y="1266825"/>
          <a:ext cx="11277600" cy="3009900"/>
        </p:xfrm>
        <a:graphic>
          <a:graphicData uri="http://schemas.openxmlformats.org/drawingml/2006/table">
            <a:tbl>
              <a:tblPr first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目录</a:t>
                      </a:r>
                    </a:p>
                  </a:txBody>
                  <a:tcPr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文件</a:t>
                      </a:r>
                    </a:p>
                  </a:txBody>
                  <a:tcPr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行数</a:t>
                      </a:r>
                    </a:p>
                  </a:txBody>
                  <a:tcPr anchor="ctr">
                    <a:solidFill>
                      <a:srgbClr val="09285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主要工作</a:t>
                      </a:r>
                    </a:p>
                  </a:txBody>
                  <a:tcPr anchor="ctr">
                    <a:solidFill>
                      <a:srgbClr val="0928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29,387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内核、工具与数据管理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desktop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21,615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桌面、视口、后台任务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tests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113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33,741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自动回归与基准验证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00" b="0">
                          <a:solidFill>
                            <a:srgbClr val="171D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测量、验证与文档工具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规模总计">
            <a:extLst>
              <a:ext uri="{FF2B5EF4-FFF2-40B4-BE49-F238E27FC236}">
                <a16:creationId xmlns:a16="http://schemas.microsoft.com/office/drawing/2014/main" id="{B48AB314-81CC-4337-AEEB-F173D291403A}"/>
              </a:ext>
            </a:extLst>
          </p:cNvPr>
          <p:cNvSpPr>
            <a:spLocks noGrp="1"/>
          </p:cNvSpPr>
          <p:nvPr/>
        </p:nvSpPr>
        <p:spPr>
          <a:xfrm>
            <a:off x="457200" y="4410075"/>
            <a:ext cx="112776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合计：240 文件 / 86,851 行；规模不直接等价于人工工时</a:t>
            </a:r>
          </a:p>
        </p:txBody>
      </p:sp>
      <p:sp>
        <p:nvSpPr>
          <p:cNvPr id="38" name="验证层级">
            <a:extLst>
              <a:ext uri="{FF2B5EF4-FFF2-40B4-BE49-F238E27FC236}">
                <a16:creationId xmlns:a16="http://schemas.microsoft.com/office/drawing/2014/main" id="{BEC2EDF4-FBE1-403D-9D71-9CDAFD48D0AF}"/>
              </a:ext>
            </a:extLst>
          </p:cNvPr>
          <p:cNvSpPr>
            <a:spLocks noGrp="1"/>
          </p:cNvSpPr>
          <p:nvPr/>
        </p:nvSpPr>
        <p:spPr>
          <a:xfrm>
            <a:off x="457200" y="5086350"/>
            <a:ext cx="11277600" cy="1228725"/>
          </a:xfrm>
          <a:prstGeom prst="rect">
            <a:avLst/>
          </a:prstGeom>
          <a:noFill/>
          <a:ln w="19050">
            <a:solidFill>
              <a:srgbClr val="092858"/>
            </a:solidFill>
            <a:prstDash val="dash"/>
          </a:ln>
        </p:spPr>
      </p:sp>
      <p:sp>
        <p:nvSpPr>
          <p:cNvPr id="39" name="验证层级标签">
            <a:extLst>
              <a:ext uri="{FF2B5EF4-FFF2-40B4-BE49-F238E27FC236}">
                <a16:creationId xmlns:a16="http://schemas.microsoft.com/office/drawing/2014/main" id="{778C4542-F1F6-41AA-9D96-FECDCC3F3B60}"/>
              </a:ext>
            </a:extLst>
          </p:cNvPr>
          <p:cNvSpPr>
            <a:spLocks noGrp="1"/>
          </p:cNvSpPr>
          <p:nvPr/>
        </p:nvSpPr>
        <p:spPr>
          <a:xfrm>
            <a:off x="647700" y="4905375"/>
            <a:ext cx="2562225" cy="361950"/>
          </a:xfrm>
          <a:prstGeom prst="rect">
            <a:avLst/>
          </a:prstGeom>
          <a:solidFill>
            <a:srgbClr val="092858"/>
          </a:solidFill>
          <a:ln w="9525">
            <a:solidFill>
              <a:srgbClr val="092858"/>
            </a:solidFill>
            <a:prstDash val="solid"/>
          </a:ln>
        </p:spPr>
      </p:sp>
      <p:sp>
        <p:nvSpPr>
          <p:cNvPr id="40" name="验证层级标签文字">
            <a:extLst>
              <a:ext uri="{FF2B5EF4-FFF2-40B4-BE49-F238E27FC236}">
                <a16:creationId xmlns:a16="http://schemas.microsoft.com/office/drawing/2014/main" id="{2C990837-3173-47E2-9229-756E6C61EADB}"/>
              </a:ext>
            </a:extLst>
          </p:cNvPr>
          <p:cNvSpPr>
            <a:spLocks noGrp="1"/>
          </p:cNvSpPr>
          <p:nvPr/>
        </p:nvSpPr>
        <p:spPr>
          <a:xfrm>
            <a:off x="723900" y="4943475"/>
            <a:ext cx="24098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验证层级与能力边界</a:t>
            </a:r>
          </a:p>
        </p:txBody>
      </p:sp>
      <p:sp>
        <p:nvSpPr>
          <p:cNvPr id="41" name="基准范围">
            <a:extLst>
              <a:ext uri="{FF2B5EF4-FFF2-40B4-BE49-F238E27FC236}">
                <a16:creationId xmlns:a16="http://schemas.microsoft.com/office/drawing/2014/main" id="{41B76D11-3C79-4A97-8721-78134A0E259B}"/>
              </a:ext>
            </a:extLst>
          </p:cNvPr>
          <p:cNvSpPr>
            <a:spLocks noGrp="1"/>
          </p:cNvSpPr>
          <p:nvPr/>
        </p:nvSpPr>
        <p:spPr>
          <a:xfrm>
            <a:off x="647700" y="5372100"/>
            <a:ext cx="10896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092858"/>
                </a:solidFill>
                <a:latin typeface="微软雅黑"/>
                <a:ea typeface="微软雅黑"/>
                <a:cs typeface="微软雅黑"/>
              </a:rPr>
              <a:t>28项解析基准：静力12 / 模态5 / 屈曲9 / P-Δ及轴向塑性2</a:t>
            </a:r>
          </a:p>
        </p:txBody>
      </p:sp>
      <p:sp>
        <p:nvSpPr>
          <p:cNvPr id="42" name="不同证据">
            <a:extLst>
              <a:ext uri="{FF2B5EF4-FFF2-40B4-BE49-F238E27FC236}">
                <a16:creationId xmlns:a16="http://schemas.microsoft.com/office/drawing/2014/main" id="{4B3B8456-BF1B-4770-8292-0FAC6A0A52B1}"/>
              </a:ext>
            </a:extLst>
          </p:cNvPr>
          <p:cNvSpPr>
            <a:spLocks noGrp="1"/>
          </p:cNvSpPr>
          <p:nvPr/>
        </p:nvSpPr>
        <p:spPr>
          <a:xfrm>
            <a:off x="647700" y="5800725"/>
            <a:ext cx="10896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回归验证实现；留出图评价识别；网格收敛及独立对标评价局部应力</a:t>
            </a:r>
          </a:p>
        </p:txBody>
      </p:sp>
    </p:spTree>
    <p:extLst>
      <p:ext uri="{BB962C8B-B14F-4D97-AF65-F5344CB8AC3E}">
        <p14:creationId xmlns:p14="http://schemas.microsoft.com/office/powerpoint/2010/main" val="179811308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4250</Words>
  <Application>Microsoft Office PowerPoint</Application>
  <DocSecurity>0</DocSecurity>
  <PresentationFormat>宽屏</PresentationFormat>
  <Paragraphs>326</Paragraphs>
  <Slides>16</Slides>
  <Notes>16</Notes>
  <HiddenSlides>3</HiddenSlides>
  <MMClips>4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微软雅黑</vt:lpstr>
      <vt:lpstr>Arial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Jiale Zhou</cp:lastModifiedBy>
  <cp:revision>2</cp:revision>
  <dcterms:created xsi:type="dcterms:W3CDTF">2026-10-11T08:41:35Z</dcterms:created>
  <dcterms:modified xsi:type="dcterms:W3CDTF">2026-10-11T13:47:12Z</dcterms:modified>
</cp:coreProperties>
</file>