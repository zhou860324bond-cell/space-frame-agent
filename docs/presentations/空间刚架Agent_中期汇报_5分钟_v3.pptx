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3b7b1a7dea421c" /><Relationship Type="http://schemas.openxmlformats.org/officeDocument/2006/relationships/extended-properties" Target="/docProps/app.xml" Id="R24eec440d84a403c" /><Relationship Type="http://schemas.openxmlformats.org/officeDocument/2006/relationships/officeDocument" Target="/ppt/presentation.xml" Id="R3c43a82872a544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17d326d48c4eee"/>
  </p:sldMasterIdLst>
  <p:notesMasterIdLst>
    <p:notesMasterId xmlns:r="http://schemas.openxmlformats.org/officeDocument/2006/relationships" r:id="R61102de41b174748"/>
  </p:notesMasterIdLst>
  <p:sldIdLst>
    <p:sldId xmlns:r="http://schemas.openxmlformats.org/officeDocument/2006/relationships" id="256" r:id="R44904262312348f5"/>
    <p:sldId xmlns:r="http://schemas.openxmlformats.org/officeDocument/2006/relationships" id="257" r:id="R4cef90c9b51b4010"/>
    <p:sldId xmlns:r="http://schemas.openxmlformats.org/officeDocument/2006/relationships" id="258" r:id="Rac562ad91fb643d7"/>
    <p:sldId xmlns:r="http://schemas.openxmlformats.org/officeDocument/2006/relationships" id="259" r:id="Rb494530c7e01463c"/>
    <p:sldId xmlns:r="http://schemas.openxmlformats.org/officeDocument/2006/relationships" id="260" r:id="Ra31cd6e2b95a4862"/>
    <p:sldId xmlns:r="http://schemas.openxmlformats.org/officeDocument/2006/relationships" id="261" r:id="Rbf035cbc8f6046a6"/>
    <p:sldId xmlns:r="http://schemas.openxmlformats.org/officeDocument/2006/relationships" id="262" r:id="R1739f4c9aa6f49d2"/>
    <p:sldId xmlns:r="http://schemas.openxmlformats.org/officeDocument/2006/relationships" id="263" r:id="R9b44cfbfb94e466f"/>
    <p:sldId xmlns:r="http://schemas.openxmlformats.org/officeDocument/2006/relationships" id="264" r:id="Rc79038d492e44198"/>
    <p:sldId xmlns:r="http://schemas.openxmlformats.org/officeDocument/2006/relationships" id="265" r:id="Rfb0576e21dab4d5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253786d6e84eef" /><Relationship Type="http://schemas.openxmlformats.org/officeDocument/2006/relationships/slideMaster" Target="/ppt/slideMasters/slideMaster1.xml" Id="R4617d326d48c4eee" /><Relationship Type="http://schemas.openxmlformats.org/officeDocument/2006/relationships/notesMaster" Target="/ppt/notesMasters/notesMaster1.xml" Id="R61102de41b174748" /><Relationship Type="http://schemas.openxmlformats.org/officeDocument/2006/relationships/presProps" Target="/ppt/presProps.xml" Id="R57f623fc95c64990" /><Relationship Type="http://schemas.openxmlformats.org/officeDocument/2006/relationships/viewProps" Target="/ppt/viewProps.xml" Id="Rd51841f6b96b480b" /><Relationship Type="http://schemas.openxmlformats.org/officeDocument/2006/relationships/tableStyles" Target="/ppt/tableStyles.xml" Id="Rb054035bf38b400c" /><Relationship Type="http://schemas.openxmlformats.org/officeDocument/2006/relationships/slide" Target="/ppt/slides/slide1.xml" Id="R44904262312348f5" /><Relationship Type="http://schemas.openxmlformats.org/officeDocument/2006/relationships/slide" Target="/ppt/slides/slide2.xml" Id="R4cef90c9b51b4010" /><Relationship Type="http://schemas.openxmlformats.org/officeDocument/2006/relationships/slide" Target="/ppt/slides/slide3.xml" Id="Rac562ad91fb643d7" /><Relationship Type="http://schemas.openxmlformats.org/officeDocument/2006/relationships/slide" Target="/ppt/slides/slide4.xml" Id="Rb494530c7e01463c" /><Relationship Type="http://schemas.openxmlformats.org/officeDocument/2006/relationships/slide" Target="/ppt/slides/slide5.xml" Id="Ra31cd6e2b95a4862" /><Relationship Type="http://schemas.openxmlformats.org/officeDocument/2006/relationships/slide" Target="/ppt/slides/slide6.xml" Id="Rbf035cbc8f6046a6" /><Relationship Type="http://schemas.openxmlformats.org/officeDocument/2006/relationships/slide" Target="/ppt/slides/slide7.xml" Id="R1739f4c9aa6f49d2" /><Relationship Type="http://schemas.openxmlformats.org/officeDocument/2006/relationships/slide" Target="/ppt/slides/slide8.xml" Id="R9b44cfbfb94e466f" /><Relationship Type="http://schemas.openxmlformats.org/officeDocument/2006/relationships/slide" Target="/ppt/slides/slide9.xml" Id="Rc79038d492e44198" /><Relationship Type="http://schemas.openxmlformats.org/officeDocument/2006/relationships/slide" Target="/ppt/slides/slide10.xml" Id="Rfb0576e21dab4d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1b1cc34314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c0effb14a042e2" /><Relationship Type="http://schemas.openxmlformats.org/officeDocument/2006/relationships/notesMaster" Target="/ppt/notesMasters/notesMaster1.xml" Id="R7c30fae0443b4f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24bd0f1a5c4662" /><Relationship Type="http://schemas.openxmlformats.org/officeDocument/2006/relationships/notesMaster" Target="/ppt/notesMasters/notesMaster1.xml" Id="Rbd77b90418dd41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93f1d67a0a442f" /><Relationship Type="http://schemas.openxmlformats.org/officeDocument/2006/relationships/notesMaster" Target="/ppt/notesMasters/notesMaster1.xml" Id="R43a9bcb213de47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7a7dc9809a4892" /><Relationship Type="http://schemas.openxmlformats.org/officeDocument/2006/relationships/notesMaster" Target="/ppt/notesMasters/notesMaster1.xml" Id="Rdb2a1965c88540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682e7d03a14349" /><Relationship Type="http://schemas.openxmlformats.org/officeDocument/2006/relationships/notesMaster" Target="/ppt/notesMasters/notesMaster1.xml" Id="R8d897649cdd346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f224237c6b4ad4" /><Relationship Type="http://schemas.openxmlformats.org/officeDocument/2006/relationships/notesMaster" Target="/ppt/notesMasters/notesMaster1.xml" Id="R6d1796ff64b4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1952fc991d4185" /><Relationship Type="http://schemas.openxmlformats.org/officeDocument/2006/relationships/notesMaster" Target="/ppt/notesMasters/notesMaster1.xml" Id="Rb5ad8e5a332245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974c9793c84376" /><Relationship Type="http://schemas.openxmlformats.org/officeDocument/2006/relationships/notesMaster" Target="/ppt/notesMasters/notesMaster1.xml" Id="R08f2dea6bc5f41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c6291f679749e7" /><Relationship Type="http://schemas.openxmlformats.org/officeDocument/2006/relationships/notesMaster" Target="/ppt/notesMasters/notesMaster1.xml" Id="R6924f4376a3f4f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b0ffe173d24d0a" /><Relationship Type="http://schemas.openxmlformats.org/officeDocument/2006/relationships/notesMaster" Target="/ppt/notesMasters/notesMaster1.xml" Id="Rde86d987f9ec4f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15秒】本项目面向空间钢结构的教学研究与方案试算。汇报围绕项目价值、技术路线、完成工作、问题解决和研究计划展开。核心目标是减少操作成本，同时保留可复核的计算依据。人员信息沿用原稿待填写栏；学校封面与页头沿用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【35秒】空间刚架必须同时表达节点、杆件、支座、截面及三维荷载。项目试验观察到的风险包括图纸信息漏识别、荷载方向歧义以及直接输出数值时难以复核。这里没有对所有AI Agent作排名。我们的特点是大模型只组织结构化参数与工具调用，数值由确定性内核生成；不确定输入须人工确认，结果绑定模型版本。左图是原稿真实软件工作台，展示人工建模与结果查看，不是AI生成的软件效果图。</a:t>
            </a:r>
          </a:p>
          <a:p xmlns:a="http://schemas.openxmlformats.org/drawingml/2006/main">
            <a:r>
              <a:t>来源：docs/课程报告.md §2.2–2.3；multimodal_eval/public_cases/COMPACT_REPORT.md；原稿image6.png。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55秒】上方两张截图来自同一个12节点13杆件演示例题；用于展示输入与结果，不能当作图片自动识别成功的证据。AI把需求转换成注册工具参数，程序展开编号与连接。模型先过结构和工程校验；编译器处理荷载切分、释放与分析单元。空间梁每节点三个平移、三个转角，局部12×12刚度经坐标变换组装，施加约束后求解Ku=F，恢复内力与反力并核查平衡。EB不计横向剪切；提供剪切面积时可启用Timoshenko。图、表和报告读取同次求解数据。</a:t>
            </a:r>
          </a:p>
          <a:p xmlns:a="http://schemas.openxmlformats.org/drawingml/2006/main">
            <a:r>
              <a:t>来源：src/agent_tools.py；src/model_compiler.py；src/spaceframe.py；results/defense_space_frame/ui/模型.png与云图.png；docs/课程报告.md。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35秒】开发内容包括空间梁内核、模型与结果管理、Agent工具接口、三维桌面、图纸审核、报告和验证体系。四个Python目录共240文件，约8.7万行，包含测试、注释和空行，不能据此换算人工工时。63个注册工具和28项解析金标准均有清单。最近完整回归2837通过、1项环境跳过；之后按要求仅做增量检查。回归通过数不等于工程图识别准确率。图为实际239节点622杆件屋盖，体现可操作的任务规模。</a:t>
            </a:r>
          </a:p>
          <a:p xmlns:a="http://schemas.openxmlformats.org/drawingml/2006/main">
            <a:r>
              <a:t>来源：docs/课程报告.md §2.1；README.md；docs/BETA_0.1_GOLD_CASES.md；docs/PROGRESS.md复杂屋盖记录；原稿image7.png。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40秒】该屋盖为教学示范，24米跨度36米长度，檐高6米、矢高5米；239节点622杆件、18固定支座、5工况5组合。真实求解中初设最大应力比1.0116，3根超限。仅把拱杆P219×8改为P273×10后，应力比降至0.8059，最大节点位移从143.156560到99.216702毫米；自重从593.09增至696.41千牛。这说明软件能够分析方案调整后的响应和代价，不代表自动得到最优结构或完成安全认证。左侧是初设软件截图，右侧原生图表来自两次实际工具返回值，显示为一位小数，原生数据保留原始精度。</a:t>
            </a:r>
          </a:p>
          <a:p xmlns:a="http://schemas.openxmlformats.org/drawingml/2006/main">
            <a:r>
              <a:t>来源：docs/PROGRESS.md“复杂拱形网格屋盖及软件实际截图”；examples/defense/拱形网格屋盖参考结果.json；原稿image8.png。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截图来自项目保存的节点65真实实体结果。局部流程把梁截面六个内力分量传入实体区域，用Gmsh划网格，自研C3D10单元求解。原界面峰值约435.951MPa，而P99裁剪色标上限约157.83MPa；色标裁剪并不修改原始峰值，也不表示峰值为157.83。这里不以单档网格发布应力集中系数。正式Kt需要三档网格、热点提取与独立对标。图片在PPT中仅做视口裁切，保留原始数值与完整图例，未改绘计算结果。</a:t>
            </a:r>
          </a:p>
          <a:p xmlns:a="http://schemas.openxmlformats.org/drawingml/2006/main">
            <a:r>
              <a:t>来源：results/solid-1920-1.5.png；docs/SOLID_JOINT_SCOPE.md；docs/BETA_0.1_CAPABILITY_MATRIX.md。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35秒】真实问题是识别草稿缺少荷载向量时，界面曾显示六个零，导致用户可能把未知值当成已确认的零荷载提交。原因是默认值混淆了未知与零。修复后保留缺失项为空，合法已识别分量仍保留；用户显式填值并确认，才解除相应问题。回归覆盖缺失、短向量、布尔值和非有限值。左侧是实际修复后窗口的局部截图，不是模拟的修改前后对比。平衡检查只核查已输入模型，仍不能证明原图荷载没有漏识别。</a:t>
            </a:r>
          </a:p>
          <a:p xmlns:a="http://schemas.openxmlformats.org/drawingml/2006/main">
            <a:r>
              <a:t>来源：docs/PROGRESS.md“审核问题分组与节点荷载缺值”；results/review-edit-missing-1.5.png；相关审核控件回归。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40秒】下一阶段围绕三个方向。第一，工程图识别使用许可明确、独立复核的新留出样本，分别统计拓扑、荷载、尺度，失败样本也计入完整模型通过率的分母。截图为已有开发图的审核界面，不是新的独立测试。第二，局部应力采用三档网格、热点提取及Abaqus独立对标，确定正式Kt可使用的范围，单档云图只作展示。第三，先修复明确的软件缺陷并冻结演示版本，完成保存重开、显示和报告验收；更复杂非线性先建立闭合解或参考解，再扩展弯曲塑性。三图分别是不同功能示例，不应解释成同一算例的连续结果。</a:t>
            </a:r>
          </a:p>
          <a:p xmlns:a="http://schemas.openxmlformats.org/drawingml/2006/main">
            <a:r>
              <a:t>图1：原稿image10.png，含Mechanics Map公开图，Jacob Moore and Contributors，CC BY-SA 4.0（https://creativecommons.org/licenses/by-sa/4.0/），图片为软件审核窗口截图局部；原图源见multimodal_eval/public_cases/numeric_01/metadata/moj_bridge.json，https://eng.libretexts.org/Bookshelves/Mechanical_Engineering/Mechanics_Map_(Moore_2nd_Edition)/05%3A_Engineering_Structures/5.04%3A_Method_of_Joints。图2：results/defense_acceptance/mainline/实体云图.png。图3：results/defense_space_frame/word/例题计算书-1.png，PPT视口裁切仅展示报告溯源信息。</a:t>
            </a:r>
          </a:p>
          <a:p xmlns:a="http://schemas.openxmlformats.org/drawingml/2006/main">
            <a:r>
              <a:t>计划依据：docs/答辩前验收.md；docs/BETA_0.1_CAPABILITY_MATRIX.md；docs/SOLID_JOINT_SCOPE.md。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隐藏备答，不计入五分钟】B33是不计横向剪切的三次梁，与EB分支同理论比较。误差e(‖U‖)为原报告位移向量归一化误差，不能用表中四舍五入的最大位移代替。文本输出精度影响末位比较。所列证据不能泛化为所有工程、非线性或局部实体应力验证。来源：abaqus_bench/benchmark_B33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隐藏备答，不计入五分钟】共240个Python文件、86851行；不是人工工时指标。解析基准验证代表力学响应，回归验证实现，真实工程图准确率需独立样本与真实调用另测。P-Δ为小应变二阶弹性，轴向双线性不等于完整弯曲塑性。截图均来自原稿或项目保存的实际界面，未生成软件效果图。</a:t>
            </a:r>
          </a:p>
          <a:p xmlns:a="http://schemas.openxmlformats.org/drawingml/2006/main">
            <a:r>
              <a:t>来源：docs/课程报告.md；README.md；docs/BETA_0.1_GOLD_CASES.md；docs/BETA_0.1_CAPABILITY_MATRIX.md；docs/SOLID_JOINT_SCOPE.md。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aa1c00e484e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7edd80db543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79c65e0a043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3d719800042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153e748744d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668d76d934ee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7b0f5d28246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f8d01dbe64dc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f8c08407c4d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d1fb021464af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06e3cf76348d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B44CEAC-21D2-4803-87B9-A45E984F6F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493D916-674F-4AFE-ABB6-C916FC1902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C3B273C1-2599-4774-A4C4-B80E543F5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6EB6AA3B-9CF6-4B32-8145-71BDC4FAC2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D574BB6D-2B2C-4023-A616-BE4B35663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E4A382-0BBC-48FC-88E5-47CA5D62B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EECF427-C548-4CDD-83B1-22B3262806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C8A185-98EE-4397-A7E2-3DE1E25C91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B32B2D0-086B-4168-B730-A6880FE388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E1FBF8-327B-4C7A-8299-4BEC9A67A3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73229DD-8163-4200-A0D9-F48A3F5588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E1D9A23-5C84-4C89-851C-A6C05F16C3E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8B6D48-B525-4370-BF1B-F9D0B7D595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E84926-09F1-4BD5-8390-F75DA6466A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2F34BC3-83B7-40E0-BD98-3FB1A7A84A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F1F621-E0D8-4985-A9F9-F02E4954B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FFA56A-FE6D-4BCD-9191-2D722A545F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7E00AA-F14F-4F0D-9571-3DA975C0CD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D2471D-D94D-4DB6-93C3-657E8ACD5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684A6C-FADF-4744-A661-07058C0FF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9673C99-0070-4B58-9B55-048C0E701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71594A7-DE81-4A91-B1A6-5D70C81BE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D058A86-351B-40DB-9C59-CFBFAAA0E45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118A1EB-0D7B-425C-976D-30B408D229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EC5E579-8491-4345-96B8-A145C078A1C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0B48670-403E-4D94-8F19-CA58DF9DA5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1C925C2-58CF-48B8-992F-2D0C03A763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8CEFC75-2A40-46E5-8482-88ABBA141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E9FAC28-2246-4D85-B540-A510839749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55AE4F-2B8C-45EF-9281-F1C3366C6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B9F6A95-7140-43CC-B672-1B6A92D53E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F648025-B1EB-40DB-97E4-D0838AF1E7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171625F-5E7A-4520-8B3C-4F3BDFF0C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E8E97EC-394C-414B-AF90-BB5E38C0C1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C4BB3BE-FFB3-4F91-A902-CFD7C3F711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8B0B969-4EE6-42D9-9807-8E9C3FD3B4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8EA7B46-8206-474A-9991-E69B6A3512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69BEEC9-542B-41D3-B92D-345DA5D2CA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C9EF193-0799-4B33-AB11-D3C76405EB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168DDE7-0959-4B93-B135-3D02E1FF8B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1F8AF3B-5F7E-48A5-949A-A201F2FBC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9A7BDC85-E3C3-4E04-8909-A6D2BED18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7F149DE-B1A4-4D6D-8237-68ED3A5307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2B26B2C-4877-484D-AF26-20B49DF63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2F116E7-F030-45F2-890A-58F0EF55B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24AF94-31B0-48B4-BC37-1B672DBF99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0FD0452-D57C-4163-B7AD-2D63F96EA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970A8D3-F081-48B5-88DF-1ACE6BF49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F1FD8F0-3DF4-4871-90E6-E1BB0E0221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8E23F5-B418-44FB-9CE8-A3D7428EA5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28EDCA88-63C5-4DA6-92A8-23CC88F75207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42488CB-3948-4419-89A1-0D24D224C7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5F18BCA-A182-4FF9-8229-AE02F020B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760D35-AE74-4792-8D12-4F4A49120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9C96DE-2246-432D-A52D-E5509D6C2F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B77BC8D-1A01-4AEF-867F-E93C5F6A44E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572d8c85d54dda" /><Relationship Type="http://schemas.openxmlformats.org/officeDocument/2006/relationships/slideLayout" Target="/ppt/slideLayouts/slideLayout1.xml" Id="R0966bbc9af904138" /><Relationship Type="http://schemas.openxmlformats.org/officeDocument/2006/relationships/slideLayout" Target="/ppt/slideLayouts/slideLayout2.xml" Id="R8f046f5929e945de" /><Relationship Type="http://schemas.openxmlformats.org/officeDocument/2006/relationships/slideLayout" Target="/ppt/slideLayouts/slideLayout3.xml" Id="R1ac2996ebe4c4116" /><Relationship Type="http://schemas.openxmlformats.org/officeDocument/2006/relationships/slideLayout" Target="/ppt/slideLayouts/slideLayout4.xml" Id="R6d4d9aad217249fc" /><Relationship Type="http://schemas.openxmlformats.org/officeDocument/2006/relationships/slideLayout" Target="/ppt/slideLayouts/slideLayout5.xml" Id="Rb58ab26a10204016" /><Relationship Type="http://schemas.openxmlformats.org/officeDocument/2006/relationships/slideLayout" Target="/ppt/slideLayouts/slideLayout6.xml" Id="R117196850a63443a" /><Relationship Type="http://schemas.openxmlformats.org/officeDocument/2006/relationships/slideLayout" Target="/ppt/slideLayouts/slideLayout7.xml" Id="Rdf16e215d3b14090" /><Relationship Type="http://schemas.openxmlformats.org/officeDocument/2006/relationships/slideLayout" Target="/ppt/slideLayouts/slideLayout8.xml" Id="Rd2331798ee614214" /><Relationship Type="http://schemas.openxmlformats.org/officeDocument/2006/relationships/slideLayout" Target="/ppt/slideLayouts/slideLayout9.xml" Id="Rc3a07e7ad685427d" /><Relationship Type="http://schemas.openxmlformats.org/officeDocument/2006/relationships/slideLayout" Target="/ppt/slideLayouts/slideLayout10.xml" Id="Rae2b19719fb74ea3" /><Relationship Type="http://schemas.openxmlformats.org/officeDocument/2006/relationships/slideLayout" Target="/ppt/slideLayouts/slideLayout11.xml" Id="R293436802c944ba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B22A98E-F474-4F2D-B471-388FCBEA8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EA388BB-E307-478A-AF4D-4C42D1A23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E5BA7E-697E-41F5-BB29-E97F8D3A474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7376857-057B-48AC-AF19-F23450A009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D0418B-9FAC-4D3D-8A53-0C1C13288E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6bbc9af904138"/>
    <p:sldLayoutId xmlns:r="http://schemas.openxmlformats.org/officeDocument/2006/relationships" id="2147483650" r:id="R8f046f5929e945de"/>
    <p:sldLayoutId xmlns:r="http://schemas.openxmlformats.org/officeDocument/2006/relationships" id="2147483651" r:id="R1ac2996ebe4c4116"/>
    <p:sldLayoutId xmlns:r="http://schemas.openxmlformats.org/officeDocument/2006/relationships" id="2147483652" r:id="R6d4d9aad217249fc"/>
    <p:sldLayoutId xmlns:r="http://schemas.openxmlformats.org/officeDocument/2006/relationships" id="2147483653" r:id="Rb58ab26a10204016"/>
    <p:sldLayoutId xmlns:r="http://schemas.openxmlformats.org/officeDocument/2006/relationships" id="2147483654" r:id="R117196850a63443a"/>
    <p:sldLayoutId xmlns:r="http://schemas.openxmlformats.org/officeDocument/2006/relationships" id="2147483655" r:id="Rdf16e215d3b14090"/>
    <p:sldLayoutId xmlns:r="http://schemas.openxmlformats.org/officeDocument/2006/relationships" id="2147483656" r:id="Rd2331798ee614214"/>
    <p:sldLayoutId xmlns:r="http://schemas.openxmlformats.org/officeDocument/2006/relationships" id="2147483657" r:id="Rc3a07e7ad685427d"/>
    <p:sldLayoutId xmlns:r="http://schemas.openxmlformats.org/officeDocument/2006/relationships" id="2147483658" r:id="Rae2b19719fb74ea3"/>
    <p:sldLayoutId xmlns:r="http://schemas.openxmlformats.org/officeDocument/2006/relationships" id="2147483659" r:id="R293436802c944ba3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5697b4b76c43a8" /><Relationship Type="http://schemas.openxmlformats.org/officeDocument/2006/relationships/image" Target="/ppt/media/image.png" Id="R855b41384e154fcc" /><Relationship Type="http://schemas.openxmlformats.org/officeDocument/2006/relationships/image" Target="/ppt/media/image2.png" Id="R7af17d7d118645bf" /><Relationship Type="http://schemas.openxmlformats.org/officeDocument/2006/relationships/image" Target="/ppt/media/image3.png" Id="R2285e5eed65b440c" /><Relationship Type="http://schemas.openxmlformats.org/officeDocument/2006/relationships/image" Target="/ppt/media/image.svg" Id="R6777c7f466ef4541" /><Relationship Type="http://schemas.openxmlformats.org/officeDocument/2006/relationships/image" Target="/ppt/media/image4.png" Id="R8ce49259e4e041fb" /><Relationship Type="http://schemas.openxmlformats.org/officeDocument/2006/relationships/notesSlide" Target="/ppt/notesSlides/notesSlide1.xml" Id="Rb00a795647f14b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a097335f48415c" /><Relationship Type="http://schemas.openxmlformats.org/officeDocument/2006/relationships/image" Target="/ppt/media/image5.png" Id="R3837b990d451426d" /><Relationship Type="http://schemas.openxmlformats.org/officeDocument/2006/relationships/image" Target="/ppt/media/image6.png" Id="R96822630caa441a3" /><Relationship Type="http://schemas.openxmlformats.org/officeDocument/2006/relationships/notesSlide" Target="/ppt/notesSlides/notesSlide2.xml" Id="R223427f3ac414f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71ee0164c845cb" /><Relationship Type="http://schemas.openxmlformats.org/officeDocument/2006/relationships/image" Target="/ppt/media/image5.png" Id="R4de095bf758c4aa8" /><Relationship Type="http://schemas.openxmlformats.org/officeDocument/2006/relationships/image" Target="/ppt/media/image7.png" Id="R877cc89b92914444" /><Relationship Type="http://schemas.openxmlformats.org/officeDocument/2006/relationships/image" Target="/ppt/media/image8.png" Id="R2570bcf6d3884dbb" /><Relationship Type="http://schemas.openxmlformats.org/officeDocument/2006/relationships/notesSlide" Target="/ppt/notesSlides/notesSlide3.xml" Id="Rbea12176f18c46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10eaf16e2d47df" /><Relationship Type="http://schemas.openxmlformats.org/officeDocument/2006/relationships/image" Target="/ppt/media/image5.png" Id="R89572e87bfe647bc" /><Relationship Type="http://schemas.openxmlformats.org/officeDocument/2006/relationships/image" Target="/ppt/media/image9.png" Id="Rf25fe338314141ad" /><Relationship Type="http://schemas.openxmlformats.org/officeDocument/2006/relationships/notesSlide" Target="/ppt/notesSlides/notesSlide4.xml" Id="Re8553f59c09e46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489a959b3b49e1" /><Relationship Type="http://schemas.openxmlformats.org/officeDocument/2006/relationships/image" Target="/ppt/media/image5.png" Id="R311a2f739f5743c1" /><Relationship Type="http://schemas.openxmlformats.org/officeDocument/2006/relationships/image" Target="/ppt/media/image10.png" Id="R91c033e4cf144e9d" /><Relationship Type="http://schemas.openxmlformats.org/officeDocument/2006/relationships/chart" Target="/ppt/slides/charts/chart1.xml" Id="R4a5f3ea24df64fe6" /><Relationship Type="http://schemas.openxmlformats.org/officeDocument/2006/relationships/notesSlide" Target="/ppt/notesSlides/notesSlide5.xml" Id="R8d550467146840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bfa866387b4322" /><Relationship Type="http://schemas.openxmlformats.org/officeDocument/2006/relationships/image" Target="/ppt/media/image5.png" Id="R3f4086c78a204b6d" /><Relationship Type="http://schemas.openxmlformats.org/officeDocument/2006/relationships/image" Target="/ppt/media/image11.png" Id="R4d770efe1ae44130" /><Relationship Type="http://schemas.openxmlformats.org/officeDocument/2006/relationships/notesSlide" Target="/ppt/notesSlides/notesSlide6.xml" Id="R081898653aab49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3bbfe460bc4b5f" /><Relationship Type="http://schemas.openxmlformats.org/officeDocument/2006/relationships/image" Target="/ppt/media/image5.png" Id="R119393478eda4057" /><Relationship Type="http://schemas.openxmlformats.org/officeDocument/2006/relationships/image" Target="/ppt/media/image12.png" Id="Red061e87ab6645a8" /><Relationship Type="http://schemas.openxmlformats.org/officeDocument/2006/relationships/notesSlide" Target="/ppt/notesSlides/notesSlide7.xml" Id="R780f8029fe3845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e1dcd202194ae4" /><Relationship Type="http://schemas.openxmlformats.org/officeDocument/2006/relationships/image" Target="/ppt/media/image5.png" Id="R6d80052c43b0497e" /><Relationship Type="http://schemas.openxmlformats.org/officeDocument/2006/relationships/image" Target="/ppt/media/image13.png" Id="R0438e7e7129248d2" /><Relationship Type="http://schemas.openxmlformats.org/officeDocument/2006/relationships/image" Target="/ppt/media/image14.png" Id="Rf649d30456a04413" /><Relationship Type="http://schemas.openxmlformats.org/officeDocument/2006/relationships/image" Target="/ppt/media/image15.png" Id="Rb2c5d98c338c4adc" /><Relationship Type="http://schemas.openxmlformats.org/officeDocument/2006/relationships/notesSlide" Target="/ppt/notesSlides/notesSlide8.xml" Id="R9ac53ab8deb44c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6f5ce972f24428" /><Relationship Type="http://schemas.openxmlformats.org/officeDocument/2006/relationships/image" Target="/ppt/media/image5.png" Id="Rb2681a59b68a41e8" /><Relationship Type="http://schemas.openxmlformats.org/officeDocument/2006/relationships/notesSlide" Target="/ppt/notesSlides/notesSlide9.xml" Id="R692b4970aeab48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bfa8f04230495b" /><Relationship Type="http://schemas.openxmlformats.org/officeDocument/2006/relationships/image" Target="/ppt/media/image5.png" Id="R2e550fe839454356" /><Relationship Type="http://schemas.openxmlformats.org/officeDocument/2006/relationships/notesSlide" Target="/ppt/notesSlides/notesSlide10.xml" Id="Rffafe864ba71406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最大节点位移 / mm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00" b="1">
              <a:solidFill>
                <a:srgbClr val="092858"/>
              </a:solidFill>
              <a:latin typeface="微软雅黑"/>
              <a:ea typeface="微软雅黑"/>
              <a:cs typeface="微软雅黑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最大节点位移</c:v>
          </c:tx>
          <c:spPr>
            <a:solidFill xmlns:a="http://schemas.openxmlformats.org/drawingml/2006/main">
              <a:srgbClr val="1767A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928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767A4"/>
              </a:solidFill>
            </c:spPr>
          </c:dPt>
          <c:cat>
            <c:strLit>
              <c:ptCount val="2"/>
              <c:pt idx="0">
                <c:v>初设</c:v>
              </c:pt>
              <c:pt idx="1">
                <c:v>调整后</c:v>
              </c:pt>
            </c:strLit>
          </c:cat>
          <c:val>
            <c:numLit>
              <c:formatCode>General</c:formatCode>
              <c:ptCount val="2"/>
              <c:pt idx="0">
                <c:v>143.15656</c:v>
              </c:pt>
              <c:pt idx="1">
                <c:v>99.216702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09285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3">
            <a:extLst xmlns:a="http://schemas.openxmlformats.org/drawingml/2006/main">
              <a:ext uri="{FF2B5EF4-FFF2-40B4-BE49-F238E27FC236}">
                <a16:creationId xmlns:a16="http://schemas.microsoft.com/office/drawing/2014/main" id="{9026ADBB-6847-410B-85C6-688D21B92F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5b41384e154fcc">
            <a:alphaModFix amt="20000"/>
          </a:blip>
          <a:srcRect xmlns:a="http://schemas.openxmlformats.org/drawingml/2006/main" l="0" t="28704" r="0" b="1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78094"/>
            <a:ext cx="12192000" cy="1988854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>
            <a:extLst xmlns:a="http://schemas.openxmlformats.org/drawingml/2006/main">
              <a:ext uri="{FF2B5EF4-FFF2-40B4-BE49-F238E27FC236}">
                <a16:creationId xmlns:a16="http://schemas.microsoft.com/office/drawing/2014/main" id="{1FF450C6-0262-446D-B993-0B9FE943BE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17d7d118645bf"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84709"/>
            <a:ext cx="12192000" cy="3473291"/>
          </a:xfrm>
          <a:prstGeom xmlns:a="http://schemas.openxmlformats.org/drawingml/2006/main" prst="rect">
            <a:avLst/>
          </a:prstGeom>
        </p:spPr>
      </p:pic>
      <p:pic>
        <p:nvPicPr>
          <p:cNvPr id="12" name="图形 11">
            <a:extLst xmlns:a="http://schemas.openxmlformats.org/drawingml/2006/main">
              <a:ext uri="{FF2B5EF4-FFF2-40B4-BE49-F238E27FC236}">
                <a16:creationId xmlns:a16="http://schemas.microsoft.com/office/drawing/2014/main" id="{CED981DD-D089-45F7-869D-CADF982902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5e5eed65b440c">
            <a:extLst>
              <a:ext uri="{96DAC541-7B7A-43D3-8B79-37D633B846F1}">
                <asvg:svgBlip xmlns:asvg="http://schemas.microsoft.com/office/drawing/2016/SVG/main" r:embed="R6777c7f466ef45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9697" y="66675"/>
            <a:ext cx="2731173" cy="717216"/>
          </a:xfrm>
          <a:prstGeom xmlns:a="http://schemas.openxmlformats.org/drawingml/2006/main" prst="rect">
            <a:avLst/>
          </a:prstGeom>
        </p:spPr>
      </p:pic>
      <p:sp>
        <p:nvSpPr>
          <p:cNvPr id="26" name="基于 AI 的空间刚架&#10;智能计算 Agent 开">
            <a:extLst xmlns:a="http://schemas.openxmlformats.org/drawingml/2006/main">
              <a:ext uri="{FF2B5EF4-FFF2-40B4-BE49-F238E27FC236}">
                <a16:creationId xmlns:a16="http://schemas.microsoft.com/office/drawing/2014/main" id="{0E721B4E-ABAF-494D-B1E7-38B8274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基于 AI 的空间刚架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智能计算 Agent 开发</a:t>
            </a:r>
          </a:p>
        </p:txBody>
      </p:sp>
      <p:sp>
        <p:nvSpPr>
          <p:cNvPr id="27" name="中期汇报">
            <a:extLst xmlns:a="http://schemas.openxmlformats.org/drawingml/2006/main">
              <a:ext uri="{FF2B5EF4-FFF2-40B4-BE49-F238E27FC236}">
                <a16:creationId xmlns:a16="http://schemas.microsoft.com/office/drawing/2014/main" id="{1950D80B-300D-4FB1-B968-795920A7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438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中期汇报</a:t>
            </a:r>
          </a:p>
        </p:txBody>
      </p:sp>
      <p:sp>
        <p:nvSpPr>
          <p:cNvPr id="28" name="汇报人：________________    ">
            <a:extLst xmlns:a="http://schemas.openxmlformats.org/drawingml/2006/main">
              <a:ext uri="{FF2B5EF4-FFF2-40B4-BE49-F238E27FC236}">
                <a16:creationId xmlns:a16="http://schemas.microsoft.com/office/drawing/2014/main" id="{96ED2251-5B2B-4895-9230-75276E2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5285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汇报人：________________    班级：________________</a:t>
            </a:r>
          </a:p>
        </p:txBody>
      </p:sp>
      <p:sp>
        <p:nvSpPr>
          <p:cNvPr id="29" name="小组成员：___________________">
            <a:extLst xmlns:a="http://schemas.openxmlformats.org/drawingml/2006/main">
              <a:ext uri="{FF2B5EF4-FFF2-40B4-BE49-F238E27FC236}">
                <a16:creationId xmlns:a16="http://schemas.microsoft.com/office/drawing/2014/main" id="{003A8608-E55F-445F-B783-9DE599B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76725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小组成员：_____________________________________</a:t>
            </a:r>
          </a:p>
        </p:txBody>
      </p:sp>
      <p:sp>
        <p:nvSpPr>
          <p:cNvPr id="30" name="指导教师：________________">
            <a:extLst xmlns:a="http://schemas.openxmlformats.org/drawingml/2006/main">
              <a:ext uri="{FF2B5EF4-FFF2-40B4-BE49-F238E27FC236}">
                <a16:creationId xmlns:a16="http://schemas.microsoft.com/office/drawing/2014/main" id="{72D1EF5F-BE6B-4112-8706-12F7FD7D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006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指导教师：________________</a:t>
            </a:r>
          </a:p>
        </p:txBody>
      </p:sp>
      <p:sp>
        <p:nvSpPr>
          <p:cNvPr id="31" name="2026 年 10 月">
            <a:extLst xmlns:a="http://schemas.openxmlformats.org/drawingml/2006/main">
              <a:ext uri="{FF2B5EF4-FFF2-40B4-BE49-F238E27FC236}">
                <a16:creationId xmlns:a16="http://schemas.microsoft.com/office/drawing/2014/main" id="{684CBC89-C832-4DF1-A359-6B021A3E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340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F1CFC11D-749D-402F-B133-4438EFFE21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49259e4e041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31" y="29589"/>
            <a:ext cx="4532224" cy="8276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479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F2DC2A29-FBFB-41A5-BA03-60ADE2092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7b990d45142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F7671BA2-607F-4DEC-AE66-AF2DC8A8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  项目定位与价值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67167692-F112-43AF-B562-59539D2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让 AI 理解任务，让力学内核给出可复核结果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F9327E9F-353F-43B5-B9A4-C9BBB980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A9B28960-0784-4EB3-8572-EA7E044B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来源：课程报告；公开图识别记录；原稿软件截图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A634D-3988-469F-A020-5086EC87F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22630caa441a3"/>
          <a:stretch xmlns:a="http://schemas.openxmlformats.org/drawingml/2006/main"/>
        </p:blipFill>
        <p:spPr>
          <a:xfrm xmlns:a="http://schemas.openxmlformats.org/drawingml/2006/main">
            <a:off x="1169670" y="1809750"/>
            <a:ext cx="6537960" cy="4086225"/>
          </a:xfrm>
          <a:prstGeom xmlns:a="http://schemas.openxmlformats.org/drawingml/2006/main" prst="rect">
            <a:avLst/>
          </a:prstGeom>
        </p:spPr>
      </p:pic>
      <p:sp>
        <p:nvSpPr>
          <p:cNvPr id="38" name="定位">
            <a:extLst xmlns:a="http://schemas.openxmlformats.org/drawingml/2006/main">
              <a:ext uri="{FF2B5EF4-FFF2-40B4-BE49-F238E27FC236}">
                <a16:creationId xmlns:a16="http://schemas.microsoft.com/office/drawing/2014/main" id="{635D040D-5D8B-49CE-A917-B2B55155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2914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面向教学研究</a:t>
            </a:r>
          </a:p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与方案试算</a:t>
            </a:r>
          </a:p>
        </p:txBody>
      </p:sp>
      <p:sp>
        <p:nvSpPr>
          <p:cNvPr id="39" name="风险1">
            <a:extLst xmlns:a="http://schemas.openxmlformats.org/drawingml/2006/main">
              <a:ext uri="{FF2B5EF4-FFF2-40B4-BE49-F238E27FC236}">
                <a16:creationId xmlns:a16="http://schemas.microsoft.com/office/drawing/2014/main" id="{092B22D5-172E-46B7-97B7-EC6638B7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4797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数值依据难复核</a:t>
            </a:r>
          </a:p>
        </p:txBody>
      </p:sp>
      <p:sp>
        <p:nvSpPr>
          <p:cNvPr id="40" name="策略1">
            <a:extLst xmlns:a="http://schemas.openxmlformats.org/drawingml/2006/main">
              <a:ext uri="{FF2B5EF4-FFF2-40B4-BE49-F238E27FC236}">
                <a16:creationId xmlns:a16="http://schemas.microsoft.com/office/drawing/2014/main" id="{C188F4FB-FC8A-4C41-933A-7BB89B44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48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工具计算并记录来源</a:t>
            </a:r>
          </a:p>
        </p:txBody>
      </p:sp>
      <p:sp>
        <p:nvSpPr>
          <p:cNvPr id="41" name="风险2">
            <a:extLst xmlns:a="http://schemas.openxmlformats.org/drawingml/2006/main">
              <a:ext uri="{FF2B5EF4-FFF2-40B4-BE49-F238E27FC236}">
                <a16:creationId xmlns:a16="http://schemas.microsoft.com/office/drawing/2014/main" id="{741BD478-2D45-4DBE-B285-584BFE55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7667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图纸存在识别歧义</a:t>
            </a:r>
          </a:p>
        </p:txBody>
      </p:sp>
      <p:sp>
        <p:nvSpPr>
          <p:cNvPr id="42" name="策略2">
            <a:extLst xmlns:a="http://schemas.openxmlformats.org/drawingml/2006/main">
              <a:ext uri="{FF2B5EF4-FFF2-40B4-BE49-F238E27FC236}">
                <a16:creationId xmlns:a16="http://schemas.microsoft.com/office/drawing/2014/main" id="{D8D48F99-2716-4B9C-ADC9-34A0F960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767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保留证据，人工确认</a:t>
            </a:r>
          </a:p>
        </p:txBody>
      </p:sp>
      <p:sp>
        <p:nvSpPr>
          <p:cNvPr id="43" name="风险3">
            <a:extLst xmlns:a="http://schemas.openxmlformats.org/drawingml/2006/main">
              <a:ext uri="{FF2B5EF4-FFF2-40B4-BE49-F238E27FC236}">
                <a16:creationId xmlns:a16="http://schemas.microsoft.com/office/drawing/2014/main" id="{27701D95-C6EA-477D-8DD4-C4FF381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0537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模型与结果不同步</a:t>
            </a:r>
          </a:p>
        </p:txBody>
      </p:sp>
      <p:sp>
        <p:nvSpPr>
          <p:cNvPr id="44" name="策略3">
            <a:extLst xmlns:a="http://schemas.openxmlformats.org/drawingml/2006/main">
              <a:ext uri="{FF2B5EF4-FFF2-40B4-BE49-F238E27FC236}">
                <a16:creationId xmlns:a16="http://schemas.microsoft.com/office/drawing/2014/main" id="{129B1C68-0BB9-4BE3-BDFA-4CA662A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054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版本绑定，旧结果失效</a:t>
            </a:r>
          </a:p>
        </p:txBody>
      </p:sp>
      <p:sp>
        <p:nvSpPr>
          <p:cNvPr id="45" name="研究问题">
            <a:extLst xmlns:a="http://schemas.openxmlformats.org/drawingml/2006/main">
              <a:ext uri="{FF2B5EF4-FFF2-40B4-BE49-F238E27FC236}">
                <a16:creationId xmlns:a16="http://schemas.microsoft.com/office/drawing/2014/main" id="{8B23C8F2-9648-4433-A611-27E784B6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研究问题：如何兼顾便捷交互与计算可靠性？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E0366204-0468-4031-AD7F-AC7601A977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095bf758c4a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34B1FBD2-8339-43F0-ACAE-9E4C4608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  方法特点与技术路线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A5D6D6C3-4DCF-44D4-B136-7BC04F8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结构化输入经校验、编译和求解，形成同源输出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CB3639E5-2DA3-4F0D-B5E0-37336E3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C2E76FA6-7896-4333-B566-C6B1A3B7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来源：model_compiler.py；spaceframe.py；五分钟演示例题的真实界面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5D0682-13BF-4857-9303-249D78A1E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cc89b92914444"/>
          <a:stretch xmlns:a="http://schemas.openxmlformats.org/drawingml/2006/main"/>
        </p:blipFill>
        <p:spPr>
          <a:xfrm xmlns:a="http://schemas.openxmlformats.org/drawingml/2006/main">
            <a:off x="771525" y="1771650"/>
            <a:ext cx="4876800" cy="274320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3AFA26-BD5C-4B2B-91D4-2934A70F4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0bcf6d3884dbb"/>
          <a:stretch xmlns:a="http://schemas.openxmlformats.org/drawingml/2006/main"/>
        </p:blipFill>
        <p:spPr>
          <a:xfrm xmlns:a="http://schemas.openxmlformats.org/drawingml/2006/main">
            <a:off x="6543675" y="1771650"/>
            <a:ext cx="4876800" cy="2743200"/>
          </a:xfrm>
          <a:prstGeom xmlns:a="http://schemas.openxmlformats.org/drawingml/2006/main" prst="rect">
            <a:avLst/>
          </a:prstGeom>
        </p:spPr>
      </p:pic>
      <p:sp>
        <p:nvSpPr>
          <p:cNvPr id="39" name="图注模型">
            <a:extLst xmlns:a="http://schemas.openxmlformats.org/drawingml/2006/main">
              <a:ext uri="{FF2B5EF4-FFF2-40B4-BE49-F238E27FC236}">
                <a16:creationId xmlns:a16="http://schemas.microsoft.com/office/drawing/2014/main" id="{BBB156D4-BFD3-4856-8A57-8E67B84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统一模型：节点 / 杆件 / 支座 / 荷载</a:t>
            </a:r>
          </a:p>
        </p:txBody>
      </p:sp>
      <p:sp>
        <p:nvSpPr>
          <p:cNvPr id="40" name="图注结果">
            <a:extLst xmlns:a="http://schemas.openxmlformats.org/drawingml/2006/main">
              <a:ext uri="{FF2B5EF4-FFF2-40B4-BE49-F238E27FC236}">
                <a16:creationId xmlns:a16="http://schemas.microsoft.com/office/drawing/2014/main" id="{5F8FBE19-1934-47DE-A41F-CF3998DD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同一次求解：云图 / 查询 / 计算书</a:t>
            </a:r>
          </a:p>
        </p:txBody>
      </p:sp>
      <p:sp>
        <p:nvSpPr>
          <p:cNvPr id="41" name="流程0">
            <a:extLst xmlns:a="http://schemas.openxmlformats.org/drawingml/2006/main">
              <a:ext uri="{FF2B5EF4-FFF2-40B4-BE49-F238E27FC236}">
                <a16:creationId xmlns:a16="http://schemas.microsoft.com/office/drawing/2014/main" id="{3011B72E-9DB2-4014-9D1A-25418998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AI 意图</a:t>
            </a:r>
          </a:p>
        </p:txBody>
      </p:sp>
      <p:sp>
        <p:nvSpPr>
          <p:cNvPr id="42" name="顺序0">
            <a:extLst xmlns:a="http://schemas.openxmlformats.org/drawingml/2006/main">
              <a:ext uri="{FF2B5EF4-FFF2-40B4-BE49-F238E27FC236}">
                <a16:creationId xmlns:a16="http://schemas.microsoft.com/office/drawing/2014/main" id="{82327930-0A6C-4A4C-8989-4BB3D0A0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577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3" name="流程1">
            <a:extLst xmlns:a="http://schemas.openxmlformats.org/drawingml/2006/main">
              <a:ext uri="{FF2B5EF4-FFF2-40B4-BE49-F238E27FC236}">
                <a16:creationId xmlns:a16="http://schemas.microsoft.com/office/drawing/2014/main" id="{591802B5-CC1C-4E08-8BF8-083BDA37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67300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JSON 参数</a:t>
            </a:r>
          </a:p>
        </p:txBody>
      </p:sp>
      <p:sp>
        <p:nvSpPr>
          <p:cNvPr id="44" name="顺序1">
            <a:extLst xmlns:a="http://schemas.openxmlformats.org/drawingml/2006/main">
              <a:ext uri="{FF2B5EF4-FFF2-40B4-BE49-F238E27FC236}">
                <a16:creationId xmlns:a16="http://schemas.microsoft.com/office/drawing/2014/main" id="{21F5C99C-18B9-4E7E-8CF9-96F689F0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577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5" name="流程2">
            <a:extLst xmlns:a="http://schemas.openxmlformats.org/drawingml/2006/main">
              <a:ext uri="{FF2B5EF4-FFF2-40B4-BE49-F238E27FC236}">
                <a16:creationId xmlns:a16="http://schemas.microsoft.com/office/drawing/2014/main" id="{4FCF4FBE-08DE-43DB-8CD1-DFA6C0E5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67300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工程校验</a:t>
            </a:r>
          </a:p>
        </p:txBody>
      </p:sp>
      <p:sp>
        <p:nvSpPr>
          <p:cNvPr id="46" name="顺序2">
            <a:extLst xmlns:a="http://schemas.openxmlformats.org/drawingml/2006/main">
              <a:ext uri="{FF2B5EF4-FFF2-40B4-BE49-F238E27FC236}">
                <a16:creationId xmlns:a16="http://schemas.microsoft.com/office/drawing/2014/main" id="{DCBFE997-8B59-4932-B5E9-1D952F46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577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7" name="流程3">
            <a:extLst xmlns:a="http://schemas.openxmlformats.org/drawingml/2006/main">
              <a:ext uri="{FF2B5EF4-FFF2-40B4-BE49-F238E27FC236}">
                <a16:creationId xmlns:a16="http://schemas.microsoft.com/office/drawing/2014/main" id="{0AF22D48-A930-4751-BFAA-E69837F1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67300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单元编译</a:t>
            </a:r>
          </a:p>
        </p:txBody>
      </p:sp>
      <p:sp>
        <p:nvSpPr>
          <p:cNvPr id="48" name="顺序3">
            <a:extLst xmlns:a="http://schemas.openxmlformats.org/drawingml/2006/main">
              <a:ext uri="{FF2B5EF4-FFF2-40B4-BE49-F238E27FC236}">
                <a16:creationId xmlns:a16="http://schemas.microsoft.com/office/drawing/2014/main" id="{816B2713-6B52-4D39-8C19-F9D0E8D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0577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9" name="流程4">
            <a:extLst xmlns:a="http://schemas.openxmlformats.org/drawingml/2006/main">
              <a:ext uri="{FF2B5EF4-FFF2-40B4-BE49-F238E27FC236}">
                <a16:creationId xmlns:a16="http://schemas.microsoft.com/office/drawing/2014/main" id="{7DCBAEE3-B908-491B-A892-9CFDCD0D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67300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K u = F</a:t>
            </a:r>
          </a:p>
        </p:txBody>
      </p:sp>
      <p:sp>
        <p:nvSpPr>
          <p:cNvPr id="50" name="顺序4">
            <a:extLst xmlns:a="http://schemas.openxmlformats.org/drawingml/2006/main">
              <a:ext uri="{FF2B5EF4-FFF2-40B4-BE49-F238E27FC236}">
                <a16:creationId xmlns:a16="http://schemas.microsoft.com/office/drawing/2014/main" id="{4C93575E-38C4-48E6-A29F-9CEE68A2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577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1" name="流程5">
            <a:extLst xmlns:a="http://schemas.openxmlformats.org/drawingml/2006/main">
              <a:ext uri="{FF2B5EF4-FFF2-40B4-BE49-F238E27FC236}">
                <a16:creationId xmlns:a16="http://schemas.microsoft.com/office/drawing/2014/main" id="{0AB02E4E-48AA-41CF-8F4C-9152950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067300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图表报告</a:t>
            </a:r>
          </a:p>
        </p:txBody>
      </p:sp>
      <p:sp>
        <p:nvSpPr>
          <p:cNvPr id="52" name="机制说明">
            <a:extLst xmlns:a="http://schemas.openxmlformats.org/drawingml/2006/main">
              <a:ext uri="{FF2B5EF4-FFF2-40B4-BE49-F238E27FC236}">
                <a16:creationId xmlns:a16="http://schemas.microsoft.com/office/drawing/2014/main" id="{9FF44C15-589A-40BB-BFA6-E69C4B4D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空间梁：每节点 6 自由度，单元刚度 12×12；EB / Timoshenko 分支</a:t>
            </a:r>
          </a:p>
        </p:txBody>
      </p:sp>
      <p:sp>
        <p:nvSpPr>
          <p:cNvPr id="53" name="机制补充">
            <a:extLst xmlns:a="http://schemas.openxmlformats.org/drawingml/2006/main">
              <a:ext uri="{FF2B5EF4-FFF2-40B4-BE49-F238E27FC236}">
                <a16:creationId xmlns:a16="http://schemas.microsoft.com/office/drawing/2014/main" id="{70012199-2C3B-49A8-88C5-00F9FF78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坐标变换、杆端释放、整体组装与约束处理；求解后进行平衡校核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2C5B3890-781B-4030-A3CE-394408BDB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72e87bfe647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D8C0B221-F35C-4A91-AE44-3FCEFDE5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已完成工作与实现规模 · 软件原型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02CFA8F3-0275-48FE-95FF-165C03D1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已形成建模、计算、交互与文档的完整主流程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E55528AB-6D25-445C-97B5-6DB85AC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437A9544-85FC-4C36-8659-146FA809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统计截至2026-10-10；来源：课程报告、解析金标准及最近完整回归记录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17B93-1B7E-4769-8754-987EB99A0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fe338314141ad"/>
          <a:stretch xmlns:a="http://schemas.openxmlformats.org/drawingml/2006/main"/>
        </p:blipFill>
        <p:spPr>
          <a:xfrm xmlns:a="http://schemas.openxmlformats.org/drawingml/2006/main">
            <a:off x="1060450" y="1781175"/>
            <a:ext cx="7366000" cy="4143375"/>
          </a:xfrm>
          <a:prstGeom xmlns:a="http://schemas.openxmlformats.org/drawingml/2006/main" prst="rect">
            <a:avLst/>
          </a:prstGeom>
        </p:spPr>
      </p:pic>
      <p:sp>
        <p:nvSpPr>
          <p:cNvPr id="38" name="规模数值0">
            <a:extLst xmlns:a="http://schemas.openxmlformats.org/drawingml/2006/main">
              <a:ext uri="{FF2B5EF4-FFF2-40B4-BE49-F238E27FC236}">
                <a16:creationId xmlns:a16="http://schemas.microsoft.com/office/drawing/2014/main" id="{D02A72C9-AEA8-4E22-9CA5-2A27940D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9070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240</a:t>
            </a:r>
          </a:p>
        </p:txBody>
      </p:sp>
      <p:sp>
        <p:nvSpPr>
          <p:cNvPr id="39" name="规模含义0">
            <a:extLst xmlns:a="http://schemas.openxmlformats.org/drawingml/2006/main">
              <a:ext uri="{FF2B5EF4-FFF2-40B4-BE49-F238E27FC236}">
                <a16:creationId xmlns:a16="http://schemas.microsoft.com/office/drawing/2014/main" id="{88036D35-A82B-4FAC-AA8C-9048341D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717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Python 文件</a:t>
            </a:r>
          </a:p>
        </p:txBody>
      </p:sp>
      <p:sp>
        <p:nvSpPr>
          <p:cNvPr id="40" name="规模数值1">
            <a:extLst xmlns:a="http://schemas.openxmlformats.org/drawingml/2006/main">
              <a:ext uri="{FF2B5EF4-FFF2-40B4-BE49-F238E27FC236}">
                <a16:creationId xmlns:a16="http://schemas.microsoft.com/office/drawing/2014/main" id="{F77B3187-7289-493E-A717-4A13BA5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1940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63</a:t>
            </a:r>
          </a:p>
        </p:txBody>
      </p:sp>
      <p:sp>
        <p:nvSpPr>
          <p:cNvPr id="41" name="规模含义1">
            <a:extLst xmlns:a="http://schemas.openxmlformats.org/drawingml/2006/main">
              <a:ext uri="{FF2B5EF4-FFF2-40B4-BE49-F238E27FC236}">
                <a16:creationId xmlns:a16="http://schemas.microsoft.com/office/drawing/2014/main" id="{0E4A6CD9-C8FF-4BEC-9AA3-FAB4D987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004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注册工具</a:t>
            </a:r>
          </a:p>
        </p:txBody>
      </p:sp>
      <p:sp>
        <p:nvSpPr>
          <p:cNvPr id="42" name="规模数值2">
            <a:extLst xmlns:a="http://schemas.openxmlformats.org/drawingml/2006/main">
              <a:ext uri="{FF2B5EF4-FFF2-40B4-BE49-F238E27FC236}">
                <a16:creationId xmlns:a16="http://schemas.microsoft.com/office/drawing/2014/main" id="{4B5C694F-D302-4595-893F-2C331838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4810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43" name="规模含义2">
            <a:extLst xmlns:a="http://schemas.openxmlformats.org/drawingml/2006/main">
              <a:ext uri="{FF2B5EF4-FFF2-40B4-BE49-F238E27FC236}">
                <a16:creationId xmlns:a16="http://schemas.microsoft.com/office/drawing/2014/main" id="{CAC1D561-B8A2-416E-8947-87948E26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29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解析金标准</a:t>
            </a:r>
          </a:p>
        </p:txBody>
      </p:sp>
      <p:sp>
        <p:nvSpPr>
          <p:cNvPr id="44" name="规模数值3">
            <a:extLst xmlns:a="http://schemas.openxmlformats.org/drawingml/2006/main">
              <a:ext uri="{FF2B5EF4-FFF2-40B4-BE49-F238E27FC236}">
                <a16:creationId xmlns:a16="http://schemas.microsoft.com/office/drawing/2014/main" id="{AD8C9B67-7C7D-4091-B401-1A475806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7680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2837</a:t>
            </a:r>
          </a:p>
        </p:txBody>
      </p:sp>
      <p:sp>
        <p:nvSpPr>
          <p:cNvPr id="45" name="规模含义3">
            <a:extLst xmlns:a="http://schemas.openxmlformats.org/drawingml/2006/main">
              <a:ext uri="{FF2B5EF4-FFF2-40B4-BE49-F238E27FC236}">
                <a16:creationId xmlns:a16="http://schemas.microsoft.com/office/drawing/2014/main" id="{0D925E7E-8FFD-4247-A803-8B71C96D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578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回归测试通过</a:t>
            </a:r>
          </a:p>
        </p:txBody>
      </p:sp>
      <p:sp>
        <p:nvSpPr>
          <p:cNvPr id="46" name="交付能力">
            <a:extLst xmlns:a="http://schemas.openxmlformats.org/drawingml/2006/main">
              <a:ext uri="{FF2B5EF4-FFF2-40B4-BE49-F238E27FC236}">
                <a16:creationId xmlns:a16="http://schemas.microsoft.com/office/drawing/2014/main" id="{078AF2B6-2D83-48D9-98E0-1C21EDD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人工 / 参数化建模 → 多工况求解 → 云图与验算 → Word 计算书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28E0FD22-528D-4893-8D51-674CF1C9BC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a2f739f5743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810DC1B8-8A33-4F00-8D76-CCFDD4F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已完成工作与实现规模 · 复杂算例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7F466606-5F79-4B1C-A1F8-93FD4E7B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复杂屋盖已完成多工况分析与截面调整对比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2DB1F560-ADF8-42D5-B469-290EE936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1B001C39-3BA1-4BCF-830F-82DC4035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来源：复杂屋盖真实调用记录与原稿截图；教学设定，未完成全套工程设计认证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50705F-D797-4FF2-819F-E08F74CAB3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033e4cf144e9d"/>
          <a:stretch xmlns:a="http://schemas.openxmlformats.org/drawingml/2006/main"/>
        </p:blipFill>
        <p:spPr>
          <a:xfrm xmlns:a="http://schemas.openxmlformats.org/drawingml/2006/main">
            <a:off x="657225" y="1876425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38" name="屋盖规模">
            <a:extLst xmlns:a="http://schemas.openxmlformats.org/drawingml/2006/main">
              <a:ext uri="{FF2B5EF4-FFF2-40B4-BE49-F238E27FC236}">
                <a16:creationId xmlns:a16="http://schemas.microsoft.com/office/drawing/2014/main" id="{D717B2A1-44C2-4203-8479-693001AC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710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24 m 跨度 × 36 m 长度</a:t>
            </a:r>
          </a:p>
        </p:txBody>
      </p:sp>
      <p:sp>
        <p:nvSpPr>
          <p:cNvPr id="39" name="工况规模">
            <a:extLst xmlns:a="http://schemas.openxmlformats.org/drawingml/2006/main">
              <a:ext uri="{FF2B5EF4-FFF2-40B4-BE49-F238E27FC236}">
                <a16:creationId xmlns:a16="http://schemas.microsoft.com/office/drawing/2014/main" id="{85F42332-FB8C-4BB7-B969-69165953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7105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239 节点 / 622 杆件 / 5 工况 / 5 组合</a:t>
            </a:r>
          </a:p>
        </p:txBody>
      </p:sp>
      <p:graphicFrame>
        <p:nvGraphicFramePr>
          <p:cNvPr id="40" name="Chart">
            <a:extLst xmlns:a="http://schemas.openxmlformats.org/drawingml/2006/main">
              <a:ext uri="{FF2B5EF4-FFF2-40B4-BE49-F238E27FC236}">
                <a16:creationId xmlns:a16="http://schemas.microsoft.com/office/drawing/2014/main" id="{1BA96B82-9690-4A8F-B67C-9DD14B95E71F}"/>
              </a:ext>
            </a:extLst>
          </p:cNvPr>
          <p:cNvGraphicFramePr/>
          <p:nvPr/>
        </p:nvGraphicFramePr>
        <p:xfrm>
          <a:off xmlns:a="http://schemas.openxmlformats.org/drawingml/2006/main" x="7924800" y="1866900"/>
          <a:ext xmlns:a="http://schemas.openxmlformats.org/drawingml/2006/main" cx="37338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5f3ea24df64fe6"/>
          </a:graphicData>
        </a:graphic>
      </p:graphicFrame>
      <p:sp>
        <p:nvSpPr>
          <p:cNvPr id="41" name="调整说明">
            <a:extLst xmlns:a="http://schemas.openxmlformats.org/drawingml/2006/main">
              <a:ext uri="{FF2B5EF4-FFF2-40B4-BE49-F238E27FC236}">
                <a16:creationId xmlns:a16="http://schemas.microsoft.com/office/drawing/2014/main" id="{D030793E-4412-4557-BAD9-ACE4D57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863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拱杆截面调整</a:t>
            </a:r>
          </a:p>
        </p:txBody>
      </p:sp>
      <p:sp>
        <p:nvSpPr>
          <p:cNvPr id="42" name="应力变化">
            <a:extLst xmlns:a="http://schemas.openxmlformats.org/drawingml/2006/main">
              <a:ext uri="{FF2B5EF4-FFF2-40B4-BE49-F238E27FC236}">
                <a16:creationId xmlns:a16="http://schemas.microsoft.com/office/drawing/2014/main" id="{45418882-4F61-4431-9770-1E2627BC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673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应力比 1.012 → 0.806</a:t>
            </a:r>
          </a:p>
        </p:txBody>
      </p:sp>
      <p:sp>
        <p:nvSpPr>
          <p:cNvPr id="43" name="代价说明">
            <a:extLst xmlns:a="http://schemas.openxmlformats.org/drawingml/2006/main">
              <a:ext uri="{FF2B5EF4-FFF2-40B4-BE49-F238E27FC236}">
                <a16:creationId xmlns:a16="http://schemas.microsoft.com/office/drawing/2014/main" id="{09F0AC93-6370-421D-828E-216A656A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8645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自重 593.09 → 696.41 kN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153A0629-38EB-415F-B9E0-7646C95DDA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086c78a204b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725F8441-64A3-4ACD-859C-C30E9270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已完成工作与实现规模 · 局部实体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5FE18504-2BD3-400B-9A7C-8228EF3E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梁截面力可传递至局部实体模型，查看应力分布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50647AC8-9260-4F2F-BA68-EB86CA3C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F6E786B6-84C6-4A94-A3E8-965D193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来源：节点65实体界面；SOLID_JOINT_SCOPE.md；局部截图保留原始图例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0BC4CF-D845-4353-A209-FB83C43E3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70efe1ae44130"/>
          <a:srcRect xmlns:a="http://schemas.openxmlformats.org/drawingml/2006/main" l="26300" t="30200" r="3700" b="5000"/>
          <a:stretch xmlns:a="http://schemas.openxmlformats.org/drawingml/2006/main"/>
        </p:blipFill>
        <p:spPr>
          <a:xfrm xmlns:a="http://schemas.openxmlformats.org/drawingml/2006/main">
            <a:off x="533400" y="1762125"/>
            <a:ext cx="8239125" cy="4286250"/>
          </a:xfrm>
          <a:prstGeom xmlns:a="http://schemas.openxmlformats.org/drawingml/2006/main" prst="rect">
            <a:avLst/>
          </a:prstGeom>
        </p:spPr>
      </p:pic>
      <p:sp>
        <p:nvSpPr>
          <p:cNvPr id="38" name="步骤1">
            <a:extLst xmlns:a="http://schemas.openxmlformats.org/drawingml/2006/main">
              <a:ext uri="{FF2B5EF4-FFF2-40B4-BE49-F238E27FC236}">
                <a16:creationId xmlns:a16="http://schemas.microsoft.com/office/drawing/2014/main" id="{D6AE6E76-919A-4622-B2D8-653C7CDD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梁模型截面力</a:t>
            </a:r>
          </a:p>
        </p:txBody>
      </p:sp>
      <p:sp>
        <p:nvSpPr>
          <p:cNvPr id="39" name="步骤1注">
            <a:extLst xmlns:a="http://schemas.openxmlformats.org/drawingml/2006/main">
              <a:ext uri="{FF2B5EF4-FFF2-40B4-BE49-F238E27FC236}">
                <a16:creationId xmlns:a16="http://schemas.microsoft.com/office/drawing/2014/main" id="{9F1E02C0-FA27-4AA5-A4C4-AB128E9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六个内力分量传递</a:t>
            </a:r>
          </a:p>
        </p:txBody>
      </p:sp>
      <p:sp>
        <p:nvSpPr>
          <p:cNvPr id="40" name="步骤2">
            <a:extLst xmlns:a="http://schemas.openxmlformats.org/drawingml/2006/main">
              <a:ext uri="{FF2B5EF4-FFF2-40B4-BE49-F238E27FC236}">
                <a16:creationId xmlns:a16="http://schemas.microsoft.com/office/drawing/2014/main" id="{97D5FB53-3A53-46A4-9D7D-EFC5BDA0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051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Gmsh 实体网格</a:t>
            </a:r>
          </a:p>
        </p:txBody>
      </p:sp>
      <p:sp>
        <p:nvSpPr>
          <p:cNvPr id="41" name="步骤2注">
            <a:extLst xmlns:a="http://schemas.openxmlformats.org/drawingml/2006/main">
              <a:ext uri="{FF2B5EF4-FFF2-40B4-BE49-F238E27FC236}">
                <a16:creationId xmlns:a16="http://schemas.microsoft.com/office/drawing/2014/main" id="{D4095243-20D6-4744-9CE7-2F23249F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62375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自研 C3D10 求解</a:t>
            </a:r>
          </a:p>
        </p:txBody>
      </p:sp>
      <p:sp>
        <p:nvSpPr>
          <p:cNvPr id="42" name="步骤3">
            <a:extLst xmlns:a="http://schemas.openxmlformats.org/drawingml/2006/main">
              <a:ext uri="{FF2B5EF4-FFF2-40B4-BE49-F238E27FC236}">
                <a16:creationId xmlns:a16="http://schemas.microsoft.com/office/drawing/2014/main" id="{750F51D3-7F33-419A-8DC6-F9425AEC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10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应力云图与热点</a:t>
            </a:r>
          </a:p>
        </p:txBody>
      </p:sp>
      <p:sp>
        <p:nvSpPr>
          <p:cNvPr id="43" name="步骤3注">
            <a:extLst xmlns:a="http://schemas.openxmlformats.org/drawingml/2006/main">
              <a:ext uri="{FF2B5EF4-FFF2-40B4-BE49-F238E27FC236}">
                <a16:creationId xmlns:a16="http://schemas.microsoft.com/office/drawing/2014/main" id="{924D5256-488C-45EB-BA31-7C102CCB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673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对照原始峰值与色标</a:t>
            </a:r>
          </a:p>
        </p:txBody>
      </p:sp>
      <p:sp>
        <p:nvSpPr>
          <p:cNvPr id="44" name="实体边界">
            <a:extLst xmlns:a="http://schemas.openxmlformats.org/drawingml/2006/main">
              <a:ext uri="{FF2B5EF4-FFF2-40B4-BE49-F238E27FC236}">
                <a16:creationId xmlns:a16="http://schemas.microsoft.com/office/drawing/2014/main" id="{2F90BA1D-2E0F-43DD-B54D-0768DA70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现阶段为实验性扩展；正式 Kt 需多档网格收敛与独立对标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EE4382D1-DC79-4B4D-83E7-1FF5FCE5F0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393478eda40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9209DC30-FCAA-4895-B02B-6173BDB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4  前期遇到的问题及解决方法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72DC1C4C-051A-4E85-BFC8-0C9A440F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把“未知荷载”保留为空，避免误提交为零值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F9B65642-C254-4A20-8199-948ED259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469C917F-3E20-4733-ADCD-F2B99B0D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来源：2026-10-10真实缺陷与回归记录；修复后审核界面局部截图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40CA85-5081-4E8B-B913-2F944F971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61e87ab6645a8"/>
          <a:srcRect xmlns:a="http://schemas.openxmlformats.org/drawingml/2006/main" l="0" t="39800" r="1300" b="2600"/>
          <a:stretch xmlns:a="http://schemas.openxmlformats.org/drawingml/2006/main"/>
        </p:blipFill>
        <p:spPr>
          <a:xfrm xmlns:a="http://schemas.openxmlformats.org/drawingml/2006/main">
            <a:off x="533400" y="2238375"/>
            <a:ext cx="7143750" cy="2733675"/>
          </a:xfrm>
          <a:prstGeom xmlns:a="http://schemas.openxmlformats.org/drawingml/2006/main" prst="rect">
            <a:avLst/>
          </a:prstGeom>
        </p:spPr>
      </p:pic>
      <p:sp>
        <p:nvSpPr>
          <p:cNvPr id="38" name="截图含义">
            <a:extLst xmlns:a="http://schemas.openxmlformats.org/drawingml/2006/main">
              <a:ext uri="{FF2B5EF4-FFF2-40B4-BE49-F238E27FC236}">
                <a16:creationId xmlns:a16="http://schemas.microsoft.com/office/drawing/2014/main" id="{5616C9AF-B81F-4923-B14F-B3E5D526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714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修复后：缺失分量为空，需确认后才能提交</a:t>
            </a:r>
          </a:p>
        </p:txBody>
      </p:sp>
      <p:sp>
        <p:nvSpPr>
          <p:cNvPr id="39" name="问题">
            <a:extLst xmlns:a="http://schemas.openxmlformats.org/drawingml/2006/main">
              <a:ext uri="{FF2B5EF4-FFF2-40B4-BE49-F238E27FC236}">
                <a16:creationId xmlns:a16="http://schemas.microsoft.com/office/drawing/2014/main" id="{617FF1DB-8E70-41A5-B8E7-4EFCF07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24050"/>
            <a:ext cx="3552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发现：未知量显示为 0</a:t>
            </a:r>
          </a:p>
        </p:txBody>
      </p:sp>
      <p:sp>
        <p:nvSpPr>
          <p:cNvPr id="40" name="原因">
            <a:extLst xmlns:a="http://schemas.openxmlformats.org/drawingml/2006/main">
              <a:ext uri="{FF2B5EF4-FFF2-40B4-BE49-F238E27FC236}">
                <a16:creationId xmlns:a16="http://schemas.microsoft.com/office/drawing/2014/main" id="{C1C864F0-E34F-4462-BBC8-6DA4A460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81300"/>
            <a:ext cx="35528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原因：控件默认值</a:t>
            </a:r>
          </a:p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覆盖了“未知”语义</a:t>
            </a:r>
          </a:p>
        </p:txBody>
      </p:sp>
      <p:sp>
        <p:nvSpPr>
          <p:cNvPr id="41" name="处理">
            <a:extLst xmlns:a="http://schemas.openxmlformats.org/drawingml/2006/main">
              <a:ext uri="{FF2B5EF4-FFF2-40B4-BE49-F238E27FC236}">
                <a16:creationId xmlns:a16="http://schemas.microsoft.com/office/drawing/2014/main" id="{6A6BCF16-C85B-4A5E-B68B-AD0137B1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10000"/>
            <a:ext cx="35528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处理：保留空白</a:t>
            </a:r>
          </a:p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校验数值、单位与确认状态</a:t>
            </a:r>
          </a:p>
        </p:txBody>
      </p:sp>
      <p:sp>
        <p:nvSpPr>
          <p:cNvPr id="42" name="验证">
            <a:extLst xmlns:a="http://schemas.openxmlformats.org/drawingml/2006/main">
              <a:ext uri="{FF2B5EF4-FFF2-40B4-BE49-F238E27FC236}">
                <a16:creationId xmlns:a16="http://schemas.microsoft.com/office/drawing/2014/main" id="{2FC4D070-74DC-4121-9213-9FAF2039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838700"/>
            <a:ext cx="3552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验证：缺失 / 非法值回归</a:t>
            </a:r>
          </a:p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未确认时阻断导入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566FB74F-5066-458B-AD79-6FE4984D47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0052c43b049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96F9D98B-6453-4CAD-8F6B-17CAD5C3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5  现阶段总结与后续计划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716373AB-EA92-443E-B947-C3FBCB7C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主流程已形成，研究重点转向复杂场景的可靠性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BCCC0C6A-6725-4AEE-A400-2DC2390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7B478138-1306-4CAE-9A6F-71512078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来源：答辩验收与能力矩阵；左图含公开图，Jacob Moore 等 / CC BY-SA 4.0</a:t>
            </a:r>
          </a:p>
        </p:txBody>
      </p:sp>
      <p:sp>
        <p:nvSpPr>
          <p:cNvPr id="37" name="研究方向0">
            <a:extLst xmlns:a="http://schemas.openxmlformats.org/drawingml/2006/main">
              <a:ext uri="{FF2B5EF4-FFF2-40B4-BE49-F238E27FC236}">
                <a16:creationId xmlns:a16="http://schemas.microsoft.com/office/drawing/2014/main" id="{E9B41EFF-2498-47AA-8D22-06D09F4C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工程图识别</a:t>
            </a:r>
          </a:p>
        </p:txBody>
      </p:sp>
      <p:sp>
        <p:nvSpPr>
          <p:cNvPr id="38" name="研究方向1">
            <a:extLst xmlns:a="http://schemas.openxmlformats.org/drawingml/2006/main">
              <a:ext uri="{FF2B5EF4-FFF2-40B4-BE49-F238E27FC236}">
                <a16:creationId xmlns:a16="http://schemas.microsoft.com/office/drawing/2014/main" id="{5730068B-3F54-486F-99FF-466ACD05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局部应力验证</a:t>
            </a:r>
          </a:p>
        </p:txBody>
      </p:sp>
      <p:sp>
        <p:nvSpPr>
          <p:cNvPr id="39" name="研究方向2">
            <a:extLst xmlns:a="http://schemas.openxmlformats.org/drawingml/2006/main">
              <a:ext uri="{FF2B5EF4-FFF2-40B4-BE49-F238E27FC236}">
                <a16:creationId xmlns:a16="http://schemas.microsoft.com/office/drawing/2014/main" id="{7179100C-5F50-48CF-A87D-079B0A3B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621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软件交付与扩展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821E0F-0D7F-4279-90AC-9F51C4AEE3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8e7e7129248d2"/>
          <a:srcRect xmlns:a="http://schemas.openxmlformats.org/drawingml/2006/main" l="0" t="0" r="0" b="18400"/>
          <a:stretch xmlns:a="http://schemas.openxmlformats.org/drawingml/2006/main"/>
        </p:blipFill>
        <p:spPr>
          <a:xfrm xmlns:a="http://schemas.openxmlformats.org/drawingml/2006/main">
            <a:off x="533400" y="2238375"/>
            <a:ext cx="3505200" cy="209550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1BF655-99A9-4F22-A99B-3830DCE0EA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9d30456a04413"/>
          <a:stretch xmlns:a="http://schemas.openxmlformats.org/drawingml/2006/main"/>
        </p:blipFill>
        <p:spPr>
          <a:xfrm xmlns:a="http://schemas.openxmlformats.org/drawingml/2006/main">
            <a:off x="4343400" y="2300288"/>
            <a:ext cx="3505200" cy="1971675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973082-6C57-4AE7-A436-FA417F4F0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5d98c338c4adc"/>
          <a:srcRect xmlns:a="http://schemas.openxmlformats.org/drawingml/2006/main" l="11000" t="8000" r="13000" b="60000"/>
          <a:stretch xmlns:a="http://schemas.openxmlformats.org/drawingml/2006/main"/>
        </p:blipFill>
        <p:spPr>
          <a:xfrm xmlns:a="http://schemas.openxmlformats.org/drawingml/2006/main">
            <a:off x="8153400" y="2238375"/>
            <a:ext cx="3505200" cy="1905000"/>
          </a:xfrm>
          <a:prstGeom xmlns:a="http://schemas.openxmlformats.org/drawingml/2006/main" prst="rect">
            <a:avLst/>
          </a:prstGeom>
        </p:spPr>
      </p:pic>
      <p:sp>
        <p:nvSpPr>
          <p:cNvPr id="43" name="计划1">
            <a:extLst xmlns:a="http://schemas.openxmlformats.org/drawingml/2006/main">
              <a:ext uri="{FF2B5EF4-FFF2-40B4-BE49-F238E27FC236}">
                <a16:creationId xmlns:a16="http://schemas.microsoft.com/office/drawing/2014/main" id="{E7133C50-E662-44DE-9DD3-B62EF6A1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350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建立独立留出样本</a:t>
            </a:r>
          </a:p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核对拓扑、荷载与尺度</a:t>
            </a:r>
          </a:p>
        </p:txBody>
      </p:sp>
      <p:sp>
        <p:nvSpPr>
          <p:cNvPr id="44" name="计划2">
            <a:extLst xmlns:a="http://schemas.openxmlformats.org/drawingml/2006/main">
              <a:ext uri="{FF2B5EF4-FFF2-40B4-BE49-F238E27FC236}">
                <a16:creationId xmlns:a16="http://schemas.microsoft.com/office/drawing/2014/main" id="{F30B307A-F744-4E68-8384-14F37DE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350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三档网格与热点提取</a:t>
            </a:r>
          </a:p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与 Abaqus 独立对标</a:t>
            </a:r>
          </a:p>
        </p:txBody>
      </p:sp>
      <p:sp>
        <p:nvSpPr>
          <p:cNvPr id="45" name="计划3">
            <a:extLst xmlns:a="http://schemas.openxmlformats.org/drawingml/2006/main">
              <a:ext uri="{FF2B5EF4-FFF2-40B4-BE49-F238E27FC236}">
                <a16:creationId xmlns:a16="http://schemas.microsoft.com/office/drawing/2014/main" id="{55AA442E-ED26-4B62-9D48-B9C3963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24375"/>
            <a:ext cx="350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冻结版本并验收交付</a:t>
            </a:r>
          </a:p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先建基准，再扩展力学</a:t>
            </a:r>
          </a:p>
        </p:txBody>
      </p:sp>
      <p:sp>
        <p:nvSpPr>
          <p:cNvPr id="46" name="验收1">
            <a:extLst xmlns:a="http://schemas.openxmlformats.org/drawingml/2006/main">
              <a:ext uri="{FF2B5EF4-FFF2-40B4-BE49-F238E27FC236}">
                <a16:creationId xmlns:a16="http://schemas.microsoft.com/office/drawing/2014/main" id="{F2E05C92-17C9-47BC-B568-DF7DA1D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指标：完整模型通过率</a:t>
            </a:r>
          </a:p>
        </p:txBody>
      </p:sp>
      <p:sp>
        <p:nvSpPr>
          <p:cNvPr id="47" name="验收2">
            <a:extLst xmlns:a="http://schemas.openxmlformats.org/drawingml/2006/main">
              <a:ext uri="{FF2B5EF4-FFF2-40B4-BE49-F238E27FC236}">
                <a16:creationId xmlns:a16="http://schemas.microsoft.com/office/drawing/2014/main" id="{BF3A5FA5-9CBC-4432-BC12-83092D98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6260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指标：收敛误差、Kt 范围</a:t>
            </a:r>
          </a:p>
        </p:txBody>
      </p:sp>
      <p:sp>
        <p:nvSpPr>
          <p:cNvPr id="48" name="验收3">
            <a:extLst xmlns:a="http://schemas.openxmlformats.org/drawingml/2006/main">
              <a:ext uri="{FF2B5EF4-FFF2-40B4-BE49-F238E27FC236}">
                <a16:creationId xmlns:a16="http://schemas.microsoft.com/office/drawing/2014/main" id="{4AF98E21-6F4F-4A63-9318-020555FA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6260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产物：验收记录、独立基准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6524CA44-314E-45B3-A014-6146DCD29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81a59b68a41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2A72744-879A-4124-8C3D-26EE96ED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1  同理论数值对标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D408F39C-931C-4DB8-8CBB-899072E3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已测试梁算例与 Abaqus B33 保持数值一致性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EB4C1937-FDB2-459A-AE98-F2B129DF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备答 1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9DAA1C8F-8959-442C-BA74-65955959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来源：abaqus_bench/benchmark_B33.md；结论限定于所列算例、相同理论与输入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A44D66-48C6-43C4-8CCC-898BD6F58643}"/>
              </a:ext>
            </a:extLst>
          </p:cNvPr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2857500"/>
                <a:gridCol w="3267075"/>
                <a:gridCol w="2381250"/>
              </a:tblGrid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算例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本程序 / mm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Abaqus B33 / mm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e(‖U‖)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悬臂强轴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42.8570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8.74×10⁻⁶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悬臂弱轴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857.1429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5.30×10⁻⁵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门式刚架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7.23×10⁻⁶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空间刚架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5.83×10⁻⁶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对标边界">
            <a:extLst xmlns:a="http://schemas.openxmlformats.org/drawingml/2006/main">
              <a:ext uri="{FF2B5EF4-FFF2-40B4-BE49-F238E27FC236}">
                <a16:creationId xmlns:a16="http://schemas.microsoft.com/office/drawing/2014/main" id="{2F380372-F5C7-47C2-974A-A2A5062A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B33 对应 EB 分支；该证据不代表局部实体或全非线性已验证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1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4467AF68-E500-4EDF-AF32-DCE299A440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50fe8394543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6A8D336-9602-4028-A214-9E959619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2  开发产物与能力边界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C4CAC3D9-ACD3-4E15-9C3D-DFA13CE9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规模有可复核产物，实验性功能有明确验证边界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B664CE3E-975E-412B-8153-DACD0C3A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备答 2</a:t>
            </a:r>
          </a:p>
        </p:txBody>
      </p:sp>
      <p:sp>
        <p:nvSpPr>
          <p:cNvPr id="36" name="资料出处">
            <a:extLst xmlns:a="http://schemas.openxmlformats.org/drawingml/2006/main">
              <a:ext uri="{FF2B5EF4-FFF2-40B4-BE49-F238E27FC236}">
                <a16:creationId xmlns:a16="http://schemas.microsoft.com/office/drawing/2014/main" id="{35A63D57-9CC8-4E1C-B080-6D106C4C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来源：课程报告 §2.1；能力矩阵；行数包含测试、注释及空行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3C7D19-3E75-420C-9EC4-6318C033A01C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381250"/>
                <a:gridCol w="4362450"/>
              </a:tblGrid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目录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文件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代码行数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29,387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内核、Agent、数据与报告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desktop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21,615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桌面、视口与后台任务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tests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33,741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自动回归测试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2,108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验证、测量与文档工具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能力边界">
            <a:extLst xmlns:a="http://schemas.openxmlformats.org/drawingml/2006/main">
              <a:ext uri="{FF2B5EF4-FFF2-40B4-BE49-F238E27FC236}">
                <a16:creationId xmlns:a16="http://schemas.microsoft.com/office/drawing/2014/main" id="{0C08C829-C14E-4119-9204-102F063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11125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图纸须人工审核；正式 Kt 须收敛；现有材料塑性限于轴向双线性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2026-10-10T17:04:45.9160000Z</dcterms:created>
  <dcterms:modified xsi:type="dcterms:W3CDTF">2026-10-10T17:04:45.9160000Z</dcterms:modified>
</coreProperties>
</file>