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7cd04bdea54fe8" /><Relationship Type="http://schemas.openxmlformats.org/officeDocument/2006/relationships/extended-properties" Target="/docProps/app.xml" Id="R8f44b63cae3d473c" /><Relationship Type="http://schemas.openxmlformats.org/officeDocument/2006/relationships/officeDocument" Target="/ppt/presentation.xml" Id="R93e9469463e8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6834cfa1fa4ddb"/>
  </p:sldMasterIdLst>
  <p:notesMasterIdLst>
    <p:notesMasterId xmlns:r="http://schemas.openxmlformats.org/officeDocument/2006/relationships" r:id="Re72a4f04294743f3"/>
  </p:notesMasterIdLst>
  <p:sldIdLst>
    <p:sldId xmlns:r="http://schemas.openxmlformats.org/officeDocument/2006/relationships" id="256" r:id="R096f1cc3ce5943cb"/>
    <p:sldId xmlns:r="http://schemas.openxmlformats.org/officeDocument/2006/relationships" id="257" r:id="Rffa90563a0884c82"/>
    <p:sldId xmlns:r="http://schemas.openxmlformats.org/officeDocument/2006/relationships" id="258" r:id="Rf41f77a879214769"/>
    <p:sldId xmlns:r="http://schemas.openxmlformats.org/officeDocument/2006/relationships" id="259" r:id="R75b95d893f914b83"/>
    <p:sldId xmlns:r="http://schemas.openxmlformats.org/officeDocument/2006/relationships" id="260" r:id="R782a82c1951f4d93"/>
    <p:sldId xmlns:r="http://schemas.openxmlformats.org/officeDocument/2006/relationships" id="261" r:id="Rc2c3da2abafa4819"/>
    <p:sldId xmlns:r="http://schemas.openxmlformats.org/officeDocument/2006/relationships" id="262" r:id="R039a5ad69d8b468f"/>
    <p:sldId xmlns:r="http://schemas.openxmlformats.org/officeDocument/2006/relationships" id="263" r:id="R612579366c7540e8"/>
    <p:sldId xmlns:r="http://schemas.openxmlformats.org/officeDocument/2006/relationships" id="264" r:id="R588cffcf8f284a0e"/>
    <p:sldId xmlns:r="http://schemas.openxmlformats.org/officeDocument/2006/relationships" id="265" r:id="R74f3a56b3b5241b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e55ac9255c4ba5" /><Relationship Type="http://schemas.openxmlformats.org/officeDocument/2006/relationships/slideMaster" Target="/ppt/slideMasters/slideMaster1.xml" Id="R146834cfa1fa4ddb" /><Relationship Type="http://schemas.openxmlformats.org/officeDocument/2006/relationships/notesMaster" Target="/ppt/notesMasters/notesMaster1.xml" Id="Re72a4f04294743f3" /><Relationship Type="http://schemas.openxmlformats.org/officeDocument/2006/relationships/presProps" Target="/ppt/presProps.xml" Id="R8ecef5d04c2c497a" /><Relationship Type="http://schemas.openxmlformats.org/officeDocument/2006/relationships/viewProps" Target="/ppt/viewProps.xml" Id="R9dcf73c70ac04c5b" /><Relationship Type="http://schemas.openxmlformats.org/officeDocument/2006/relationships/tableStyles" Target="/ppt/tableStyles.xml" Id="R281f8b91fb7c49ef" /><Relationship Type="http://schemas.openxmlformats.org/officeDocument/2006/relationships/slide" Target="/ppt/slides/slide1.xml" Id="R096f1cc3ce5943cb" /><Relationship Type="http://schemas.openxmlformats.org/officeDocument/2006/relationships/slide" Target="/ppt/slides/slide2.xml" Id="Rffa90563a0884c82" /><Relationship Type="http://schemas.openxmlformats.org/officeDocument/2006/relationships/slide" Target="/ppt/slides/slide3.xml" Id="Rf41f77a879214769" /><Relationship Type="http://schemas.openxmlformats.org/officeDocument/2006/relationships/slide" Target="/ppt/slides/slide4.xml" Id="R75b95d893f914b83" /><Relationship Type="http://schemas.openxmlformats.org/officeDocument/2006/relationships/slide" Target="/ppt/slides/slide5.xml" Id="R782a82c1951f4d93" /><Relationship Type="http://schemas.openxmlformats.org/officeDocument/2006/relationships/slide" Target="/ppt/slides/slide6.xml" Id="Rc2c3da2abafa4819" /><Relationship Type="http://schemas.openxmlformats.org/officeDocument/2006/relationships/slide" Target="/ppt/slides/slide7.xml" Id="R039a5ad69d8b468f" /><Relationship Type="http://schemas.openxmlformats.org/officeDocument/2006/relationships/slide" Target="/ppt/slides/slide8.xml" Id="R612579366c7540e8" /><Relationship Type="http://schemas.openxmlformats.org/officeDocument/2006/relationships/slide" Target="/ppt/slides/slide9.xml" Id="R588cffcf8f284a0e" /><Relationship Type="http://schemas.openxmlformats.org/officeDocument/2006/relationships/slide" Target="/ppt/slides/slide10.xml" Id="R74f3a56b3b52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d95ae2699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d5130b1a04d3d" /><Relationship Type="http://schemas.openxmlformats.org/officeDocument/2006/relationships/notesMaster" Target="/ppt/notesMasters/notesMaster1.xml" Id="R93d9791c536c44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9bd774679648c7" /><Relationship Type="http://schemas.openxmlformats.org/officeDocument/2006/relationships/notesMaster" Target="/ppt/notesMasters/notesMaster1.xml" Id="R36817374b9a941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63611eebd4ff5" /><Relationship Type="http://schemas.openxmlformats.org/officeDocument/2006/relationships/notesMaster" Target="/ppt/notesMasters/notesMaster1.xml" Id="Rc7c61c84f62b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d7049fcf949c3" /><Relationship Type="http://schemas.openxmlformats.org/officeDocument/2006/relationships/notesMaster" Target="/ppt/notesMasters/notesMaster1.xml" Id="R5318f002be5c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dc8e6c7af4204" /><Relationship Type="http://schemas.openxmlformats.org/officeDocument/2006/relationships/notesMaster" Target="/ppt/notesMasters/notesMaster1.xml" Id="R8be09007e61f41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b7d354608943e4" /><Relationship Type="http://schemas.openxmlformats.org/officeDocument/2006/relationships/notesMaster" Target="/ppt/notesMasters/notesMaster1.xml" Id="Rdaa943dffd0a43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567cde4bb044fd" /><Relationship Type="http://schemas.openxmlformats.org/officeDocument/2006/relationships/notesMaster" Target="/ppt/notesMasters/notesMaster1.xml" Id="R645ebf845bde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ddeae4a4f4305" /><Relationship Type="http://schemas.openxmlformats.org/officeDocument/2006/relationships/notesMaster" Target="/ppt/notesMasters/notesMaster1.xml" Id="Rf7cf96e9bb6e4e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95ec86e23d4a6f" /><Relationship Type="http://schemas.openxmlformats.org/officeDocument/2006/relationships/notesMaster" Target="/ppt/notesMasters/notesMaster1.xml" Id="R6d88f635f10d4e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9d30403ec3427e" /><Relationship Type="http://schemas.openxmlformats.org/officeDocument/2006/relationships/notesMaster" Target="/ppt/notesMasters/notesMaster1.xml" Id="R2579611d4ca3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【口头讲稿｜15秒】各位老师好，本项目面向空间钢结构的教学研究和方案试算。下面介绍AI与力学程序的分工、阶段成果、实际问题及后续研究。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【15秒】各位老师好，本项目是基于AI的空间刚架智能计算Agent开发，面向教学研究、建模辅助和方案试算。汇报说明AI与力学程序如何分工，并用实际算例展示阶段成果、验证边界和后续研究。</a:t>
            </a:r>
          </a:p>
          <a:p xmlns:a="http://schemas.openxmlformats.org/drawingml/2006/main">
            <a:r>
              <a:t>学校封面沿用现有v3，人员信息须由汇报人填写。统计截止日为2026年10月10日。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30秒】空间刚架分析需要完整的节点、杆件、支座和三维荷载。项目试验发现，AI理解工程图时可能存在语义歧义和信息遗漏，结果也可能缺乏计算依据。我们用结构化草稿和人工审核控制输入，由确定性程序计算数值，并把结果绑定到模型版本。建模、求解、查询、云图和计算书使用同源数据，便于复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30秒】空间刚架分析首先需要完整的节点、杆件、截面、支座及三维荷载。我们在项目试验中观察到工程语义歧义、信息遗漏、数值难追溯，以及修改模型后误读旧结果的风险。对应做法是结构化草稿与人工审核、确定性求解、模型版本绑定。项目价值是降低建模与结果查询的操作成本，并保留复算依据。这里总结项目观察，不作对所有AI系统的性能排名。</a:t>
            </a:r>
          </a:p>
          <a:p xmlns:a="http://schemas.openxmlformats.org/drawingml/2006/main">
            <a:r>
              <a:t>依据：docs/课程报告.md；src/model_io.py；src/session_solving.py；src/agent_tools.py；多模态公开图和审核缺陷记录。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60秒】上层是运行时流程：AI理解需求，形成结构化草稿和工具参数；用户确认尺度、支座、荷载等不确定信息。数值程序校验、编译并求解，AI不生成力学数值。空间梁每节点六自由度，单元刚度为12乘12，经坐标变换和整体组装，处理杆端释放与约束后求解Ku等于F，再恢复内力、反力并核查平衡。Euler–Bernoulli不计剪切；给出有效剪切面积时，对应平面启用Timoshenko。结果记录模型版本、工况和求解来源。底部是开发协作：研究者提出力学假设和验收标准，AI辅助实现、排错及维护，成果通过理论算例、独立复算和对标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60秒】运行时，AI理解工程需求，形成结构化草稿和工具参数；用户确认图中的尺度、支座及荷载等不确定信息。校验后，由数值程序编译和求解，AI不生成位移、反力、内力或应力数值。空间梁每节点六自由度，单元刚度为12乘12。局部刚度经坐标变换组装；杆端释放采用静力凝聚并恢复，约束处理后求解Ku等于F，随后恢复反力和内力并检查平衡。未给剪切面积时采用Euler–Bernoulli；给出有效Ay或Az时，相应弯曲平面采用Timoshenko并计入剪切柔度。结果记录模型版本、工况和工具来源。底部另列开发协作：研究者确定力学假设和验收要求，AI辅助实现和排错，成果仍通过基准、复算与对标验证。它与运行时的Agent功能是两个不同层面。</a:t>
            </a:r>
          </a:p>
          <a:p xmlns:a="http://schemas.openxmlformats.org/drawingml/2006/main">
            <a:r>
              <a:t>依据：src/frame3d.py，尤其Section的Ay/Az与刚度分支；src/model_compiler.py；src/agent_tools.py；src/session_solving.py；docs/课程报告.md。梁图为理论说明，无模型计算值，局部坐标方向仅用于示意。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30秒】已完成的模块包括力学内核、Agent工具、桌面、模型结果管理和计算书，右侧为真实复杂屋盖。截止10月10日，共240个Python文件、63个工具、28项解析基准。最近完整回归2837通过、1项环境跳过，此后仅增量验证。这些规模不等同于图纸识别准确率或人工工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30秒】模块覆盖力学内核、工具接口、桌面交互、模型与结果管理、图纸审核和计算书，验证体系单独维护。图中是保存的真实软件界面，展示复杂屋盖模型全貌。统计截至10月10日，共240个Python文件、63个注册工具和28项解析金标准。最近一次完整回归是2837项通过、1项因环境跳过，之后仅做增量验证。回归数不能当作图纸识别准确率；代码行数包含测试、注释和空行，也不能直接换算人工工时。多模态与局部实体已可演示，但验证范围仍有限。</a:t>
            </a:r>
          </a:p>
          <a:p xmlns:a="http://schemas.openxmlformats.org/drawingml/2006/main">
            <a:r>
              <a:t>来源：docs/课程报告.md §2.1；README.md；docs/BETA_0.1_GOLD_CASES.md；docs/BETA_0.1_CAPABILITY_MATRIX.md；原稿真实软件image7.png。2837通过加1环境跳过为历史完整基线；本轮文稿修改没有重新运行全量。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40秒】屋盖有239节点、622杆件，已完成多工况与截面调整对比。拱杆从P219乘8改为P273乘10后，ULS-GW组合最大节点位移从143.16降至99.22毫米，最大应力比从1.0116降至0.8059；杆件自重同时从593.09增至696.41千牛。软件展示了方案调整的响应与代价，这不是最优设计，也未完成工程安全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40秒】这个真实屋盖包含239节点622根杆件，跨度24米、长度36米，18个固定支座，已分析5工况与5组合。初设有3根杆件应力比超限。将拱杆截面从P219乘8调整为P273乘10后，ULS-GW组合的最大节点平移合量从143.156560降至99.216702毫米，位置均在节点110。最大应力比从1.0116到0.8059，同时杆件自重从593.092445增加至696.413543千牛。这展示的是方案调整的响应和代价，不是自动优化结果，也没有完成工程安全认证。左侧截图均为初设软件实际记录；右侧柱图源于初设和调整后两次求解，保留原始精度，显示一位小数。</a:t>
            </a:r>
          </a:p>
          <a:p xmlns:a="http://schemas.openxmlformats.org/drawingml/2006/main">
            <a:r>
              <a:t>依据：examples/defense/拱形网格屋盖例题.md，方案对比表；examples/defense/拱形网格屋盖参考结果.json；原稿image7.png与image8.png。截图只裁切展示视口，不修改结果。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30秒】局部扩展把梁截面六个内力分量传递到实体区域，由Gmsh划网格、自研C3D10求解，应力云图来自真实软件。Abaqus仅作独立对标。图中原始峰值约435.951兆帕，P99显示上限约157.83，裁剪不改变结果。当前能力为实验性，正式Kt仍需网格收敛和热点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30秒】局部扩展把梁截面的六个内力分量传递到实体区域，使用Gmsh生成二次四面体网格，自研C3D10求解位移、应力并提供热点查询。Abaqus承担独立对标，不是本项目主求解器。左图是节点65的实际三管云图，它与上一页屋盖是不同的功能案例。原始Mises峰值约435.951兆帕，P99显示上限约157.83兆帕；色标裁剪不改变原始结果。当前为实验性扩展，单档网格不能作为正式应力集中系数的依据，后续需要三档收敛、热点定义和独立对照。</a:t>
            </a:r>
          </a:p>
          <a:p xmlns:a="http://schemas.openxmlformats.org/drawingml/2006/main">
            <a:r>
              <a:t>来源：results/solid-1920-1.5.png；src/solid_joint.py；src/solid3d.py；docs/SOLID_JOINT_SCOPE.md。力N/Vy/Vz使用模型力单位，T/My/Mz使用力乘长度；图中应力单位MPa，显示Mises及P99裁剪说明。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40秒】真实缺陷是草稿缺少荷载分量时，控件默认显示零，使未知量可能被误认为已确认。研究者指出语义错误，AI辅助定位和修复。现在缺失留空、有效分量保留，并校验数值与单位；人工确认后才解除对应问题，未确认就阻断导入。回归覆盖短向量、布尔值、非有限值及显式零值。下方是修复后的真实审核窗口，其他未确认问题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40秒】我们曾遇到识别草稿缺少节点荷载分量时，控件默认显示六个零。未知量被变成零，用户可能误认为已确认。研究者发现的是工程语义错误，AI辅助定位到界面默认值并实现修复。现在缺失项保留为空，有效已知分量保留，校验数值和单位；用户明确填写并确认后才能解除对应问题，未确认时阻断导入。回归覆盖缺失、短向量、布尔值、非有限值，以及已知量保留和显式零值。下方是修复后真实审核窗口。平衡校核只能检查已输入的模型，无法替代人工检查原图有没有漏载。</a:t>
            </a:r>
          </a:p>
          <a:p xmlns:a="http://schemas.openxmlformats.org/drawingml/2006/main">
            <a:r>
              <a:t>依据：docs/PROGRESS.md“审核问题分组与节点荷载缺值（2026-10-10）”；results/review-edit-missing-1.5.png；desktop/草图审核相关控件与tests/相关回归记录。截图为修复后界面局部，不假装是修改前后两张现场截图。</a:t>
            </a:r>
          </a:p>
          <a:p xmlns:a="http://schemas.openxmlformats.org/drawingml/2006/main">
            <a:r>
              <a:t>具体回归证据：tests/test_sketch_panel.py::test_invalid_or_partial_nodal_vector_cannot_be_silently_zeroed，以及该文件节点荷载填写、工况切换与精确问题绑定用例；修复源码desktop/sketch_panel.py。历史专项438通过、2项仅全量计数跳过，见2026-10-10进度；不是本轮重新执行的全量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40秒】主流程已形成，但复杂工程图和局部应力仍需扩大验证。近期先修复明确缺陷、冻结版本，完成保存重开、显示和报告验收。工程图研究建立许可明确、独立复核的留出样本，评价拓扑、荷载、尺度和完整模型通过率。局部应力开展三档网格、热点提取与独立对标，确定Kt范围。力学扩展先建独立基准，再研究弯曲塑性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>【40秒】现阶段已经形成可运行、可复算、可追溯的主流程，但复杂工程图与局部应力仍需要扩大验证。近期先修复明确缺陷、冻结版本，逐项完成保存重开、显示和报告验收。工程图研究将采用许可明确、独立复核的留出样本，分别统计拓扑、荷载、尺度和完整模型通过率，失败样本也进入分母。局部应力将开展三档网格、热点提取及Abaqus独立对标，评价收敛和偏差、确定Kt范围。力学扩展先建立独立基准，再研究弯曲塑性，不能把已有轴向双线性塑性等同于完整弯曲塑性。以上是研究计划，不宣称已完成。</a:t>
            </a:r>
          </a:p>
          <a:p xmlns:a="http://schemas.openxmlformats.org/drawingml/2006/main">
            <a:r>
              <a:t>依据：docs/答辩前验收.md；docs/BETA_0.1_CAPABILITY_MATRIX.md；docs/SOLID_JOINT_SCOPE.md；多模态公开样本评测记录。路线图表达工作分阶段推进，不表示四个方向必须单线串行；软件冻结是近期优先项。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B33为不计剪切的三次梁，属于Euler–Bernoulli理论。比较限定于表中算例、相同理论和相同输入。误差e(‖U‖)使用原报告位移向量归一化误差定义，不应由四舍五入后的最大位移反推。文本输出精度也影响末位。这里不把梁对标扩大为局部实体、弯曲塑性或所有复杂工程验证。</a:t>
            </a:r>
          </a:p>
          <a:p xmlns:a="http://schemas.openxmlformats.org/drawingml/2006/main">
            <a:r>
              <a:t>来源：abaqus_bench/benchmark_B33.md；表中的值与误差逐项沿用真实独立对标记录。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四个目录共240个Python文件、86851行，包含测试、注释及空行，不能据此换算人工工时。28项解析金标准分为静力12、模态5、屈曲9，以及P-Δ/轴向塑性2。完整回归的2837通过、1环境跳过不是工程图识别准确率。现有P-Δ属于小应变二阶弹性，材料塑性限定于轴向双线性；正式Kt需要收敛与独立验证。</a:t>
            </a:r>
          </a:p>
          <a:p xmlns:a="http://schemas.openxmlformats.org/drawingml/2006/main">
            <a:r>
              <a:t>来源：docs/课程报告.md §2.1；docs/BETA_0.1_GOLD_CASES.md；README.md；docs/BETA_0.1_CAPABILITY_MATRIX.md；docs/SOLID_JOINT_SCOPE.md。全部软件截图来自项目保存的实际窗口，没有使用AI生成的软件效果图；理论示意、框图和柱图均为可编辑原生对象。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0b0a7b6414a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f2c9e3bc847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374a7c42f43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739ba48254c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c9f281fb74c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fe8ccf1be45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47d70d0d542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f72e8d11a4e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3d34f8fd64b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62cd92cad43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86e20d06645c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44CEAC-21D2-4803-87B9-A45E984F6F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493D916-674F-4AFE-ABB6-C916FC1902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C3B273C1-2599-4774-A4C4-B80E543F5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EB6AA3B-9CF6-4B32-8145-71BDC4FAC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D574BB6D-2B2C-4023-A616-BE4B35663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E4A382-0BBC-48FC-88E5-47CA5D62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ECF427-C548-4CDD-83B1-22B326280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8A185-98EE-4397-A7E2-3DE1E25C9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32B2D0-086B-4168-B730-A6880FE38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E1FBF8-327B-4C7A-8299-4BEC9A67A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3229DD-8163-4200-A0D9-F48A3F5588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1D9A23-5C84-4C89-851C-A6C05F16C3E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8B6D48-B525-4370-BF1B-F9D0B7D595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84926-09F1-4BD5-8390-F75DA6466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F34BC3-83B7-40E0-BD98-3FB1A7A84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F1F621-E0D8-4985-A9F9-F02E4954B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FFA56A-FE6D-4BCD-9191-2D722A545F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7E00AA-F14F-4F0D-9571-3DA975C0CD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2471D-D94D-4DB6-93C3-657E8ACD5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84A6C-FADF-4744-A661-07058C0FF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673C99-0070-4B58-9B55-048C0E701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1594A7-DE81-4A91-B1A6-5D70C81BE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058A86-351B-40DB-9C59-CFBFAAA0E45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118A1EB-0D7B-425C-976D-30B408D229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EC5E579-8491-4345-96B8-A145C078A1C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B48670-403E-4D94-8F19-CA58DF9DA5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C925C2-58CF-48B8-992F-2D0C03A763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CEFC75-2A40-46E5-8482-88ABBA141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E9FAC28-2246-4D85-B540-A51083974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55AE4F-2B8C-45EF-9281-F1C3366C6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B9F6A95-7140-43CC-B672-1B6A92D53E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648025-B1EB-40DB-97E4-D0838AF1E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171625F-5E7A-4520-8B3C-4F3BDFF0C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E8E97EC-394C-414B-AF90-BB5E38C0C1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4BB3BE-FFB3-4F91-A902-CFD7C3F71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8B0B969-4EE6-42D9-9807-8E9C3FD3B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8EA7B46-8206-474A-9991-E69B6A351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9BEEC9-542B-41D3-B92D-345DA5D2CA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C9EF193-0799-4B33-AB11-D3C76405EB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68DDE7-0959-4B93-B135-3D02E1FF8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1F8AF3B-5F7E-48A5-949A-A201F2FB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9A7BDC85-E3C3-4E04-8909-A6D2BED18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7F149DE-B1A4-4D6D-8237-68ED3A5307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B26B2C-4877-484D-AF26-20B49DF63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F116E7-F030-45F2-890A-58F0EF55B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24AF94-31B0-48B4-BC37-1B672DBF9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FD0452-D57C-4163-B7AD-2D63F96EA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70A8D3-F081-48B5-88DF-1ACE6BF49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F1FD8F0-3DF4-4871-90E6-E1BB0E022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8E23F5-B418-44FB-9CE8-A3D7428E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8EDCA88-63C5-4DA6-92A8-23CC88F752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2488CB-3948-4419-89A1-0D24D224C7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F18BCA-A182-4FF9-8229-AE02F020B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760D35-AE74-4792-8D12-4F4A49120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9C96DE-2246-432D-A52D-E5509D6C2F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B77BC8D-1A01-4AEF-867F-E93C5F6A44E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15e9603d443c5" /><Relationship Type="http://schemas.openxmlformats.org/officeDocument/2006/relationships/slideLayout" Target="/ppt/slideLayouts/slideLayout1.xml" Id="R900cd095ca834140" /><Relationship Type="http://schemas.openxmlformats.org/officeDocument/2006/relationships/slideLayout" Target="/ppt/slideLayouts/slideLayout2.xml" Id="R884d73562c2d4218" /><Relationship Type="http://schemas.openxmlformats.org/officeDocument/2006/relationships/slideLayout" Target="/ppt/slideLayouts/slideLayout3.xml" Id="R8b804ce9bf124ae7" /><Relationship Type="http://schemas.openxmlformats.org/officeDocument/2006/relationships/slideLayout" Target="/ppt/slideLayouts/slideLayout4.xml" Id="R71b17b6241194111" /><Relationship Type="http://schemas.openxmlformats.org/officeDocument/2006/relationships/slideLayout" Target="/ppt/slideLayouts/slideLayout5.xml" Id="R966f3a38ee89455b" /><Relationship Type="http://schemas.openxmlformats.org/officeDocument/2006/relationships/slideLayout" Target="/ppt/slideLayouts/slideLayout6.xml" Id="Rda5e411c8b8246dd" /><Relationship Type="http://schemas.openxmlformats.org/officeDocument/2006/relationships/slideLayout" Target="/ppt/slideLayouts/slideLayout7.xml" Id="R438695445eaa42f0" /><Relationship Type="http://schemas.openxmlformats.org/officeDocument/2006/relationships/slideLayout" Target="/ppt/slideLayouts/slideLayout8.xml" Id="R0acdffce3606479c" /><Relationship Type="http://schemas.openxmlformats.org/officeDocument/2006/relationships/slideLayout" Target="/ppt/slideLayouts/slideLayout9.xml" Id="Rea3e88a9949f4e29" /><Relationship Type="http://schemas.openxmlformats.org/officeDocument/2006/relationships/slideLayout" Target="/ppt/slideLayouts/slideLayout10.xml" Id="R5de4bd2e55fd4433" /><Relationship Type="http://schemas.openxmlformats.org/officeDocument/2006/relationships/slideLayout" Target="/ppt/slideLayouts/slideLayout11.xml" Id="Rb84e79708d834c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B22A98E-F474-4F2D-B471-388FCBEA8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A388BB-E307-478A-AF4D-4C42D1A23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E5BA7E-697E-41F5-BB29-E97F8D3A47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376857-057B-48AC-AF19-F23450A009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D0418B-9FAC-4D3D-8A53-0C1C13288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cd095ca834140"/>
    <p:sldLayoutId xmlns:r="http://schemas.openxmlformats.org/officeDocument/2006/relationships" id="2147483650" r:id="R884d73562c2d4218"/>
    <p:sldLayoutId xmlns:r="http://schemas.openxmlformats.org/officeDocument/2006/relationships" id="2147483651" r:id="R8b804ce9bf124ae7"/>
    <p:sldLayoutId xmlns:r="http://schemas.openxmlformats.org/officeDocument/2006/relationships" id="2147483652" r:id="R71b17b6241194111"/>
    <p:sldLayoutId xmlns:r="http://schemas.openxmlformats.org/officeDocument/2006/relationships" id="2147483653" r:id="R966f3a38ee89455b"/>
    <p:sldLayoutId xmlns:r="http://schemas.openxmlformats.org/officeDocument/2006/relationships" id="2147483654" r:id="Rda5e411c8b8246dd"/>
    <p:sldLayoutId xmlns:r="http://schemas.openxmlformats.org/officeDocument/2006/relationships" id="2147483655" r:id="R438695445eaa42f0"/>
    <p:sldLayoutId xmlns:r="http://schemas.openxmlformats.org/officeDocument/2006/relationships" id="2147483656" r:id="R0acdffce3606479c"/>
    <p:sldLayoutId xmlns:r="http://schemas.openxmlformats.org/officeDocument/2006/relationships" id="2147483657" r:id="Rea3e88a9949f4e29"/>
    <p:sldLayoutId xmlns:r="http://schemas.openxmlformats.org/officeDocument/2006/relationships" id="2147483658" r:id="R5de4bd2e55fd4433"/>
    <p:sldLayoutId xmlns:r="http://schemas.openxmlformats.org/officeDocument/2006/relationships" id="2147483659" r:id="Rb84e79708d834cc5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988783ba854d7d" /><Relationship Type="http://schemas.openxmlformats.org/officeDocument/2006/relationships/image" Target="/ppt/media/image.png" Id="Rc62c4c84e5834691" /><Relationship Type="http://schemas.openxmlformats.org/officeDocument/2006/relationships/image" Target="/ppt/media/image2.png" Id="R2eb1a8457b0f460b" /><Relationship Type="http://schemas.openxmlformats.org/officeDocument/2006/relationships/image" Target="/ppt/media/image.svg" Id="R81c922d9d72b4c4b" /><Relationship Type="http://schemas.openxmlformats.org/officeDocument/2006/relationships/image" Target="/ppt/media/image3.png" Id="R447d384a07af4f0c" /><Relationship Type="http://schemas.openxmlformats.org/officeDocument/2006/relationships/notesSlide" Target="/ppt/notesSlides/notesSlide1.xml" Id="R403b3978394f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7b1f768c384151" /><Relationship Type="http://schemas.openxmlformats.org/officeDocument/2006/relationships/image" Target="/ppt/media/image4.png" Id="Rb8fd1456332d4d47" /><Relationship Type="http://schemas.openxmlformats.org/officeDocument/2006/relationships/notesSlide" Target="/ppt/notesSlides/notesSlide2.xml" Id="Rb29b009373bb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650f6eacb24b4b" /><Relationship Type="http://schemas.openxmlformats.org/officeDocument/2006/relationships/image" Target="/ppt/media/image4.png" Id="R72bf6c206a7d4837" /><Relationship Type="http://schemas.openxmlformats.org/officeDocument/2006/relationships/notesSlide" Target="/ppt/notesSlides/notesSlide3.xml" Id="Rd132a90abca8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3e03f4a01c4bdf" /><Relationship Type="http://schemas.openxmlformats.org/officeDocument/2006/relationships/image" Target="/ppt/media/image4.png" Id="R2923788f52fb441f" /><Relationship Type="http://schemas.openxmlformats.org/officeDocument/2006/relationships/image" Target="/ppt/media/image5.png" Id="R0fe24928158447e5" /><Relationship Type="http://schemas.openxmlformats.org/officeDocument/2006/relationships/notesSlide" Target="/ppt/notesSlides/notesSlide4.xml" Id="R9aa4037f7aeb41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47c2cef3754896" /><Relationship Type="http://schemas.openxmlformats.org/officeDocument/2006/relationships/image" Target="/ppt/media/image4.png" Id="R6c7271e877aa4dd2" /><Relationship Type="http://schemas.openxmlformats.org/officeDocument/2006/relationships/image" Target="/ppt/media/image6.png" Id="Rb76aa0b0af374653" /><Relationship Type="http://schemas.openxmlformats.org/officeDocument/2006/relationships/chart" Target="/ppt/slides/charts/chart1.xml" Id="R86e4c35cdf214251" /><Relationship Type="http://schemas.openxmlformats.org/officeDocument/2006/relationships/notesSlide" Target="/ppt/notesSlides/notesSlide5.xml" Id="R8adcf4cb40ba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5c0262ec6f4c64" /><Relationship Type="http://schemas.openxmlformats.org/officeDocument/2006/relationships/image" Target="/ppt/media/image4.png" Id="Rc9cf13a9fb80413a" /><Relationship Type="http://schemas.openxmlformats.org/officeDocument/2006/relationships/image" Target="/ppt/media/image7.png" Id="R8ff9605fd07f4550" /><Relationship Type="http://schemas.openxmlformats.org/officeDocument/2006/relationships/notesSlide" Target="/ppt/notesSlides/notesSlide6.xml" Id="R51c0f738e39349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907f48f80345e0" /><Relationship Type="http://schemas.openxmlformats.org/officeDocument/2006/relationships/image" Target="/ppt/media/image4.png" Id="R24268f2a6f684e48" /><Relationship Type="http://schemas.openxmlformats.org/officeDocument/2006/relationships/image" Target="/ppt/media/image8.png" Id="Re75c169cf88945ca" /><Relationship Type="http://schemas.openxmlformats.org/officeDocument/2006/relationships/notesSlide" Target="/ppt/notesSlides/notesSlide7.xml" Id="R33059605251e4e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594b4218244f01" /><Relationship Type="http://schemas.openxmlformats.org/officeDocument/2006/relationships/image" Target="/ppt/media/image4.png" Id="R368f14e59b7e4fc1" /><Relationship Type="http://schemas.openxmlformats.org/officeDocument/2006/relationships/notesSlide" Target="/ppt/notesSlides/notesSlide8.xml" Id="R210c61a2e36842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c234a0af824332" /><Relationship Type="http://schemas.openxmlformats.org/officeDocument/2006/relationships/image" Target="/ppt/media/image4.png" Id="R465bc20d468c4c8d" /><Relationship Type="http://schemas.openxmlformats.org/officeDocument/2006/relationships/notesSlide" Target="/ppt/notesSlides/notesSlide9.xml" Id="R0a8c91af747e47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e42afcdc494f6b" /><Relationship Type="http://schemas.openxmlformats.org/officeDocument/2006/relationships/image" Target="/ppt/media/image4.png" Id="R9ead4ed0df2f4be6" /><Relationship Type="http://schemas.openxmlformats.org/officeDocument/2006/relationships/notesSlide" Target="/ppt/notesSlides/notesSlide10.xml" Id="R1f788934df404ec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ULS-GW 最大节点平移合量 / mm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092858"/>
              </a:solidFill>
              <a:latin typeface="微软雅黑"/>
              <a:ea typeface="微软雅黑"/>
              <a:cs typeface="微软雅黑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最大节点平移合量</c:v>
          </c:tx>
          <c:spPr>
            <a:solidFill xmlns:a="http://schemas.openxmlformats.org/drawingml/2006/main">
              <a:srgbClr val="0075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928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5C9"/>
              </a:solidFill>
            </c:spPr>
          </c:dPt>
          <c:cat>
            <c:strLit>
              <c:ptCount val="2"/>
              <c:pt idx="0">
                <c:v>初设</c:v>
              </c:pt>
              <c:pt idx="1">
                <c:v>截面调整后</c:v>
              </c:pt>
            </c:strLit>
          </c:cat>
          <c:val>
            <c:numLit>
              <c:formatCode>General</c:formatCode>
              <c:ptCount val="2"/>
              <c:pt idx="0">
                <c:v>143.15656</c:v>
              </c:pt>
              <c:pt idx="1">
                <c:v>99.216702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9285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E6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D841734F-5642-4434-BEB8-9C307930C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2c4c84e5834691">
            <a:alphaModFix amt="20000"/>
          </a:blip>
          <a:srcRect xmlns:a="http://schemas.openxmlformats.org/drawingml/2006/main" l="0" t="28704" r="0" b="1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78094"/>
            <a:ext cx="12192000" cy="1988854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8C1338A4-811D-4BF3-8C2B-21B31BE56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1a8457b0f460b"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84709"/>
            <a:ext cx="12192000" cy="3473291"/>
          </a:xfrm>
          <a:prstGeom xmlns:a="http://schemas.openxmlformats.org/drawingml/2006/main" prst="rect">
            <a:avLst/>
          </a:prstGeom>
        </p:spPr>
      </p:pic>
      <p:pic>
        <p:nvPicPr>
          <p:cNvPr id="12" name="图形 11">
            <a:extLst xmlns:a="http://schemas.openxmlformats.org/drawingml/2006/main">
              <a:ext uri="{FF2B5EF4-FFF2-40B4-BE49-F238E27FC236}">
                <a16:creationId xmlns:a16="http://schemas.microsoft.com/office/drawing/2014/main" id="{98424007-CAD5-4491-99A8-B99701ED7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c4c84e5834691">
            <a:extLst>
              <a:ext uri="{96DAC541-7B7A-43D3-8B79-37D633B846F1}">
                <asvg:svgBlip xmlns:asvg="http://schemas.microsoft.com/office/drawing/2016/SVG/main" r:embed="R81c922d9d72b4c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9697" y="66675"/>
            <a:ext cx="2731173" cy="717216"/>
          </a:xfrm>
          <a:prstGeom xmlns:a="http://schemas.openxmlformats.org/drawingml/2006/main" prst="rect">
            <a:avLst/>
          </a:prstGeom>
        </p:spPr>
      </p:pic>
      <p:sp>
        <p:nvSpPr>
          <p:cNvPr id="26" name="基于 AI 的空间刚架&#10;智能计算 Agent 开">
            <a:extLst xmlns:a="http://schemas.openxmlformats.org/drawingml/2006/main">
              <a:ext uri="{FF2B5EF4-FFF2-40B4-BE49-F238E27FC236}">
                <a16:creationId xmlns:a16="http://schemas.microsoft.com/office/drawing/2014/main" id="{0E721B4E-ABAF-494D-B1E7-38B8274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 AI 的空间刚架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智能计算 Agent 开发</a:t>
            </a:r>
          </a:p>
        </p:txBody>
      </p:sp>
      <p:sp>
        <p:nvSpPr>
          <p:cNvPr id="27" name="中期汇报">
            <a:extLst xmlns:a="http://schemas.openxmlformats.org/drawingml/2006/main">
              <a:ext uri="{FF2B5EF4-FFF2-40B4-BE49-F238E27FC236}">
                <a16:creationId xmlns:a16="http://schemas.microsoft.com/office/drawing/2014/main" id="{1950D80B-300D-4FB1-B968-795920A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438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中期汇报</a:t>
            </a:r>
          </a:p>
        </p:txBody>
      </p:sp>
      <p:sp>
        <p:nvSpPr>
          <p:cNvPr id="28" name="汇报人：________________    ">
            <a:extLst xmlns:a="http://schemas.openxmlformats.org/drawingml/2006/main">
              <a:ext uri="{FF2B5EF4-FFF2-40B4-BE49-F238E27FC236}">
                <a16:creationId xmlns:a16="http://schemas.microsoft.com/office/drawing/2014/main" id="{96ED2251-5B2B-4895-9230-75276E2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汇报人：________________    班级：________________</a:t>
            </a:r>
          </a:p>
        </p:txBody>
      </p:sp>
      <p:sp>
        <p:nvSpPr>
          <p:cNvPr id="29" name="小组成员：___________________">
            <a:extLst xmlns:a="http://schemas.openxmlformats.org/drawingml/2006/main">
              <a:ext uri="{FF2B5EF4-FFF2-40B4-BE49-F238E27FC236}">
                <a16:creationId xmlns:a16="http://schemas.microsoft.com/office/drawing/2014/main" id="{003A8608-E55F-445F-B783-9DE599B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小组成员：_____________________________________</a:t>
            </a:r>
          </a:p>
        </p:txBody>
      </p:sp>
      <p:sp>
        <p:nvSpPr>
          <p:cNvPr id="30" name="指导教师：________________">
            <a:extLst xmlns:a="http://schemas.openxmlformats.org/drawingml/2006/main">
              <a:ext uri="{FF2B5EF4-FFF2-40B4-BE49-F238E27FC236}">
                <a16:creationId xmlns:a16="http://schemas.microsoft.com/office/drawing/2014/main" id="{72D1EF5F-BE6B-4112-8706-12F7FD7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指导教师：________________</a:t>
            </a:r>
          </a:p>
        </p:txBody>
      </p:sp>
      <p:sp>
        <p:nvSpPr>
          <p:cNvPr id="31" name="2026 年 10 月">
            <a:extLst xmlns:a="http://schemas.openxmlformats.org/drawingml/2006/main">
              <a:ext uri="{FF2B5EF4-FFF2-40B4-BE49-F238E27FC236}">
                <a16:creationId xmlns:a16="http://schemas.microsoft.com/office/drawing/2014/main" id="{684CBC89-C832-4DF1-A359-6B021A3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40B7422C-48B0-4B1D-8B96-CC8723E6D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384a07af4f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31" y="29589"/>
            <a:ext cx="4532224" cy="8276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47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CE67849C-D4C5-4AC8-B529-9FD71A823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d1456332d4d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8468B-92EF-43B9-8223-5E346F2E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项目定位与价值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540348F7-382D-4CBF-9483-7659A9D2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依据：课程报告；多模态试验与缺陷记录；模型与结果管理源码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42C5884-FBDF-47D4-9BCF-0A215BB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6" name="定位">
            <a:extLst xmlns:a="http://schemas.openxmlformats.org/drawingml/2006/main">
              <a:ext uri="{FF2B5EF4-FFF2-40B4-BE49-F238E27FC236}">
                <a16:creationId xmlns:a16="http://schemas.microsoft.com/office/drawing/2014/main" id="{BA1E36AA-3CC3-4E80-A497-BF882C4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面向空间钢结构的教学研究、建模辅助与方案试算</a:t>
            </a:r>
          </a:p>
        </p:txBody>
      </p:sp>
      <p:sp>
        <p:nvSpPr>
          <p:cNvPr id="37" name="问题标题">
            <a:extLst xmlns:a="http://schemas.openxmlformats.org/drawingml/2006/main">
              <a:ext uri="{FF2B5EF4-FFF2-40B4-BE49-F238E27FC236}">
                <a16:creationId xmlns:a16="http://schemas.microsoft.com/office/drawing/2014/main" id="{0FE8E8A5-0360-4829-AEB0-CD18A03C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问题标题文字">
            <a:extLst xmlns:a="http://schemas.openxmlformats.org/drawingml/2006/main">
              <a:ext uri="{FF2B5EF4-FFF2-40B4-BE49-F238E27FC236}">
                <a16:creationId xmlns:a16="http://schemas.microsoft.com/office/drawing/2014/main" id="{BC0EAC33-769B-421A-B243-59092C9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24025"/>
            <a:ext cx="3181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项目实际观察到的问题</a:t>
            </a:r>
          </a:p>
        </p:txBody>
      </p:sp>
      <p:sp>
        <p:nvSpPr>
          <p:cNvPr id="39" name="方法标题">
            <a:extLst xmlns:a="http://schemas.openxmlformats.org/drawingml/2006/main">
              <a:ext uri="{FF2B5EF4-FFF2-40B4-BE49-F238E27FC236}">
                <a16:creationId xmlns:a16="http://schemas.microsoft.com/office/drawing/2014/main" id="{D9307D0C-A592-47C9-90B9-823C659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0" name="方法标题文字">
            <a:extLst xmlns:a="http://schemas.openxmlformats.org/drawingml/2006/main">
              <a:ext uri="{FF2B5EF4-FFF2-40B4-BE49-F238E27FC236}">
                <a16:creationId xmlns:a16="http://schemas.microsoft.com/office/drawing/2014/main" id="{3DFEB525-3A76-4FF6-862B-FA204FA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24025"/>
            <a:ext cx="332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对应方法</a:t>
            </a:r>
          </a:p>
        </p:txBody>
      </p:sp>
      <p:sp>
        <p:nvSpPr>
          <p:cNvPr id="41" name="价值标题">
            <a:extLst xmlns:a="http://schemas.openxmlformats.org/drawingml/2006/main">
              <a:ext uri="{FF2B5EF4-FFF2-40B4-BE49-F238E27FC236}">
                <a16:creationId xmlns:a16="http://schemas.microsoft.com/office/drawing/2014/main" id="{B217E333-747B-4A22-A421-C12A8A2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3028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价值标题文字">
            <a:extLst xmlns:a="http://schemas.openxmlformats.org/drawingml/2006/main">
              <a:ext uri="{FF2B5EF4-FFF2-40B4-BE49-F238E27FC236}">
                <a16:creationId xmlns:a16="http://schemas.microsoft.com/office/drawing/2014/main" id="{BB56FCB5-CBDC-438B-8A4D-2166457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24025"/>
            <a:ext cx="287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项目价值</a:t>
            </a:r>
          </a:p>
        </p:txBody>
      </p:sp>
      <p:sp>
        <p:nvSpPr>
          <p:cNvPr id="43" name="问题0">
            <a:extLst xmlns:a="http://schemas.openxmlformats.org/drawingml/2006/main">
              <a:ext uri="{FF2B5EF4-FFF2-40B4-BE49-F238E27FC236}">
                <a16:creationId xmlns:a16="http://schemas.microsoft.com/office/drawing/2014/main" id="{2E44210B-0E51-4B41-886E-273EF22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4" name="问题0文字">
            <a:extLst xmlns:a="http://schemas.openxmlformats.org/drawingml/2006/main">
              <a:ext uri="{FF2B5EF4-FFF2-40B4-BE49-F238E27FC236}">
                <a16:creationId xmlns:a16="http://schemas.microsoft.com/office/drawing/2014/main" id="{03600E8F-7ACD-411B-944F-D8239EA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工程语义歧义</a:t>
            </a:r>
          </a:p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荷载 / 支座信息遗漏</a:t>
            </a:r>
          </a:p>
        </p:txBody>
      </p:sp>
      <p:sp>
        <p:nvSpPr>
          <p:cNvPr id="45" name="方法0">
            <a:extLst xmlns:a="http://schemas.openxmlformats.org/drawingml/2006/main">
              <a:ext uri="{FF2B5EF4-FFF2-40B4-BE49-F238E27FC236}">
                <a16:creationId xmlns:a16="http://schemas.microsoft.com/office/drawing/2014/main" id="{8ED7A0DD-774A-486C-A490-73011BC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6" name="方法0文字">
            <a:extLst xmlns:a="http://schemas.openxmlformats.org/drawingml/2006/main">
              <a:ext uri="{FF2B5EF4-FFF2-40B4-BE49-F238E27FC236}">
                <a16:creationId xmlns:a16="http://schemas.microsoft.com/office/drawing/2014/main" id="{1855D8C5-1DF0-4C70-B751-D550705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90775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结构化草稿＋证据保留</a:t>
            </a:r>
          </a:p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不确定输入由人工审核</a:t>
            </a:r>
          </a:p>
        </p:txBody>
      </p:sp>
      <p:sp>
        <p:nvSpPr>
          <p:cNvPr id="47" name="价值0">
            <a:extLst xmlns:a="http://schemas.openxmlformats.org/drawingml/2006/main">
              <a:ext uri="{FF2B5EF4-FFF2-40B4-BE49-F238E27FC236}">
                <a16:creationId xmlns:a16="http://schemas.microsoft.com/office/drawing/2014/main" id="{3801FE83-4B47-4F61-81F1-A84FD29B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48" name="价值0文字">
            <a:extLst xmlns:a="http://schemas.openxmlformats.org/drawingml/2006/main">
              <a:ext uri="{FF2B5EF4-FFF2-40B4-BE49-F238E27FC236}">
                <a16:creationId xmlns:a16="http://schemas.microsoft.com/office/drawing/2014/main" id="{E030BB90-74AC-4AF1-AE55-75C8013F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减少无依据的输入</a:t>
            </a:r>
          </a:p>
          <a:p xmlns:a="http://schemas.openxmlformats.org/drawingml/2006/main">
            <a: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确认后再计算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6800E4-A286-4903-B5D1-E78A032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19375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447FA51-113E-4D2F-A171-45A01876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19375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问题1">
            <a:extLst xmlns:a="http://schemas.openxmlformats.org/drawingml/2006/main">
              <a:ext uri="{FF2B5EF4-FFF2-40B4-BE49-F238E27FC236}">
                <a16:creationId xmlns:a16="http://schemas.microsoft.com/office/drawing/2014/main" id="{A2304DBC-A30D-4D6B-B716-FB7D871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2" name="问题1文字">
            <a:extLst xmlns:a="http://schemas.openxmlformats.org/drawingml/2006/main">
              <a:ext uri="{FF2B5EF4-FFF2-40B4-BE49-F238E27FC236}">
                <a16:creationId xmlns:a16="http://schemas.microsoft.com/office/drawing/2014/main" id="{D6029B99-BBD2-44CF-849D-F389FFF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数值依据难以追溯</a:t>
            </a:r>
          </a:p>
        </p:txBody>
      </p:sp>
      <p:sp>
        <p:nvSpPr>
          <p:cNvPr id="53" name="方法1">
            <a:extLst xmlns:a="http://schemas.openxmlformats.org/drawingml/2006/main">
              <a:ext uri="{FF2B5EF4-FFF2-40B4-BE49-F238E27FC236}">
                <a16:creationId xmlns:a16="http://schemas.microsoft.com/office/drawing/2014/main" id="{9D8F07A7-5F94-474A-88D8-D27C10B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4" name="方法1文字">
            <a:extLst xmlns:a="http://schemas.openxmlformats.org/drawingml/2006/main">
              <a:ext uri="{FF2B5EF4-FFF2-40B4-BE49-F238E27FC236}">
                <a16:creationId xmlns:a16="http://schemas.microsoft.com/office/drawing/2014/main" id="{62710CDA-1C35-4D42-AB36-45105D4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确定性力学内核求解</a:t>
            </a:r>
          </a:p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记录工况与求解来源</a:t>
            </a:r>
          </a:p>
        </p:txBody>
      </p:sp>
      <p:sp>
        <p:nvSpPr>
          <p:cNvPr id="55" name="价值1">
            <a:extLst xmlns:a="http://schemas.openxmlformats.org/drawingml/2006/main">
              <a:ext uri="{FF2B5EF4-FFF2-40B4-BE49-F238E27FC236}">
                <a16:creationId xmlns:a16="http://schemas.microsoft.com/office/drawing/2014/main" id="{5C74DA29-F707-4082-A407-40DF7CD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56" name="价值1文字">
            <a:extLst xmlns:a="http://schemas.openxmlformats.org/drawingml/2006/main">
              <a:ext uri="{FF2B5EF4-FFF2-40B4-BE49-F238E27FC236}">
                <a16:creationId xmlns:a16="http://schemas.microsoft.com/office/drawing/2014/main" id="{421565E9-BF6C-453D-B0DB-7C25FDC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便于独立复算</a:t>
            </a:r>
          </a:p>
          <a:p xmlns:a="http://schemas.openxmlformats.org/drawingml/2006/main">
            <a: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结果有数值依据</a:t>
            </a:r>
          </a:p>
        </p:txBody>
      </p:sp>
      <p:sp>
        <p:nvSpPr>
          <p:cNvPr id="5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BEA908-1942-4C3F-9255-72F1357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576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6428C6C5-2B76-4C25-A0EB-BD4D9122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9" name="问题2">
            <a:extLst xmlns:a="http://schemas.openxmlformats.org/drawingml/2006/main">
              <a:ext uri="{FF2B5EF4-FFF2-40B4-BE49-F238E27FC236}">
                <a16:creationId xmlns:a16="http://schemas.microsoft.com/office/drawing/2014/main" id="{3B573CD6-976F-4E56-ADF4-47C44F48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0" name="问题2文字">
            <a:extLst xmlns:a="http://schemas.openxmlformats.org/drawingml/2006/main">
              <a:ext uri="{FF2B5EF4-FFF2-40B4-BE49-F238E27FC236}">
                <a16:creationId xmlns:a16="http://schemas.microsoft.com/office/drawing/2014/main" id="{0C167CB0-EB82-4B43-B3FE-DEFF66B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模型修改后结果不同步</a:t>
            </a:r>
          </a:p>
        </p:txBody>
      </p:sp>
      <p:sp>
        <p:nvSpPr>
          <p:cNvPr id="61" name="方法2">
            <a:extLst xmlns:a="http://schemas.openxmlformats.org/drawingml/2006/main">
              <a:ext uri="{FF2B5EF4-FFF2-40B4-BE49-F238E27FC236}">
                <a16:creationId xmlns:a16="http://schemas.microsoft.com/office/drawing/2014/main" id="{DFFB4851-B837-4E79-BA34-705FCDC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2" name="方法2文字">
            <a:extLst xmlns:a="http://schemas.openxmlformats.org/drawingml/2006/main">
              <a:ext uri="{FF2B5EF4-FFF2-40B4-BE49-F238E27FC236}">
                <a16:creationId xmlns:a16="http://schemas.microsoft.com/office/drawing/2014/main" id="{7459248D-2B09-4F43-8B73-F155A70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绑定模型版本</a:t>
            </a:r>
          </a:p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旧结果失效并提示重算</a:t>
            </a:r>
          </a:p>
        </p:txBody>
      </p:sp>
      <p:sp>
        <p:nvSpPr>
          <p:cNvPr id="63" name="价值2">
            <a:extLst xmlns:a="http://schemas.openxmlformats.org/drawingml/2006/main">
              <a:ext uri="{FF2B5EF4-FFF2-40B4-BE49-F238E27FC236}">
                <a16:creationId xmlns:a16="http://schemas.microsoft.com/office/drawing/2014/main" id="{26B46DEB-DC99-40E2-BD71-2C94518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64" name="价值2文字">
            <a:extLst xmlns:a="http://schemas.openxmlformats.org/drawingml/2006/main">
              <a:ext uri="{FF2B5EF4-FFF2-40B4-BE49-F238E27FC236}">
                <a16:creationId xmlns:a16="http://schemas.microsoft.com/office/drawing/2014/main" id="{F1641E68-0D67-46DB-B877-4DFD869B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7225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降低误读旧结果的风险</a:t>
            </a:r>
          </a:p>
        </p:txBody>
      </p:sp>
      <p:sp>
        <p:nvSpPr>
          <p:cNvPr id="6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FC98014-E900-4BE8-8084-5ACBE6B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95825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6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CDF6B4E-2B29-4B32-8710-2E24113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95825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7" name="一体化工作流">
            <a:extLst xmlns:a="http://schemas.openxmlformats.org/drawingml/2006/main">
              <a:ext uri="{FF2B5EF4-FFF2-40B4-BE49-F238E27FC236}">
                <a16:creationId xmlns:a16="http://schemas.microsoft.com/office/drawing/2014/main" id="{DA6F052B-F28A-46F3-BC0B-1BC0FF1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68" name="一体化工作流标签">
            <a:extLst xmlns:a="http://schemas.openxmlformats.org/drawingml/2006/main">
              <a:ext uri="{FF2B5EF4-FFF2-40B4-BE49-F238E27FC236}">
                <a16:creationId xmlns:a16="http://schemas.microsoft.com/office/drawing/2014/main" id="{2D61DC15-7FDB-4B64-8FA0-175941E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9" name="一体化工作流标签文字">
            <a:extLst xmlns:a="http://schemas.openxmlformats.org/drawingml/2006/main">
              <a:ext uri="{FF2B5EF4-FFF2-40B4-BE49-F238E27FC236}">
                <a16:creationId xmlns:a16="http://schemas.microsoft.com/office/drawing/2014/main" id="{DA5384F2-C8A6-4071-ACD1-D94FE47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统一模型与同源结果</a:t>
            </a:r>
          </a:p>
        </p:txBody>
      </p:sp>
      <p:sp>
        <p:nvSpPr>
          <p:cNvPr id="70" name="主流程">
            <a:extLst xmlns:a="http://schemas.openxmlformats.org/drawingml/2006/main">
              <a:ext uri="{FF2B5EF4-FFF2-40B4-BE49-F238E27FC236}">
                <a16:creationId xmlns:a16="http://schemas.microsoft.com/office/drawing/2014/main" id="{92539274-3CF9-45C9-BFF8-19219E3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建模  →  校验  →  求解  →  结果查询 / 云图  →  计算书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F5A4ABA4-EA2C-4849-B840-73B63B605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f6c206a7d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A97580DF-8C09-460B-9851-05A39AE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方法特点与技术路线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52398FC0-6599-44B2-A928-1C853FBF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依据：agent_tools.py；model_compiler.py；frame3d.py；解析基准与实际开发记录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9C3ADB5-8EAF-41BA-A013-4BB798F2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6" name="运行流程">
            <a:extLst xmlns:a="http://schemas.openxmlformats.org/drawingml/2006/main">
              <a:ext uri="{FF2B5EF4-FFF2-40B4-BE49-F238E27FC236}">
                <a16:creationId xmlns:a16="http://schemas.microsoft.com/office/drawing/2014/main" id="{65BEFFE9-B2EF-4C9C-BAE5-0A91428E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7" name="运行流程标签">
            <a:extLst xmlns:a="http://schemas.openxmlformats.org/drawingml/2006/main">
              <a:ext uri="{FF2B5EF4-FFF2-40B4-BE49-F238E27FC236}">
                <a16:creationId xmlns:a16="http://schemas.microsoft.com/office/drawing/2014/main" id="{8E1792E0-C445-4C46-8AF5-6A173FAC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3800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运行流程标签文字">
            <a:extLst xmlns:a="http://schemas.openxmlformats.org/drawingml/2006/main">
              <a:ext uri="{FF2B5EF4-FFF2-40B4-BE49-F238E27FC236}">
                <a16:creationId xmlns:a16="http://schemas.microsoft.com/office/drawing/2014/main" id="{CC961717-7C3D-4296-8B1F-14212A6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52525"/>
            <a:ext cx="3648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软件运行：人、AI与数值程序</a:t>
            </a:r>
          </a:p>
        </p:txBody>
      </p:sp>
      <p:sp>
        <p:nvSpPr>
          <p:cNvPr id="39" name="输入">
            <a:extLst xmlns:a="http://schemas.openxmlformats.org/drawingml/2006/main">
              <a:ext uri="{FF2B5EF4-FFF2-40B4-BE49-F238E27FC236}">
                <a16:creationId xmlns:a16="http://schemas.microsoft.com/office/drawing/2014/main" id="{D7EF5295-0C6E-4597-BD92-0CCA1DA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0" name="输入文字">
            <a:extLst xmlns:a="http://schemas.openxmlformats.org/drawingml/2006/main">
              <a:ext uri="{FF2B5EF4-FFF2-40B4-BE49-F238E27FC236}">
                <a16:creationId xmlns:a16="http://schemas.microsoft.com/office/drawing/2014/main" id="{C1026D17-C1E7-4A92-9418-20DFD2F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需求与图片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尺度与加载</a:t>
            </a:r>
          </a:p>
        </p:txBody>
      </p:sp>
      <p:sp>
        <p:nvSpPr>
          <p:cNvPr id="41" name="Agent标题">
            <a:extLst xmlns:a="http://schemas.openxmlformats.org/drawingml/2006/main">
              <a:ext uri="{FF2B5EF4-FFF2-40B4-BE49-F238E27FC236}">
                <a16:creationId xmlns:a16="http://schemas.microsoft.com/office/drawing/2014/main" id="{ECADDC8E-D79F-43AA-9DE8-F48D9A9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33525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Agent标题文字">
            <a:extLst xmlns:a="http://schemas.openxmlformats.org/drawingml/2006/main">
              <a:ext uri="{FF2B5EF4-FFF2-40B4-BE49-F238E27FC236}">
                <a16:creationId xmlns:a16="http://schemas.microsoft.com/office/drawing/2014/main" id="{7772B5CB-C1E0-4C7F-907A-55A8FF9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43" name="AI职责">
            <a:extLst xmlns:a="http://schemas.openxmlformats.org/drawingml/2006/main">
              <a:ext uri="{FF2B5EF4-FFF2-40B4-BE49-F238E27FC236}">
                <a16:creationId xmlns:a16="http://schemas.microsoft.com/office/drawing/2014/main" id="{3047C9E4-30B3-4369-8034-9D72DC8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66900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4" name="AI职责文字">
            <a:extLst xmlns:a="http://schemas.openxmlformats.org/drawingml/2006/main">
              <a:ext uri="{FF2B5EF4-FFF2-40B4-BE49-F238E27FC236}">
                <a16:creationId xmlns:a16="http://schemas.microsoft.com/office/drawing/2014/main" id="{B3FCB9F9-3718-4D74-9784-B178F9C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145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理解意图，生成草稿</a:t>
            </a:r>
          </a:p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组织工具参数与调用</a:t>
            </a:r>
          </a:p>
        </p:txBody>
      </p:sp>
      <p:sp>
        <p:nvSpPr>
          <p:cNvPr id="45" name="人工确认">
            <a:extLst xmlns:a="http://schemas.openxmlformats.org/drawingml/2006/main">
              <a:ext uri="{FF2B5EF4-FFF2-40B4-BE49-F238E27FC236}">
                <a16:creationId xmlns:a16="http://schemas.microsoft.com/office/drawing/2014/main" id="{A7698ACA-EDFF-41C9-9B79-F3BF1EF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28775"/>
            <a:ext cx="21812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6" name="人工确认文字">
            <a:extLst xmlns:a="http://schemas.openxmlformats.org/drawingml/2006/main">
              <a:ext uri="{FF2B5EF4-FFF2-40B4-BE49-F238E27FC236}">
                <a16:creationId xmlns:a16="http://schemas.microsoft.com/office/drawing/2014/main" id="{DE615C86-523B-4EDB-A3E5-FE7DACF1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764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确认不确定输入</a:t>
            </a:r>
          </a:p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尺度 / 支座 / 荷载</a:t>
            </a:r>
          </a:p>
        </p:txBody>
      </p:sp>
      <p:sp>
        <p:nvSpPr>
          <p:cNvPr id="47" name="确定性工具">
            <a:extLst xmlns:a="http://schemas.openxmlformats.org/drawingml/2006/main">
              <a:ext uri="{FF2B5EF4-FFF2-40B4-BE49-F238E27FC236}">
                <a16:creationId xmlns:a16="http://schemas.microsoft.com/office/drawing/2014/main" id="{6E2DD418-22A0-43EB-920F-F14399E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628775"/>
            <a:ext cx="3638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8" name="确定性工具文字">
            <a:extLst xmlns:a="http://schemas.openxmlformats.org/drawingml/2006/main">
              <a:ext uri="{FF2B5EF4-FFF2-40B4-BE49-F238E27FC236}">
                <a16:creationId xmlns:a16="http://schemas.microsoft.com/office/drawing/2014/main" id="{22B2DBCA-D43C-4352-A005-459ECCF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76400"/>
            <a:ext cx="340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模型校验 → 编译 → 求解</a:t>
            </a:r>
          </a:p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查询、云图与计算书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4A7461C4-F69E-48AC-BCC7-54116EB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B11BC1D-0691-432E-8BF3-8B64054C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36EF509-2B06-4622-8624-BFBCD31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cxnSp>
        <p:nvCxnSpPr>
          <p:cNvPr id="52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06509BA9-9CDC-44ED-8ED7-35DEA0B822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67475" y="24669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cxnSp>
      <p:cxnSp>
        <p:nvCxnSpPr>
          <p:cNvPr id="53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77ED7799-3019-4B58-A7E4-0B2AA6EAFB2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905250" y="2676525"/>
            <a:ext cx="2562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cxnSp>
      <p:cxnSp>
        <p:nvCxnSpPr>
          <p:cNvPr id="54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D963C557-9903-4857-B437-C7542DA397D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05250" y="24669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5" name="返回说明">
            <a:extLst xmlns:a="http://schemas.openxmlformats.org/drawingml/2006/main">
              <a:ext uri="{FF2B5EF4-FFF2-40B4-BE49-F238E27FC236}">
                <a16:creationId xmlns:a16="http://schemas.microsoft.com/office/drawing/2014/main" id="{5C2F6296-0669-4EC0-AFE8-11D74A5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050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信息不足 / 校验异常：返回补充与确认</a:t>
            </a:r>
          </a:p>
        </p:txBody>
      </p:sp>
      <p:sp>
        <p:nvSpPr>
          <p:cNvPr id="56" name="有限元标题">
            <a:extLst xmlns:a="http://schemas.openxmlformats.org/drawingml/2006/main">
              <a:ext uri="{FF2B5EF4-FFF2-40B4-BE49-F238E27FC236}">
                <a16:creationId xmlns:a16="http://schemas.microsoft.com/office/drawing/2014/main" id="{DB3B8524-E296-46AA-918F-5178695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7" name="有限元标题文字">
            <a:extLst xmlns:a="http://schemas.openxmlformats.org/drawingml/2006/main">
              <a:ext uri="{FF2B5EF4-FFF2-40B4-BE49-F238E27FC236}">
                <a16:creationId xmlns:a16="http://schemas.microsoft.com/office/drawing/2014/main" id="{7285C616-8E15-4154-8FB6-9080F73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确定性有限元内核</a:t>
            </a:r>
          </a:p>
        </p:txBody>
      </p:sp>
      <p:sp>
        <p:nvSpPr>
          <p:cNvPr id="58" name="有限元过程">
            <a:extLst xmlns:a="http://schemas.openxmlformats.org/drawingml/2006/main">
              <a:ext uri="{FF2B5EF4-FFF2-40B4-BE49-F238E27FC236}">
                <a16:creationId xmlns:a16="http://schemas.microsoft.com/office/drawing/2014/main" id="{9536326E-F694-4A55-B429-BEA11D0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05150"/>
            <a:ext cx="8181975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59" name="有限元过程标签">
            <a:extLst xmlns:a="http://schemas.openxmlformats.org/drawingml/2006/main">
              <a:ext uri="{FF2B5EF4-FFF2-40B4-BE49-F238E27FC236}">
                <a16:creationId xmlns:a16="http://schemas.microsoft.com/office/drawing/2014/main" id="{4F3B669E-6631-4E22-A7FB-0840185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241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0" name="有限元过程标签文字">
            <a:extLst xmlns:a="http://schemas.openxmlformats.org/drawingml/2006/main">
              <a:ext uri="{FF2B5EF4-FFF2-40B4-BE49-F238E27FC236}">
                <a16:creationId xmlns:a16="http://schemas.microsoft.com/office/drawing/2014/main" id="{8E2A91A0-ABE5-42ED-B2C8-F68E047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622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空间梁单元</a:t>
            </a:r>
          </a:p>
        </p:txBody>
      </p:sp>
      <p:cxnSp>
        <p:nvCxnSpPr>
          <p:cNvPr id="61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353AB4A0-14BE-42ED-8BAD-F7E4AD97D89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71550" y="3752850"/>
            <a:ext cx="18669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092858"/>
            </a:solidFill>
            <a:prstDash val="solid"/>
          </a:ln>
        </p:spPr>
      </p:cxnSp>
      <p:sp>
        <p:nvSpPr>
          <p:cNvPr id="62" name="梁节点i">
            <a:extLst xmlns:a="http://schemas.openxmlformats.org/drawingml/2006/main">
              <a:ext uri="{FF2B5EF4-FFF2-40B4-BE49-F238E27FC236}">
                <a16:creationId xmlns:a16="http://schemas.microsoft.com/office/drawing/2014/main" id="{B3FDB05F-5D3D-4162-AAE4-89F3DAB9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</a:ln>
        </p:spPr>
      </p:sp>
      <p:sp>
        <p:nvSpPr>
          <p:cNvPr id="63" name="节点i">
            <a:extLst xmlns:a="http://schemas.openxmlformats.org/drawingml/2006/main">
              <a:ext uri="{FF2B5EF4-FFF2-40B4-BE49-F238E27FC236}">
                <a16:creationId xmlns:a16="http://schemas.microsoft.com/office/drawing/2014/main" id="{C018492C-651D-4ABD-BCA0-2B47E35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33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64" name="梁节点j">
            <a:extLst xmlns:a="http://schemas.openxmlformats.org/drawingml/2006/main">
              <a:ext uri="{FF2B5EF4-FFF2-40B4-BE49-F238E27FC236}">
                <a16:creationId xmlns:a16="http://schemas.microsoft.com/office/drawing/2014/main" id="{F2DCFF3C-2692-49E8-90FA-B822E1A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</a:ln>
        </p:spPr>
      </p:sp>
      <p:sp>
        <p:nvSpPr>
          <p:cNvPr id="65" name="节点j">
            <a:extLst xmlns:a="http://schemas.openxmlformats.org/drawingml/2006/main">
              <a:ext uri="{FF2B5EF4-FFF2-40B4-BE49-F238E27FC236}">
                <a16:creationId xmlns:a16="http://schemas.microsoft.com/office/drawing/2014/main" id="{C28DBBF4-63F2-428D-AAF0-D988FE30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76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j</a:t>
            </a:r>
          </a:p>
        </p:txBody>
      </p:sp>
      <p:cxnSp>
        <p:nvCxnSpPr>
          <p:cNvPr id="66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1A2E8EA3-F239-49FB-9405-9A6DBAEFC00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90600" y="3933825"/>
            <a:ext cx="54292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cxnSp>
        <p:nvCxnSpPr>
          <p:cNvPr id="67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D3BADDA2-88A3-44E9-9513-5D89EB3FC8A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90600" y="3514725"/>
            <a:ext cx="9525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cxnSp>
        <p:nvCxnSpPr>
          <p:cNvPr id="68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26976D74-B1E2-4F8F-9C88-8BD366C3C9EC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600075" y="3762375"/>
            <a:ext cx="3905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sp>
        <p:nvSpPr>
          <p:cNvPr id="69" name="局部x">
            <a:extLst xmlns:a="http://schemas.openxmlformats.org/drawingml/2006/main">
              <a:ext uri="{FF2B5EF4-FFF2-40B4-BE49-F238E27FC236}">
                <a16:creationId xmlns:a16="http://schemas.microsoft.com/office/drawing/2014/main" id="{05438ADE-50FE-4F68-BE61-692B7B2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33825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70" name="局部y">
            <a:extLst xmlns:a="http://schemas.openxmlformats.org/drawingml/2006/main">
              <a:ext uri="{FF2B5EF4-FFF2-40B4-BE49-F238E27FC236}">
                <a16:creationId xmlns:a16="http://schemas.microsoft.com/office/drawing/2014/main" id="{69F9EEAF-89CD-4E3B-AD6F-95A6077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4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71" name="局部z">
            <a:extLst xmlns:a="http://schemas.openxmlformats.org/drawingml/2006/main">
              <a:ext uri="{FF2B5EF4-FFF2-40B4-BE49-F238E27FC236}">
                <a16:creationId xmlns:a16="http://schemas.microsoft.com/office/drawing/2014/main" id="{7E0AD9A5-309A-40B5-92D0-CAF70A4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71875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72" name="自由度">
            <a:extLst xmlns:a="http://schemas.openxmlformats.org/drawingml/2006/main">
              <a:ext uri="{FF2B5EF4-FFF2-40B4-BE49-F238E27FC236}">
                <a16:creationId xmlns:a16="http://schemas.microsoft.com/office/drawing/2014/main" id="{3FFA0FE5-906F-4A77-8A6F-1D67942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876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每节点：3平移＋3转角</a:t>
            </a:r>
          </a:p>
        </p:txBody>
      </p:sp>
      <p:sp>
        <p:nvSpPr>
          <p:cNvPr id="73" name="自由度向量">
            <a:extLst xmlns:a="http://schemas.openxmlformats.org/drawingml/2006/main">
              <a:ext uri="{FF2B5EF4-FFF2-40B4-BE49-F238E27FC236}">
                <a16:creationId xmlns:a16="http://schemas.microsoft.com/office/drawing/2014/main" id="{84EF6E91-1523-4C1F-AC68-8451C7E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dᵢ = [u, v, w, θₓ, θᵧ, θz]ᵀ</a:t>
            </a:r>
          </a:p>
        </p:txBody>
      </p:sp>
      <p:sp>
        <p:nvSpPr>
          <p:cNvPr id="74" name="刚度步骤0">
            <a:extLst xmlns:a="http://schemas.openxmlformats.org/drawingml/2006/main">
              <a:ext uri="{FF2B5EF4-FFF2-40B4-BE49-F238E27FC236}">
                <a16:creationId xmlns:a16="http://schemas.microsoft.com/office/drawing/2014/main" id="{75021E09-1291-45FD-A67A-021317D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75" name="刚度步骤0文字">
            <a:extLst xmlns:a="http://schemas.openxmlformats.org/drawingml/2006/main">
              <a:ext uri="{FF2B5EF4-FFF2-40B4-BE49-F238E27FC236}">
                <a16:creationId xmlns:a16="http://schemas.microsoft.com/office/drawing/2014/main" id="{BC53AE9A-FD5E-4BC0-9957-04559D8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kₑ：12×12</a:t>
            </a:r>
          </a:p>
        </p:txBody>
      </p:sp>
      <p:sp>
        <p:nvSpPr>
          <p:cNvPr id="76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56F7108-9F8F-489E-8C62-F4DB378E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77" name="刚度步骤1">
            <a:extLst xmlns:a="http://schemas.openxmlformats.org/drawingml/2006/main">
              <a:ext uri="{FF2B5EF4-FFF2-40B4-BE49-F238E27FC236}">
                <a16:creationId xmlns:a16="http://schemas.microsoft.com/office/drawing/2014/main" id="{860D3E52-8D02-48C3-A4DB-9B293E7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78" name="刚度步骤1文字">
            <a:extLst xmlns:a="http://schemas.openxmlformats.org/drawingml/2006/main">
              <a:ext uri="{FF2B5EF4-FFF2-40B4-BE49-F238E27FC236}">
                <a16:creationId xmlns:a16="http://schemas.microsoft.com/office/drawing/2014/main" id="{2C3BA990-4B86-4E7E-BCE5-84837DE1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坐标变换</a:t>
            </a:r>
          </a:p>
        </p:txBody>
      </p:sp>
      <p:sp>
        <p:nvSpPr>
          <p:cNvPr id="7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CE00B7-30B6-400E-8A62-A1B9D58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80" name="刚度步骤2">
            <a:extLst xmlns:a="http://schemas.openxmlformats.org/drawingml/2006/main">
              <a:ext uri="{FF2B5EF4-FFF2-40B4-BE49-F238E27FC236}">
                <a16:creationId xmlns:a16="http://schemas.microsoft.com/office/drawing/2014/main" id="{2BFBCB13-BAE9-4AA2-AFEE-BCA3A47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81" name="刚度步骤2文字">
            <a:extLst xmlns:a="http://schemas.openxmlformats.org/drawingml/2006/main">
              <a:ext uri="{FF2B5EF4-FFF2-40B4-BE49-F238E27FC236}">
                <a16:creationId xmlns:a16="http://schemas.microsoft.com/office/drawing/2014/main" id="{BA73A4A5-F49E-4088-BBAC-7655500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组装与约束</a:t>
            </a:r>
          </a:p>
        </p:txBody>
      </p:sp>
      <p:sp>
        <p:nvSpPr>
          <p:cNvPr id="82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F784001-EA09-48D4-84DD-BBAE9992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83" name="刚度步骤3">
            <a:extLst xmlns:a="http://schemas.openxmlformats.org/drawingml/2006/main">
              <a:ext uri="{FF2B5EF4-FFF2-40B4-BE49-F238E27FC236}">
                <a16:creationId xmlns:a16="http://schemas.microsoft.com/office/drawing/2014/main" id="{55F3D18C-17DB-4221-9890-810CE6C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24250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84" name="刚度步骤3文字">
            <a:extLst xmlns:a="http://schemas.openxmlformats.org/drawingml/2006/main">
              <a:ext uri="{FF2B5EF4-FFF2-40B4-BE49-F238E27FC236}">
                <a16:creationId xmlns:a16="http://schemas.microsoft.com/office/drawing/2014/main" id="{EAE2AC10-B006-4647-8584-6996BAA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571875"/>
            <a:ext cx="1343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K u = F</a:t>
            </a:r>
          </a:p>
        </p:txBody>
      </p:sp>
      <p:sp>
        <p:nvSpPr>
          <p:cNvPr id="85" name="刚度变换">
            <a:extLst xmlns:a="http://schemas.openxmlformats.org/drawingml/2006/main">
              <a:ext uri="{FF2B5EF4-FFF2-40B4-BE49-F238E27FC236}">
                <a16:creationId xmlns:a16="http://schemas.microsoft.com/office/drawing/2014/main" id="{2FA51058-4808-4B38-B5EB-883BB651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133850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Kₑ = Tᵀ kₑ T</a:t>
            </a:r>
          </a:p>
        </p:txBody>
      </p:sp>
      <p:sp>
        <p:nvSpPr>
          <p:cNvPr id="86" name="释放恢复">
            <a:extLst xmlns:a="http://schemas.openxmlformats.org/drawingml/2006/main">
              <a:ext uri="{FF2B5EF4-FFF2-40B4-BE49-F238E27FC236}">
                <a16:creationId xmlns:a16="http://schemas.microsoft.com/office/drawing/2014/main" id="{579DAC13-C3B3-42F9-85E4-B605F55B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29125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杆端释放：静力凝聚及恢复；约束：给定位移处理</a:t>
            </a:r>
          </a:p>
        </p:txBody>
      </p:sp>
      <p:sp>
        <p:nvSpPr>
          <p:cNvPr id="87" name="梁分支">
            <a:extLst xmlns:a="http://schemas.openxmlformats.org/drawingml/2006/main">
              <a:ext uri="{FF2B5EF4-FFF2-40B4-BE49-F238E27FC236}">
                <a16:creationId xmlns:a16="http://schemas.microsoft.com/office/drawing/2014/main" id="{09BA1BDC-BD93-4574-B622-CD86476B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52975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Euler–Bernoulli：不计剪切；Timoshenko：Ay / Az &gt; 0 的对应平面计入剪切</a:t>
            </a:r>
          </a:p>
        </p:txBody>
      </p:sp>
      <p:sp>
        <p:nvSpPr>
          <p:cNvPr id="88" name="输出">
            <a:extLst xmlns:a="http://schemas.openxmlformats.org/drawingml/2006/main">
              <a:ext uri="{FF2B5EF4-FFF2-40B4-BE49-F238E27FC236}">
                <a16:creationId xmlns:a16="http://schemas.microsoft.com/office/drawing/2014/main" id="{6D6BC7FA-F3B3-42CF-8D35-D6646BEF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位移、反力与内力由工具计算 → 平衡校核 → 记录模型版本与工况</a:t>
            </a:r>
          </a:p>
        </p:txBody>
      </p:sp>
      <p:sp>
        <p:nvSpPr>
          <p:cNvPr id="89" name="开发协作">
            <a:extLst xmlns:a="http://schemas.openxmlformats.org/drawingml/2006/main">
              <a:ext uri="{FF2B5EF4-FFF2-40B4-BE49-F238E27FC236}">
                <a16:creationId xmlns:a16="http://schemas.microsoft.com/office/drawing/2014/main" id="{ECAF9291-D300-40FB-8FE9-B3B7749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3717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90" name="开发协作文字">
            <a:extLst xmlns:a="http://schemas.openxmlformats.org/drawingml/2006/main">
              <a:ext uri="{FF2B5EF4-FFF2-40B4-BE49-F238E27FC236}">
                <a16:creationId xmlns:a16="http://schemas.microsoft.com/office/drawing/2014/main" id="{990C5B64-1DB9-4A45-988E-0B7FBA60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开发中的人机协作</a:t>
            </a:r>
          </a:p>
        </p:txBody>
      </p:sp>
      <p:sp>
        <p:nvSpPr>
          <p:cNvPr id="91" name="研究者">
            <a:extLst xmlns:a="http://schemas.openxmlformats.org/drawingml/2006/main">
              <a:ext uri="{FF2B5EF4-FFF2-40B4-BE49-F238E27FC236}">
                <a16:creationId xmlns:a16="http://schemas.microsoft.com/office/drawing/2014/main" id="{D6CB4F19-2EAC-496C-83CB-98227C40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57850"/>
            <a:ext cx="24955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2" name="研究者文字">
            <a:extLst xmlns:a="http://schemas.openxmlformats.org/drawingml/2006/main">
              <a:ext uri="{FF2B5EF4-FFF2-40B4-BE49-F238E27FC236}">
                <a16:creationId xmlns:a16="http://schemas.microsoft.com/office/drawing/2014/main" id="{ED59A97D-0ACE-48DA-AA59-28050A6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05475"/>
            <a:ext cx="2266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研究者：力学假设</a:t>
            </a:r>
          </a:p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功能需求与验收标准</a:t>
            </a:r>
          </a:p>
        </p:txBody>
      </p:sp>
      <p:sp>
        <p:nvSpPr>
          <p:cNvPr id="93" name="AI开发">
            <a:extLst xmlns:a="http://schemas.openxmlformats.org/drawingml/2006/main">
              <a:ext uri="{FF2B5EF4-FFF2-40B4-BE49-F238E27FC236}">
                <a16:creationId xmlns:a16="http://schemas.microsoft.com/office/drawing/2014/main" id="{EAB1D34A-8EB5-4240-BA60-8A7CFCF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57850"/>
            <a:ext cx="2695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4" name="AI开发文字">
            <a:extLst xmlns:a="http://schemas.openxmlformats.org/drawingml/2006/main">
              <a:ext uri="{FF2B5EF4-FFF2-40B4-BE49-F238E27FC236}">
                <a16:creationId xmlns:a16="http://schemas.microsoft.com/office/drawing/2014/main" id="{03088039-024D-40E5-B573-7EAE899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05475"/>
            <a:ext cx="24669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AI辅助：代码与缺陷定位</a:t>
            </a:r>
          </a:p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回归维护、文档整理</a:t>
            </a:r>
          </a:p>
        </p:txBody>
      </p:sp>
      <p:sp>
        <p:nvSpPr>
          <p:cNvPr id="95" name="开发验收">
            <a:extLst xmlns:a="http://schemas.openxmlformats.org/drawingml/2006/main">
              <a:ext uri="{FF2B5EF4-FFF2-40B4-BE49-F238E27FC236}">
                <a16:creationId xmlns:a16="http://schemas.microsoft.com/office/drawing/2014/main" id="{9694CC88-506C-40FC-A5FF-2DD184AE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57850"/>
            <a:ext cx="26574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6" name="开发验收文字">
            <a:extLst xmlns:a="http://schemas.openxmlformats.org/drawingml/2006/main">
              <a:ext uri="{FF2B5EF4-FFF2-40B4-BE49-F238E27FC236}">
                <a16:creationId xmlns:a16="http://schemas.microsoft.com/office/drawing/2014/main" id="{8618366A-D492-4A7A-B076-F7893F6A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05475"/>
            <a:ext cx="2428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理论算例 / 独立复算</a:t>
            </a:r>
          </a:p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及对标复核</a:t>
            </a:r>
          </a:p>
        </p:txBody>
      </p:sp>
      <p:sp>
        <p:nvSpPr>
          <p:cNvPr id="9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D2D75B11-6391-4FD8-98F2-74F321F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9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CEF6F1BD-7722-4DDB-AD65-11EB758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9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0730DA3-C304-4E0E-8402-319252D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059E9C95-B5F9-484D-BA4C-F172F6B01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3788f52fb44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E55C91D3-CE16-4DA1-B77E-1C07CB1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ABDD99B3-A77C-44C3-8A4F-1E2C35F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截至2026-10-10；最近完整回归2837通过、1按环境跳过；此后仅增量验证（来源：报告、回归记录）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A4DBE3A-CB5E-4DDD-8CE3-9DB5FD9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6" name="模块主题">
            <a:extLst xmlns:a="http://schemas.openxmlformats.org/drawingml/2006/main">
              <a:ext uri="{FF2B5EF4-FFF2-40B4-BE49-F238E27FC236}">
                <a16:creationId xmlns:a16="http://schemas.microsoft.com/office/drawing/2014/main" id="{6EF08781-9F69-4E0B-BBF5-98EE4725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已完成的模块与可运行主流程</a:t>
            </a:r>
          </a:p>
        </p:txBody>
      </p:sp>
      <p:sp>
        <p:nvSpPr>
          <p:cNvPr id="37" name="功能模块">
            <a:extLst xmlns:a="http://schemas.openxmlformats.org/drawingml/2006/main">
              <a:ext uri="{FF2B5EF4-FFF2-40B4-BE49-F238E27FC236}">
                <a16:creationId xmlns:a16="http://schemas.microsoft.com/office/drawing/2014/main" id="{78E9320B-78A6-4E48-BB17-1DC1474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80060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8" name="功能模块标签">
            <a:extLst xmlns:a="http://schemas.openxmlformats.org/drawingml/2006/main">
              <a:ext uri="{FF2B5EF4-FFF2-40B4-BE49-F238E27FC236}">
                <a16:creationId xmlns:a16="http://schemas.microsoft.com/office/drawing/2014/main" id="{D6C965B9-680E-4AC0-928D-CD695DB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9" name="功能模块标签文字">
            <a:extLst xmlns:a="http://schemas.openxmlformats.org/drawingml/2006/main">
              <a:ext uri="{FF2B5EF4-FFF2-40B4-BE49-F238E27FC236}">
                <a16:creationId xmlns:a16="http://schemas.microsoft.com/office/drawing/2014/main" id="{65143072-A3AA-4EBA-BC7D-7DC8B652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开发模块</a:t>
            </a:r>
          </a:p>
        </p:txBody>
      </p:sp>
      <p:sp>
        <p:nvSpPr>
          <p:cNvPr id="40" name="模块0">
            <a:extLst xmlns:a="http://schemas.openxmlformats.org/drawingml/2006/main">
              <a:ext uri="{FF2B5EF4-FFF2-40B4-BE49-F238E27FC236}">
                <a16:creationId xmlns:a16="http://schemas.microsoft.com/office/drawing/2014/main" id="{F4D4864C-2BD2-4CDD-8B04-542581C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1" name="模块0文字">
            <a:extLst xmlns:a="http://schemas.openxmlformats.org/drawingml/2006/main">
              <a:ext uri="{FF2B5EF4-FFF2-40B4-BE49-F238E27FC236}">
                <a16:creationId xmlns:a16="http://schemas.microsoft.com/office/drawing/2014/main" id="{EC5C5DD3-6FAD-4CD2-A8C7-A934147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工具接口</a:t>
            </a:r>
          </a:p>
        </p:txBody>
      </p:sp>
      <p:sp>
        <p:nvSpPr>
          <p:cNvPr id="42" name="职责0">
            <a:extLst xmlns:a="http://schemas.openxmlformats.org/drawingml/2006/main">
              <a:ext uri="{FF2B5EF4-FFF2-40B4-BE49-F238E27FC236}">
                <a16:creationId xmlns:a16="http://schemas.microsoft.com/office/drawing/2014/main" id="{FECD9AF0-791F-4948-B47C-2810367B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669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3" name="职责0文字">
            <a:extLst xmlns:a="http://schemas.openxmlformats.org/drawingml/2006/main">
              <a:ext uri="{FF2B5EF4-FFF2-40B4-BE49-F238E27FC236}">
                <a16:creationId xmlns:a16="http://schemas.microsoft.com/office/drawing/2014/main" id="{D7CB67B2-740F-465A-9F9B-C9EA179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14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意图与工具组织</a:t>
            </a:r>
          </a:p>
        </p:txBody>
      </p:sp>
      <p:sp>
        <p:nvSpPr>
          <p:cNvPr id="4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B8F6649-B81D-48B1-83FB-734F8A8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5" name="模块1">
            <a:extLst xmlns:a="http://schemas.openxmlformats.org/drawingml/2006/main">
              <a:ext uri="{FF2B5EF4-FFF2-40B4-BE49-F238E27FC236}">
                <a16:creationId xmlns:a16="http://schemas.microsoft.com/office/drawing/2014/main" id="{AA6B90A3-1AF9-47CB-943A-A1DE60F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65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6" name="模块1文字">
            <a:extLst xmlns:a="http://schemas.openxmlformats.org/drawingml/2006/main">
              <a:ext uri="{FF2B5EF4-FFF2-40B4-BE49-F238E27FC236}">
                <a16:creationId xmlns:a16="http://schemas.microsoft.com/office/drawing/2014/main" id="{F4911567-A64D-4E74-8136-FA6175AA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模型与结果管理</a:t>
            </a:r>
          </a:p>
        </p:txBody>
      </p:sp>
      <p:sp>
        <p:nvSpPr>
          <p:cNvPr id="47" name="职责1">
            <a:extLst xmlns:a="http://schemas.openxmlformats.org/drawingml/2006/main">
              <a:ext uri="{FF2B5EF4-FFF2-40B4-BE49-F238E27FC236}">
                <a16:creationId xmlns:a16="http://schemas.microsoft.com/office/drawing/2014/main" id="{D9101FF5-DC50-4491-B242-924866B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765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8" name="职责1文字">
            <a:extLst xmlns:a="http://schemas.openxmlformats.org/drawingml/2006/main">
              <a:ext uri="{FF2B5EF4-FFF2-40B4-BE49-F238E27FC236}">
                <a16:creationId xmlns:a16="http://schemas.microsoft.com/office/drawing/2014/main" id="{D5892A8B-5FCA-4B5A-9B76-955E6D5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24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版本 / 工况 / 保存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BF3C27A6-EBFB-419E-A096-A9BCE07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模块2">
            <a:extLst xmlns:a="http://schemas.openxmlformats.org/drawingml/2006/main">
              <a:ext uri="{FF2B5EF4-FFF2-40B4-BE49-F238E27FC236}">
                <a16:creationId xmlns:a16="http://schemas.microsoft.com/office/drawing/2014/main" id="{A5D154CB-01BF-4A3D-8D5D-A86C5EF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1" name="模块2文字">
            <a:extLst xmlns:a="http://schemas.openxmlformats.org/drawingml/2006/main">
              <a:ext uri="{FF2B5EF4-FFF2-40B4-BE49-F238E27FC236}">
                <a16:creationId xmlns:a16="http://schemas.microsoft.com/office/drawing/2014/main" id="{F44042C0-BD7F-4852-B388-3801907F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42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力学计算内核</a:t>
            </a:r>
          </a:p>
        </p:txBody>
      </p:sp>
      <p:sp>
        <p:nvSpPr>
          <p:cNvPr id="52" name="职责2">
            <a:extLst xmlns:a="http://schemas.openxmlformats.org/drawingml/2006/main">
              <a:ext uri="{FF2B5EF4-FFF2-40B4-BE49-F238E27FC236}">
                <a16:creationId xmlns:a16="http://schemas.microsoft.com/office/drawing/2014/main" id="{569DE009-69F0-4A9F-B0AA-F6BA132B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861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3" name="职责2文字">
            <a:extLst xmlns:a="http://schemas.openxmlformats.org/drawingml/2006/main">
              <a:ext uri="{FF2B5EF4-FFF2-40B4-BE49-F238E27FC236}">
                <a16:creationId xmlns:a16="http://schemas.microsoft.com/office/drawing/2014/main" id="{5F93F1BF-F45C-4AF6-8CB2-DE43EE8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33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编译 / 求解 / 验算</a:t>
            </a:r>
          </a:p>
        </p:txBody>
      </p:sp>
      <p:sp>
        <p:nvSpPr>
          <p:cNvPr id="5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A993E74-5DF5-4847-BC63-37BA492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5" name="模块3">
            <a:extLst xmlns:a="http://schemas.openxmlformats.org/drawingml/2006/main">
              <a:ext uri="{FF2B5EF4-FFF2-40B4-BE49-F238E27FC236}">
                <a16:creationId xmlns:a16="http://schemas.microsoft.com/office/drawing/2014/main" id="{C4E7024F-2C30-4FC4-AE53-2AEC0AE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6" name="模块3文字">
            <a:extLst xmlns:a="http://schemas.openxmlformats.org/drawingml/2006/main">
              <a:ext uri="{FF2B5EF4-FFF2-40B4-BE49-F238E27FC236}">
                <a16:creationId xmlns:a16="http://schemas.microsoft.com/office/drawing/2014/main" id="{FCC05874-99CA-4C5E-A5CE-157BCD3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338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桌面交互与报告</a:t>
            </a:r>
          </a:p>
        </p:txBody>
      </p:sp>
      <p:sp>
        <p:nvSpPr>
          <p:cNvPr id="57" name="职责3">
            <a:extLst xmlns:a="http://schemas.openxmlformats.org/drawingml/2006/main">
              <a:ext uri="{FF2B5EF4-FFF2-40B4-BE49-F238E27FC236}">
                <a16:creationId xmlns:a16="http://schemas.microsoft.com/office/drawing/2014/main" id="{B8DC66C0-BD64-4789-A1AF-925A069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957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8" name="职责3文字">
            <a:extLst xmlns:a="http://schemas.openxmlformats.org/drawingml/2006/main">
              <a:ext uri="{FF2B5EF4-FFF2-40B4-BE49-F238E27FC236}">
                <a16:creationId xmlns:a16="http://schemas.microsoft.com/office/drawing/2014/main" id="{D5F51FC0-F8E9-4D70-935C-4222A28B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视口 / 查询 / 报告</a:t>
            </a:r>
          </a:p>
        </p:txBody>
      </p:sp>
      <p:sp>
        <p:nvSpPr>
          <p:cNvPr id="5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548620E-5A39-495B-917A-A4D0B69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D33C08-0412-495D-99F4-DBCE46322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4928158447e5"/>
          <a:stretch xmlns:a="http://schemas.openxmlformats.org/drawingml/2006/main"/>
        </p:blipFill>
        <p:spPr>
          <a:xfrm xmlns:a="http://schemas.openxmlformats.org/drawingml/2006/main">
            <a:off x="5553604" y="1847850"/>
            <a:ext cx="6180667" cy="3476625"/>
          </a:xfrm>
          <a:prstGeom xmlns:a="http://schemas.openxmlformats.org/drawingml/2006/main" prst="rect">
            <a:avLst/>
          </a:prstGeom>
        </p:spPr>
      </p:pic>
      <p:sp>
        <p:nvSpPr>
          <p:cNvPr id="61" name="截图标题">
            <a:extLst xmlns:a="http://schemas.openxmlformats.org/drawingml/2006/main">
              <a:ext uri="{FF2B5EF4-FFF2-40B4-BE49-F238E27FC236}">
                <a16:creationId xmlns:a16="http://schemas.microsoft.com/office/drawing/2014/main" id="{7031E830-C9C2-46D5-A409-4BFE0CB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562600"/>
            <a:ext cx="618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真实屋盖模型：239节点、622杆件</a:t>
            </a:r>
          </a:p>
        </p:txBody>
      </p:sp>
      <p:sp>
        <p:nvSpPr>
          <p:cNvPr id="62" name="实验能力">
            <a:extLst xmlns:a="http://schemas.openxmlformats.org/drawingml/2006/main">
              <a:ext uri="{FF2B5EF4-FFF2-40B4-BE49-F238E27FC236}">
                <a16:creationId xmlns:a16="http://schemas.microsoft.com/office/drawing/2014/main" id="{A326E8CF-68B4-44AD-8ED6-1107700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3" name="实验能力文字">
            <a:extLst xmlns:a="http://schemas.openxmlformats.org/drawingml/2006/main">
              <a:ext uri="{FF2B5EF4-FFF2-40B4-BE49-F238E27FC236}">
                <a16:creationId xmlns:a16="http://schemas.microsoft.com/office/drawing/2014/main" id="{F7131013-DCD5-425D-9CA7-943C265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多模态审核 / 局部实体：阶段性扩展</a:t>
            </a:r>
          </a:p>
        </p:txBody>
      </p:sp>
      <p:sp>
        <p:nvSpPr>
          <p:cNvPr id="64" name="验证模块">
            <a:extLst xmlns:a="http://schemas.openxmlformats.org/drawingml/2006/main">
              <a:ext uri="{FF2B5EF4-FFF2-40B4-BE49-F238E27FC236}">
                <a16:creationId xmlns:a16="http://schemas.microsoft.com/office/drawing/2014/main" id="{6BDFFAF4-5103-4134-873E-220A807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验证体系：解析基准、自动回归与独立对标</a:t>
            </a:r>
          </a:p>
        </p:txBody>
      </p:sp>
      <p:sp>
        <p:nvSpPr>
          <p:cNvPr id="65" name="指标数字0">
            <a:extLst xmlns:a="http://schemas.openxmlformats.org/drawingml/2006/main">
              <a:ext uri="{FF2B5EF4-FFF2-40B4-BE49-F238E27FC236}">
                <a16:creationId xmlns:a16="http://schemas.microsoft.com/office/drawing/2014/main" id="{904351B4-11A0-4717-B67A-481323F6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240</a:t>
            </a:r>
          </a:p>
        </p:txBody>
      </p:sp>
      <p:sp>
        <p:nvSpPr>
          <p:cNvPr id="66" name="指标含义0">
            <a:extLst xmlns:a="http://schemas.openxmlformats.org/drawingml/2006/main">
              <a:ext uri="{FF2B5EF4-FFF2-40B4-BE49-F238E27FC236}">
                <a16:creationId xmlns:a16="http://schemas.microsoft.com/office/drawing/2014/main" id="{7F64B24E-54F0-4889-AE88-3A2FEE28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Python文件</a:t>
            </a:r>
          </a:p>
        </p:txBody>
      </p:sp>
      <p:sp>
        <p:nvSpPr>
          <p:cNvPr id="67" name="指标数字1">
            <a:extLst xmlns:a="http://schemas.openxmlformats.org/drawingml/2006/main">
              <a:ext uri="{FF2B5EF4-FFF2-40B4-BE49-F238E27FC236}">
                <a16:creationId xmlns:a16="http://schemas.microsoft.com/office/drawing/2014/main" id="{3F623A64-8611-4583-97C7-2452AAE7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68" name="指标含义1">
            <a:extLst xmlns:a="http://schemas.openxmlformats.org/drawingml/2006/main">
              <a:ext uri="{FF2B5EF4-FFF2-40B4-BE49-F238E27FC236}">
                <a16:creationId xmlns:a16="http://schemas.microsoft.com/office/drawing/2014/main" id="{5672D19E-02FC-48B3-A979-ECF2FD5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注册工具</a:t>
            </a:r>
          </a:p>
        </p:txBody>
      </p:sp>
      <p:sp>
        <p:nvSpPr>
          <p:cNvPr id="69" name="指标数字2">
            <a:extLst xmlns:a="http://schemas.openxmlformats.org/drawingml/2006/main">
              <a:ext uri="{FF2B5EF4-FFF2-40B4-BE49-F238E27FC236}">
                <a16:creationId xmlns:a16="http://schemas.microsoft.com/office/drawing/2014/main" id="{6CD9EFFF-6F60-49B6-B55F-B7F9700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70" name="指标含义2">
            <a:extLst xmlns:a="http://schemas.openxmlformats.org/drawingml/2006/main">
              <a:ext uri="{FF2B5EF4-FFF2-40B4-BE49-F238E27FC236}">
                <a16:creationId xmlns:a16="http://schemas.microsoft.com/office/drawing/2014/main" id="{7EAC6D63-2C24-4E7F-9F34-EFE175A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解析金标准</a:t>
            </a:r>
          </a:p>
        </p:txBody>
      </p:sp>
      <p:sp>
        <p:nvSpPr>
          <p:cNvPr id="71" name="指标数字3">
            <a:extLst xmlns:a="http://schemas.openxmlformats.org/drawingml/2006/main">
              <a:ext uri="{FF2B5EF4-FFF2-40B4-BE49-F238E27FC236}">
                <a16:creationId xmlns:a16="http://schemas.microsoft.com/office/drawing/2014/main" id="{2DB5A113-1295-4B6C-BCD0-612C895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2837</a:t>
            </a:r>
          </a:p>
        </p:txBody>
      </p:sp>
      <p:sp>
        <p:nvSpPr>
          <p:cNvPr id="72" name="指标含义3">
            <a:extLst xmlns:a="http://schemas.openxmlformats.org/drawingml/2006/main">
              <a:ext uri="{FF2B5EF4-FFF2-40B4-BE49-F238E27FC236}">
                <a16:creationId xmlns:a16="http://schemas.microsoft.com/office/drawing/2014/main" id="{3EB95C3B-FC10-49B2-9BA2-0A3B4FE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通过 / 1项跳过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7764F61B-614E-4112-AB9A-357361F92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71e877aa4d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FC6FAAA-CE0B-4352-8D5B-514F6C2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阶段成果：复杂拱形网格屋盖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BCFC2C2E-59DF-4F71-8F87-1412F4D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来源：拱形网格屋盖例题.md 与参考结果.json；软件截图为初设记录，柱图保留原始数据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29FC25B-41A7-4C78-91C5-54C000D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屋盖问题">
            <a:extLst xmlns:a="http://schemas.openxmlformats.org/drawingml/2006/main">
              <a:ext uri="{FF2B5EF4-FFF2-40B4-BE49-F238E27FC236}">
                <a16:creationId xmlns:a16="http://schemas.microsoft.com/office/drawing/2014/main" id="{24B699B0-7B01-43AB-A3EC-EC5F11A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同一屋盖的截面调整：响应改善与自重代价</a:t>
            </a:r>
          </a:p>
        </p:txBody>
      </p:sp>
      <p:sp>
        <p:nvSpPr>
          <p:cNvPr id="37" name="屋盖对象">
            <a:extLst xmlns:a="http://schemas.openxmlformats.org/drawingml/2006/main">
              <a:ext uri="{FF2B5EF4-FFF2-40B4-BE49-F238E27FC236}">
                <a16:creationId xmlns:a16="http://schemas.microsoft.com/office/drawing/2014/main" id="{01D32341-7616-4DF6-B09E-FA1FADB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105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屋盖对象文字">
            <a:extLst xmlns:a="http://schemas.openxmlformats.org/drawingml/2006/main">
              <a:ext uri="{FF2B5EF4-FFF2-40B4-BE49-F238E27FC236}">
                <a16:creationId xmlns:a16="http://schemas.microsoft.com/office/drawing/2014/main" id="{E686772A-E5AB-4279-8C9E-FD0831D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595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239 节点 / 622 杆件</a:t>
            </a:r>
          </a:p>
        </p:txBody>
      </p:sp>
      <p:sp>
        <p:nvSpPr>
          <p:cNvPr id="39" name="屋盖条件">
            <a:extLst xmlns:a="http://schemas.openxmlformats.org/drawingml/2006/main">
              <a:ext uri="{FF2B5EF4-FFF2-40B4-BE49-F238E27FC236}">
                <a16:creationId xmlns:a16="http://schemas.microsoft.com/office/drawing/2014/main" id="{7C6EF853-E208-4135-9B09-4B1ED3E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6105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24 m × 36 m；18固定支座；5工况、5组合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D7774-4924-4A77-88B8-F39A9E4DEF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aa0b0af374653"/>
          <a:srcRect xmlns:a="http://schemas.openxmlformats.org/drawingml/2006/main" l="4500" t="18500" r="4500" b="6500"/>
          <a:stretch xmlns:a="http://schemas.openxmlformats.org/drawingml/2006/main"/>
        </p:blipFill>
        <p:spPr>
          <a:xfrm xmlns:a="http://schemas.openxmlformats.org/drawingml/2006/main">
            <a:off x="457200" y="2857500"/>
            <a:ext cx="6105525" cy="2828925"/>
          </a:xfrm>
          <a:prstGeom xmlns:a="http://schemas.openxmlformats.org/drawingml/2006/main" prst="rect">
            <a:avLst/>
          </a:prstGeom>
        </p:spPr>
      </p:pic>
      <p:sp>
        <p:nvSpPr>
          <p:cNvPr id="41" name="模型图注">
            <a:extLst xmlns:a="http://schemas.openxmlformats.org/drawingml/2006/main">
              <a:ext uri="{FF2B5EF4-FFF2-40B4-BE49-F238E27FC236}">
                <a16:creationId xmlns:a16="http://schemas.microsoft.com/office/drawing/2014/main" id="{13386C98-F28E-4598-8320-4569B281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610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初设应力比：3根杆件超限；色标无量纲</a:t>
            </a:r>
          </a:p>
        </p:txBody>
      </p:sp>
      <p:sp>
        <p:nvSpPr>
          <p:cNvPr id="42" name="结果条件">
            <a:extLst xmlns:a="http://schemas.openxmlformats.org/drawingml/2006/main">
              <a:ext uri="{FF2B5EF4-FFF2-40B4-BE49-F238E27FC236}">
                <a16:creationId xmlns:a16="http://schemas.microsoft.com/office/drawing/2014/main" id="{1B3B8DA6-E4F3-4A7F-98C8-7432B85B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610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ULS-GW组合；调整后响应见右侧求解对比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C83D0455-64E7-4A74-9DA1-934283166666}"/>
              </a:ext>
            </a:extLst>
          </p:cNvPr>
          <p:cNvGraphicFramePr/>
          <p:nvPr/>
        </p:nvGraphicFramePr>
        <p:xfrm>
          <a:off xmlns:a="http://schemas.openxmlformats.org/drawingml/2006/main" x="6915150" y="1685925"/>
          <a:ext xmlns:a="http://schemas.openxmlformats.org/drawingml/2006/main" cx="48196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e4c35cdf214251"/>
          </a:graphicData>
        </a:graphic>
      </p:graphicFrame>
      <p:sp>
        <p:nvSpPr>
          <p:cNvPr id="44" name="截面调整">
            <a:extLst xmlns:a="http://schemas.openxmlformats.org/drawingml/2006/main">
              <a:ext uri="{FF2B5EF4-FFF2-40B4-BE49-F238E27FC236}">
                <a16:creationId xmlns:a16="http://schemas.microsoft.com/office/drawing/2014/main" id="{806C175E-E7A4-495A-9121-0E26F46E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76800"/>
            <a:ext cx="464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5" name="截面调整文字">
            <a:extLst xmlns:a="http://schemas.openxmlformats.org/drawingml/2006/main">
              <a:ext uri="{FF2B5EF4-FFF2-40B4-BE49-F238E27FC236}">
                <a16:creationId xmlns:a16="http://schemas.microsoft.com/office/drawing/2014/main" id="{67124F52-6830-4043-8973-46560B74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24425"/>
            <a:ext cx="441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拱杆：P219×8 → P273×10</a:t>
            </a:r>
          </a:p>
        </p:txBody>
      </p:sp>
      <p:sp>
        <p:nvSpPr>
          <p:cNvPr id="46" name="应力比">
            <a:extLst xmlns:a="http://schemas.openxmlformats.org/drawingml/2006/main">
              <a:ext uri="{FF2B5EF4-FFF2-40B4-BE49-F238E27FC236}">
                <a16:creationId xmlns:a16="http://schemas.microsoft.com/office/drawing/2014/main" id="{C3AE0694-BF42-40C6-9235-4E61246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最大应力比：1.0116 → 0.8059</a:t>
            </a:r>
          </a:p>
        </p:txBody>
      </p:sp>
      <p:sp>
        <p:nvSpPr>
          <p:cNvPr id="47" name="自重代价">
            <a:extLst xmlns:a="http://schemas.openxmlformats.org/drawingml/2006/main">
              <a:ext uri="{FF2B5EF4-FFF2-40B4-BE49-F238E27FC236}">
                <a16:creationId xmlns:a16="http://schemas.microsoft.com/office/drawing/2014/main" id="{4F75BF4E-F051-45EF-8A2C-ED4062F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197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杆件自重：593.09 → 696.41 kN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9A8360E3-07A6-4D85-A948-A1FF00D8B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f13a9fb8041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BDE5815-496F-42EC-BF42-1232093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阶段扩展：梁—局部实体分析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D0842478-6E92-4E3E-90E4-030A156D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来源：solid_joint.py、solid3d.py、SOLID_JOINT_SCOPE.md；节点65真实实体窗口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AEA5185E-9FC1-4047-9DF2-B2A2D22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6" name="实体阶段0">
            <a:extLst xmlns:a="http://schemas.openxmlformats.org/drawingml/2006/main">
              <a:ext uri="{FF2B5EF4-FFF2-40B4-BE49-F238E27FC236}">
                <a16:creationId xmlns:a16="http://schemas.microsoft.com/office/drawing/2014/main" id="{A2FEAB6E-F0DE-436F-A0AA-FD6A937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37" name="实体阶段0文字">
            <a:extLst xmlns:a="http://schemas.openxmlformats.org/drawingml/2006/main">
              <a:ext uri="{FF2B5EF4-FFF2-40B4-BE49-F238E27FC236}">
                <a16:creationId xmlns:a16="http://schemas.microsoft.com/office/drawing/2014/main" id="{7562AF67-8BFD-4219-941A-1340C4C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梁截面内力</a:t>
            </a:r>
          </a:p>
        </p:txBody>
      </p:sp>
      <p:sp>
        <p:nvSpPr>
          <p:cNvPr id="38" name="实体说明0">
            <a:extLst xmlns:a="http://schemas.openxmlformats.org/drawingml/2006/main">
              <a:ext uri="{FF2B5EF4-FFF2-40B4-BE49-F238E27FC236}">
                <a16:creationId xmlns:a16="http://schemas.microsoft.com/office/drawing/2014/main" id="{6C7B5EB4-26CE-44A6-8CBD-237922CC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39" name="实体说明0文字">
            <a:extLst xmlns:a="http://schemas.openxmlformats.org/drawingml/2006/main">
              <a:ext uri="{FF2B5EF4-FFF2-40B4-BE49-F238E27FC236}">
                <a16:creationId xmlns:a16="http://schemas.microsoft.com/office/drawing/2014/main" id="{17A2FE79-8B18-4A40-8051-295AAF5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N, Vy, Vz / N</a:t>
            </a:r>
          </a:p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T, My, Mz / N·m</a:t>
            </a:r>
          </a:p>
        </p:txBody>
      </p:sp>
      <p:sp>
        <p:nvSpPr>
          <p:cNvPr id="4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D88524B5-6813-493F-9038-F4BCADE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1" name="实体阶段1">
            <a:extLst xmlns:a="http://schemas.openxmlformats.org/drawingml/2006/main">
              <a:ext uri="{FF2B5EF4-FFF2-40B4-BE49-F238E27FC236}">
                <a16:creationId xmlns:a16="http://schemas.microsoft.com/office/drawing/2014/main" id="{4E3521E0-C3F1-4312-B43B-D417982B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42" name="实体阶段1文字">
            <a:extLst xmlns:a="http://schemas.openxmlformats.org/drawingml/2006/main">
              <a:ext uri="{FF2B5EF4-FFF2-40B4-BE49-F238E27FC236}">
                <a16:creationId xmlns:a16="http://schemas.microsoft.com/office/drawing/2014/main" id="{3511B546-CD87-4278-BBDA-63D64E4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局部区域与边界</a:t>
            </a:r>
          </a:p>
        </p:txBody>
      </p:sp>
      <p:sp>
        <p:nvSpPr>
          <p:cNvPr id="43" name="实体说明1">
            <a:extLst xmlns:a="http://schemas.openxmlformats.org/drawingml/2006/main">
              <a:ext uri="{FF2B5EF4-FFF2-40B4-BE49-F238E27FC236}">
                <a16:creationId xmlns:a16="http://schemas.microsoft.com/office/drawing/2014/main" id="{347554D3-2FA8-42D2-B872-DA5B506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4" name="实体说明1文字">
            <a:extLst xmlns:a="http://schemas.openxmlformats.org/drawingml/2006/main">
              <a:ext uri="{FF2B5EF4-FFF2-40B4-BE49-F238E27FC236}">
                <a16:creationId xmlns:a16="http://schemas.microsoft.com/office/drawing/2014/main" id="{45656203-B6C4-41D0-BC65-38F98EE4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截面六分量传递</a:t>
            </a:r>
          </a:p>
        </p:txBody>
      </p:sp>
      <p:sp>
        <p:nvSpPr>
          <p:cNvPr id="4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8725382F-01AA-420C-9E39-848AA6F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6" name="实体阶段2">
            <a:extLst xmlns:a="http://schemas.openxmlformats.org/drawingml/2006/main">
              <a:ext uri="{FF2B5EF4-FFF2-40B4-BE49-F238E27FC236}">
                <a16:creationId xmlns:a16="http://schemas.microsoft.com/office/drawing/2014/main" id="{16090255-BD5A-4E71-BD52-E01CC5F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47" name="实体阶段2文字">
            <a:extLst xmlns:a="http://schemas.openxmlformats.org/drawingml/2006/main">
              <a:ext uri="{FF2B5EF4-FFF2-40B4-BE49-F238E27FC236}">
                <a16:creationId xmlns:a16="http://schemas.microsoft.com/office/drawing/2014/main" id="{C93877CE-C1BA-4712-A590-7B30410E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Gmsh</a:t>
            </a:r>
          </a:p>
        </p:txBody>
      </p:sp>
      <p:sp>
        <p:nvSpPr>
          <p:cNvPr id="48" name="实体说明2">
            <a:extLst xmlns:a="http://schemas.openxmlformats.org/drawingml/2006/main">
              <a:ext uri="{FF2B5EF4-FFF2-40B4-BE49-F238E27FC236}">
                <a16:creationId xmlns:a16="http://schemas.microsoft.com/office/drawing/2014/main" id="{5B709BD1-D3A7-4DE2-86F5-F64D963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9" name="实体说明2文字">
            <a:extLst xmlns:a="http://schemas.openxmlformats.org/drawingml/2006/main">
              <a:ext uri="{FF2B5EF4-FFF2-40B4-BE49-F238E27FC236}">
                <a16:creationId xmlns:a16="http://schemas.microsoft.com/office/drawing/2014/main" id="{51C7656E-659B-4B97-B34A-A39A425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二次四面体网格</a:t>
            </a:r>
          </a:p>
        </p:txBody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74FBE5C9-D7EA-4DB0-8AC4-E757EBD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实体阶段3">
            <a:extLst xmlns:a="http://schemas.openxmlformats.org/drawingml/2006/main">
              <a:ext uri="{FF2B5EF4-FFF2-40B4-BE49-F238E27FC236}">
                <a16:creationId xmlns:a16="http://schemas.microsoft.com/office/drawing/2014/main" id="{884D94DE-17A4-438D-92BD-4B67BA5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2" name="实体阶段3文字">
            <a:extLst xmlns:a="http://schemas.openxmlformats.org/drawingml/2006/main">
              <a:ext uri="{FF2B5EF4-FFF2-40B4-BE49-F238E27FC236}">
                <a16:creationId xmlns:a16="http://schemas.microsoft.com/office/drawing/2014/main" id="{52ACF608-4021-4BBD-9B0E-A159E99F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rPr>
              <a:t>自研 C3D10</a:t>
            </a:r>
          </a:p>
        </p:txBody>
      </p:sp>
      <p:sp>
        <p:nvSpPr>
          <p:cNvPr id="53" name="实体说明3">
            <a:extLst xmlns:a="http://schemas.openxmlformats.org/drawingml/2006/main">
              <a:ext uri="{FF2B5EF4-FFF2-40B4-BE49-F238E27FC236}">
                <a16:creationId xmlns:a16="http://schemas.microsoft.com/office/drawing/2014/main" id="{0A507F8B-1833-45F9-B61A-2930B23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4" name="实体说明3文字">
            <a:extLst xmlns:a="http://schemas.openxmlformats.org/drawingml/2006/main">
              <a:ext uri="{FF2B5EF4-FFF2-40B4-BE49-F238E27FC236}">
                <a16:creationId xmlns:a16="http://schemas.microsoft.com/office/drawing/2014/main" id="{3C87D59C-9828-46C7-9ACF-C1645D1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位移 → 应力 / 热点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2CFAE1-38FB-452A-A5A3-7EB0C1ACC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9605fd07f4550"/>
          <a:srcRect xmlns:a="http://schemas.openxmlformats.org/drawingml/2006/main" l="26300" t="30200" r="3700" b="5000"/>
          <a:stretch xmlns:a="http://schemas.openxmlformats.org/drawingml/2006/main"/>
        </p:blipFill>
        <p:spPr>
          <a:xfrm xmlns:a="http://schemas.openxmlformats.org/drawingml/2006/main">
            <a:off x="457200" y="2352675"/>
            <a:ext cx="7848600" cy="4086225"/>
          </a:xfrm>
          <a:prstGeom xmlns:a="http://schemas.openxmlformats.org/drawingml/2006/main" prst="rect">
            <a:avLst/>
          </a:prstGeom>
        </p:spPr>
      </p:pic>
      <p:sp>
        <p:nvSpPr>
          <p:cNvPr id="56" name="实体边界">
            <a:extLst xmlns:a="http://schemas.openxmlformats.org/drawingml/2006/main">
              <a:ext uri="{FF2B5EF4-FFF2-40B4-BE49-F238E27FC236}">
                <a16:creationId xmlns:a16="http://schemas.microsoft.com/office/drawing/2014/main" id="{9BD57D43-6D04-4C8F-A4AD-1ED28C3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3086100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dash"/>
          </a:ln>
        </p:spPr>
      </p:sp>
      <p:sp>
        <p:nvSpPr>
          <p:cNvPr id="57" name="实体边界标签">
            <a:extLst xmlns:a="http://schemas.openxmlformats.org/drawingml/2006/main">
              <a:ext uri="{FF2B5EF4-FFF2-40B4-BE49-F238E27FC236}">
                <a16:creationId xmlns:a16="http://schemas.microsoft.com/office/drawing/2014/main" id="{C82928A4-C72C-424C-8E2D-7B2EF52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58" name="实体边界标签文字">
            <a:extLst xmlns:a="http://schemas.openxmlformats.org/drawingml/2006/main">
              <a:ext uri="{FF2B5EF4-FFF2-40B4-BE49-F238E27FC236}">
                <a16:creationId xmlns:a16="http://schemas.microsoft.com/office/drawing/2014/main" id="{7C9A414A-56E0-4307-B903-72B80A8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验证范围与条件</a:t>
            </a:r>
          </a:p>
        </p:txBody>
      </p:sp>
      <p:sp>
        <p:nvSpPr>
          <p:cNvPr id="59" name="自研说明">
            <a:extLst xmlns:a="http://schemas.openxmlformats.org/drawingml/2006/main">
              <a:ext uri="{FF2B5EF4-FFF2-40B4-BE49-F238E27FC236}">
                <a16:creationId xmlns:a16="http://schemas.microsoft.com/office/drawing/2014/main" id="{79B0C7D5-85C2-4551-BB98-2627FA4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67025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主求解：自研 C3D10</a:t>
            </a:r>
          </a:p>
        </p:txBody>
      </p:sp>
      <p:sp>
        <p:nvSpPr>
          <p:cNvPr id="60" name="图例解释">
            <a:extLst xmlns:a="http://schemas.openxmlformats.org/drawingml/2006/main">
              <a:ext uri="{FF2B5EF4-FFF2-40B4-BE49-F238E27FC236}">
                <a16:creationId xmlns:a16="http://schemas.microsoft.com/office/drawing/2014/main" id="{6C1E5F45-5028-4A8F-8405-E19CD59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90900"/>
            <a:ext cx="26860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σvM / MPa</a:t>
            </a:r>
          </a:p>
          <a:p xmlns:a="http://schemas.openxmlformats.org/drawingml/2006/main">
            <a:pPr algn="l"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原始峰值 ≈ 435.951</a:t>
            </a:r>
          </a:p>
          <a:p xmlns:a="http://schemas.openxmlformats.org/drawingml/2006/main">
            <a:pPr algn="l"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P99色标上限 ≈ 157.83</a:t>
            </a:r>
          </a:p>
        </p:txBody>
      </p:sp>
      <p:sp>
        <p:nvSpPr>
          <p:cNvPr id="61" name="独立对标">
            <a:extLst xmlns:a="http://schemas.openxmlformats.org/drawingml/2006/main">
              <a:ext uri="{FF2B5EF4-FFF2-40B4-BE49-F238E27FC236}">
                <a16:creationId xmlns:a16="http://schemas.microsoft.com/office/drawing/2014/main" id="{7B7A02C1-E897-44FF-84D8-926C26D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9105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Abaqus：独立对标</a:t>
            </a:r>
          </a:p>
        </p:txBody>
      </p:sp>
      <p:sp>
        <p:nvSpPr>
          <p:cNvPr id="62" name="Kt边界">
            <a:extLst xmlns:a="http://schemas.openxmlformats.org/drawingml/2006/main">
              <a:ext uri="{FF2B5EF4-FFF2-40B4-BE49-F238E27FC236}">
                <a16:creationId xmlns:a16="http://schemas.microsoft.com/office/drawing/2014/main" id="{6F7441F6-D9AB-4134-8826-626253F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958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实验性能力；正式 Kt</a:t>
            </a:r>
          </a:p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需收敛验证与热点复核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7B91AA9D-AF5C-497C-B359-2DD4723CD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68f2a6f684e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24BE948A-7754-434A-BA63-681E66B3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  前期问题及解决方法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9FF120C8-CABC-4C16-B731-FFE361CA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来源：2026-10-10节点荷载缺值修复；真实审核窗口与相关增量回归记录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BE6BEFE-03DE-45DC-9B06-FACB569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6" name="缺陷结论">
            <a:extLst xmlns:a="http://schemas.openxmlformats.org/drawingml/2006/main">
              <a:ext uri="{FF2B5EF4-FFF2-40B4-BE49-F238E27FC236}">
                <a16:creationId xmlns:a16="http://schemas.microsoft.com/office/drawing/2014/main" id="{1A2AC066-3697-493C-A5F2-13CE03C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缺失的荷载分量必须保留“未知”，确认后才能导入</a:t>
            </a:r>
          </a:p>
        </p:txBody>
      </p:sp>
      <p:sp>
        <p:nvSpPr>
          <p:cNvPr id="37" name="现象原因">
            <a:extLst xmlns:a="http://schemas.openxmlformats.org/drawingml/2006/main">
              <a:ext uri="{FF2B5EF4-FFF2-40B4-BE49-F238E27FC236}">
                <a16:creationId xmlns:a16="http://schemas.microsoft.com/office/drawing/2014/main" id="{F205731B-8190-4EAB-B976-CE7D639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32956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dash"/>
          </a:ln>
        </p:spPr>
      </p:sp>
      <p:sp>
        <p:nvSpPr>
          <p:cNvPr id="38" name="现象原因标签">
            <a:extLst xmlns:a="http://schemas.openxmlformats.org/drawingml/2006/main">
              <a:ext uri="{FF2B5EF4-FFF2-40B4-BE49-F238E27FC236}">
                <a16:creationId xmlns:a16="http://schemas.microsoft.com/office/drawing/2014/main" id="{466C1FD5-B92D-4F7A-9521-7214E4F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39" name="现象原因标签文字">
            <a:extLst xmlns:a="http://schemas.openxmlformats.org/drawingml/2006/main">
              <a:ext uri="{FF2B5EF4-FFF2-40B4-BE49-F238E27FC236}">
                <a16:creationId xmlns:a16="http://schemas.microsoft.com/office/drawing/2014/main" id="{2C3C4331-F67D-4E67-AC2F-9FB0D8D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问题现象与原因定位</a:t>
            </a:r>
          </a:p>
        </p:txBody>
      </p:sp>
      <p:sp>
        <p:nvSpPr>
          <p:cNvPr id="40" name="旧现象">
            <a:extLst xmlns:a="http://schemas.openxmlformats.org/drawingml/2006/main">
              <a:ext uri="{FF2B5EF4-FFF2-40B4-BE49-F238E27FC236}">
                <a16:creationId xmlns:a16="http://schemas.microsoft.com/office/drawing/2014/main" id="{1A29CBFB-85D8-4EA7-BF4E-53C0818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1" name="旧现象文字">
            <a:extLst xmlns:a="http://schemas.openxmlformats.org/drawingml/2006/main">
              <a:ext uri="{FF2B5EF4-FFF2-40B4-BE49-F238E27FC236}">
                <a16:creationId xmlns:a16="http://schemas.microsoft.com/office/drawing/2014/main" id="{8708B8DD-5FFA-43EF-A5C6-6E4762B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272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草稿缺失荷载分量</a:t>
            </a:r>
          </a:p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控件却默认显示 0</a:t>
            </a:r>
          </a:p>
        </p:txBody>
      </p:sp>
      <p:sp>
        <p:nvSpPr>
          <p:cNvPr id="42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37EE8A2C-533B-4385-85FA-1F3BA7C2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86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43" name="根因">
            <a:extLst xmlns:a="http://schemas.openxmlformats.org/drawingml/2006/main">
              <a:ext uri="{FF2B5EF4-FFF2-40B4-BE49-F238E27FC236}">
                <a16:creationId xmlns:a16="http://schemas.microsoft.com/office/drawing/2014/main" id="{1AE82DFA-804E-48C8-8C4F-5F3121C5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默认值覆盖“未知”语义</a:t>
            </a:r>
          </a:p>
          <a:p xmlns:a="http://schemas.openxmlformats.org/drawingml/2006/main">
            <a: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可能误认为已确认的零荷载</a:t>
            </a:r>
          </a:p>
        </p:txBody>
      </p:sp>
      <p:sp>
        <p:nvSpPr>
          <p:cNvPr id="4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36725A8E-4143-469C-ABAC-6CAB7C42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3810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5" name="修复机制">
            <a:extLst xmlns:a="http://schemas.openxmlformats.org/drawingml/2006/main">
              <a:ext uri="{FF2B5EF4-FFF2-40B4-BE49-F238E27FC236}">
                <a16:creationId xmlns:a16="http://schemas.microsoft.com/office/drawing/2014/main" id="{A9A63C54-C67F-49CD-8523-8DA433D0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46" name="修复机制标签">
            <a:extLst xmlns:a="http://schemas.openxmlformats.org/drawingml/2006/main">
              <a:ext uri="{FF2B5EF4-FFF2-40B4-BE49-F238E27FC236}">
                <a16:creationId xmlns:a16="http://schemas.microsoft.com/office/drawing/2014/main" id="{52961524-0DF2-400C-BCC8-B947E0E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7" name="修复机制标签文字">
            <a:extLst xmlns:a="http://schemas.openxmlformats.org/drawingml/2006/main">
              <a:ext uri="{FF2B5EF4-FFF2-40B4-BE49-F238E27FC236}">
                <a16:creationId xmlns:a16="http://schemas.microsoft.com/office/drawing/2014/main" id="{FD9047DB-5116-486C-BB39-78B46E09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修复机制</a:t>
            </a:r>
          </a:p>
        </p:txBody>
      </p:sp>
      <p:sp>
        <p:nvSpPr>
          <p:cNvPr id="48" name="保留语义">
            <a:extLst xmlns:a="http://schemas.openxmlformats.org/drawingml/2006/main">
              <a:ext uri="{FF2B5EF4-FFF2-40B4-BE49-F238E27FC236}">
                <a16:creationId xmlns:a16="http://schemas.microsoft.com/office/drawing/2014/main" id="{6A89C21F-3005-4F45-94C0-28988DDF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14550"/>
            <a:ext cx="3009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9" name="保留语义文字">
            <a:extLst xmlns:a="http://schemas.openxmlformats.org/drawingml/2006/main">
              <a:ext uri="{FF2B5EF4-FFF2-40B4-BE49-F238E27FC236}">
                <a16:creationId xmlns:a16="http://schemas.microsoft.com/office/drawing/2014/main" id="{6EEC6C04-84B2-48D1-9A44-7D83899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6217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缺失留空；有效分量保留</a:t>
            </a:r>
          </a:p>
        </p:txBody>
      </p:sp>
      <p:sp>
        <p:nvSpPr>
          <p:cNvPr id="50" name="校验输入">
            <a:extLst xmlns:a="http://schemas.openxmlformats.org/drawingml/2006/main">
              <a:ext uri="{FF2B5EF4-FFF2-40B4-BE49-F238E27FC236}">
                <a16:creationId xmlns:a16="http://schemas.microsoft.com/office/drawing/2014/main" id="{15A88A13-EB00-496D-AC64-C325CCF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14625"/>
            <a:ext cx="3009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1" name="校验输入文字">
            <a:extLst xmlns:a="http://schemas.openxmlformats.org/drawingml/2006/main">
              <a:ext uri="{FF2B5EF4-FFF2-40B4-BE49-F238E27FC236}">
                <a16:creationId xmlns:a16="http://schemas.microsoft.com/office/drawing/2014/main" id="{F8ECC1F9-64BF-4A52-B01C-2B2B3B6D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校验数值、单位与确认状态</a:t>
            </a:r>
          </a:p>
        </p:txBody>
      </p:sp>
      <p:sp>
        <p:nvSpPr>
          <p:cNvPr id="52" name="不确认拦截">
            <a:extLst xmlns:a="http://schemas.openxmlformats.org/drawingml/2006/main">
              <a:ext uri="{FF2B5EF4-FFF2-40B4-BE49-F238E27FC236}">
                <a16:creationId xmlns:a16="http://schemas.microsoft.com/office/drawing/2014/main" id="{CD2C4DF9-F6EA-47E2-A9D6-C214212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242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未确认 → 阻断导入</a:t>
            </a:r>
          </a:p>
        </p:txBody>
      </p:sp>
      <p:sp>
        <p:nvSpPr>
          <p:cNvPr id="53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3274B92-1DC2-4601-BD6B-0BAAE08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810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4" name="验证证据">
            <a:extLst xmlns:a="http://schemas.openxmlformats.org/drawingml/2006/main">
              <a:ext uri="{FF2B5EF4-FFF2-40B4-BE49-F238E27FC236}">
                <a16:creationId xmlns:a16="http://schemas.microsoft.com/office/drawing/2014/main" id="{435D5F7D-85E1-47C0-B99C-FF4895AA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62125"/>
            <a:ext cx="33242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55" name="验证证据标签">
            <a:extLst xmlns:a="http://schemas.openxmlformats.org/drawingml/2006/main">
              <a:ext uri="{FF2B5EF4-FFF2-40B4-BE49-F238E27FC236}">
                <a16:creationId xmlns:a16="http://schemas.microsoft.com/office/drawing/2014/main" id="{7A5F0F40-34F4-48E2-9EBD-A4B7F1ED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6" name="验证证据标签文字">
            <a:extLst xmlns:a="http://schemas.openxmlformats.org/drawingml/2006/main">
              <a:ext uri="{FF2B5EF4-FFF2-40B4-BE49-F238E27FC236}">
                <a16:creationId xmlns:a16="http://schemas.microsoft.com/office/drawing/2014/main" id="{00A644DF-9C56-42A6-A99A-51C2328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验证证据</a:t>
            </a:r>
          </a:p>
        </p:txBody>
      </p:sp>
      <p:sp>
        <p:nvSpPr>
          <p:cNvPr id="57" name="回归类型">
            <a:extLst xmlns:a="http://schemas.openxmlformats.org/drawingml/2006/main">
              <a:ext uri="{FF2B5EF4-FFF2-40B4-BE49-F238E27FC236}">
                <a16:creationId xmlns:a16="http://schemas.microsoft.com/office/drawing/2014/main" id="{64E79FE4-64C9-4683-B016-A249D45A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62175"/>
            <a:ext cx="29432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 / 短向量 / 布尔值</a:t>
            </a:r>
          </a:p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NaN / 有效分量保留</a:t>
            </a:r>
          </a:p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显式零值与确认解除</a:t>
            </a:r>
          </a:p>
        </p:txBody>
      </p:sp>
      <p:sp>
        <p:nvSpPr>
          <p:cNvPr id="58" name="证据状态">
            <a:extLst xmlns:a="http://schemas.openxmlformats.org/drawingml/2006/main">
              <a:ext uri="{FF2B5EF4-FFF2-40B4-BE49-F238E27FC236}">
                <a16:creationId xmlns:a16="http://schemas.microsoft.com/office/drawing/2014/main" id="{81A52AFC-FA3D-435F-A8E1-63E3B5F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81375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相关增量回归通过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DB64C0-682E-4F8C-AEE1-7212E81B9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c169cf88945ca"/>
          <a:srcRect xmlns:a="http://schemas.openxmlformats.org/drawingml/2006/main" l="0" t="39800" r="1300" b="2600"/>
          <a:stretch xmlns:a="http://schemas.openxmlformats.org/drawingml/2006/main"/>
        </p:blipFill>
        <p:spPr>
          <a:xfrm xmlns:a="http://schemas.openxmlformats.org/drawingml/2006/main">
            <a:off x="457200" y="3943350"/>
            <a:ext cx="6276975" cy="2400300"/>
          </a:xfrm>
          <a:prstGeom xmlns:a="http://schemas.openxmlformats.org/drawingml/2006/main" prst="rect">
            <a:avLst/>
          </a:prstGeom>
        </p:spPr>
      </p:pic>
      <p:sp>
        <p:nvSpPr>
          <p:cNvPr id="60" name="人工协作">
            <a:extLst xmlns:a="http://schemas.openxmlformats.org/drawingml/2006/main">
              <a:ext uri="{FF2B5EF4-FFF2-40B4-BE49-F238E27FC236}">
                <a16:creationId xmlns:a16="http://schemas.microsoft.com/office/drawing/2014/main" id="{99D96EF3-336A-495A-80E8-E5BB1DD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71975"/>
            <a:ext cx="371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1" name="人工协作文字">
            <a:extLst xmlns:a="http://schemas.openxmlformats.org/drawingml/2006/main">
              <a:ext uri="{FF2B5EF4-FFF2-40B4-BE49-F238E27FC236}">
                <a16:creationId xmlns:a16="http://schemas.microsoft.com/office/drawing/2014/main" id="{FB035761-9435-41EE-A92A-AF5F11E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3486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研究者发现语义错误</a:t>
            </a:r>
          </a:p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AI辅助定位与实现</a:t>
            </a:r>
          </a:p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回归证据验证修复</a:t>
            </a:r>
          </a:p>
        </p:txBody>
      </p:sp>
      <p:sp>
        <p:nvSpPr>
          <p:cNvPr id="62" name="人工确认原则">
            <a:extLst xmlns:a="http://schemas.openxmlformats.org/drawingml/2006/main">
              <a:ext uri="{FF2B5EF4-FFF2-40B4-BE49-F238E27FC236}">
                <a16:creationId xmlns:a16="http://schemas.microsoft.com/office/drawing/2014/main" id="{B05AB1DF-3B6B-47D3-989D-8D6843D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81675"/>
            <a:ext cx="371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人工确认解除对应问题</a:t>
            </a:r>
          </a:p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其他未确认项仍然保留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D20B04A1-F41A-4EF7-8FF2-2AC1A8C0D1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f14e59b7e4f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34C480AC-4A58-455F-820C-4146984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  现阶段总结与后续研究计划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F76E47A3-025F-46D4-B712-015DB9B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依据：能力矩阵、答辩验收、SOLID_JOINT_SCOPE；下方为计划，非已完成结果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2A3399F-F3FB-4791-A8BA-EB870DB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6" name="阶段总结">
            <a:extLst xmlns:a="http://schemas.openxmlformats.org/drawingml/2006/main">
              <a:ext uri="{FF2B5EF4-FFF2-40B4-BE49-F238E27FC236}">
                <a16:creationId xmlns:a16="http://schemas.microsoft.com/office/drawing/2014/main" id="{2B877487-C46B-43A1-9276-4CFB85F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2314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7" name="阶段总结文字">
            <a:extLst xmlns:a="http://schemas.openxmlformats.org/drawingml/2006/main">
              <a:ext uri="{FF2B5EF4-FFF2-40B4-BE49-F238E27FC236}">
                <a16:creationId xmlns:a16="http://schemas.microsoft.com/office/drawing/2014/main" id="{82458443-E8FF-4151-B6DE-EFAD091C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2162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现阶段总结</a:t>
            </a:r>
          </a:p>
        </p:txBody>
      </p:sp>
      <p:sp>
        <p:nvSpPr>
          <p:cNvPr id="38" name="总结结论">
            <a:extLst xmlns:a="http://schemas.openxmlformats.org/drawingml/2006/main">
              <a:ext uri="{FF2B5EF4-FFF2-40B4-BE49-F238E27FC236}">
                <a16:creationId xmlns:a16="http://schemas.microsoft.com/office/drawing/2014/main" id="{BC0927FF-BBED-4AFD-844C-C85F726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104900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已形成可运行、可复算、可追溯的主流程</a:t>
            </a:r>
          </a:p>
        </p:txBody>
      </p:sp>
      <p:sp>
        <p:nvSpPr>
          <p:cNvPr id="39" name="剩余验证">
            <a:extLst xmlns:a="http://schemas.openxmlformats.org/drawingml/2006/main">
              <a:ext uri="{FF2B5EF4-FFF2-40B4-BE49-F238E27FC236}">
                <a16:creationId xmlns:a16="http://schemas.microsoft.com/office/drawing/2014/main" id="{D538C5A1-9CCD-4456-89A6-41E5F2F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14475"/>
            <a:ext cx="8696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复杂工程图识别与局部应力仍需扩大验证范围</a:t>
            </a:r>
          </a:p>
        </p:txBody>
      </p:sp>
      <p:sp>
        <p:nvSpPr>
          <p:cNvPr id="40" name="研究路线">
            <a:extLst xmlns:a="http://schemas.openxmlformats.org/drawingml/2006/main">
              <a:ext uri="{FF2B5EF4-FFF2-40B4-BE49-F238E27FC236}">
                <a16:creationId xmlns:a16="http://schemas.microsoft.com/office/drawing/2014/main" id="{61022C78-9B55-4A4B-A644-C605CD0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112776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41" name="研究路线标签">
            <a:extLst xmlns:a="http://schemas.openxmlformats.org/drawingml/2006/main">
              <a:ext uri="{FF2B5EF4-FFF2-40B4-BE49-F238E27FC236}">
                <a16:creationId xmlns:a16="http://schemas.microsoft.com/office/drawing/2014/main" id="{AF6ABD23-4D5D-42A4-95C3-52F815A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404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研究路线标签文字">
            <a:extLst xmlns:a="http://schemas.openxmlformats.org/drawingml/2006/main">
              <a:ext uri="{FF2B5EF4-FFF2-40B4-BE49-F238E27FC236}">
                <a16:creationId xmlns:a16="http://schemas.microsoft.com/office/drawing/2014/main" id="{43C6ECB8-6403-4FE6-B7B9-1943EAE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895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分阶段研究路线：方法与评价指标</a:t>
            </a:r>
          </a:p>
        </p:txBody>
      </p:sp>
      <p:sp>
        <p:nvSpPr>
          <p:cNvPr id="43" name="研究方向0">
            <a:extLst xmlns:a="http://schemas.openxmlformats.org/drawingml/2006/main">
              <a:ext uri="{FF2B5EF4-FFF2-40B4-BE49-F238E27FC236}">
                <a16:creationId xmlns:a16="http://schemas.microsoft.com/office/drawing/2014/main" id="{E1CA907F-497F-4A59-91AB-4BA93511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4" name="研究方向0文字">
            <a:extLst xmlns:a="http://schemas.openxmlformats.org/drawingml/2006/main">
              <a:ext uri="{FF2B5EF4-FFF2-40B4-BE49-F238E27FC236}">
                <a16:creationId xmlns:a16="http://schemas.microsoft.com/office/drawing/2014/main" id="{61D3D2FA-81C3-4638-B570-B6B6E03C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工程图识别</a:t>
            </a:r>
          </a:p>
        </p:txBody>
      </p:sp>
      <p:sp>
        <p:nvSpPr>
          <p:cNvPr id="45" name="研究方法0">
            <a:extLst xmlns:a="http://schemas.openxmlformats.org/drawingml/2006/main">
              <a:ext uri="{FF2B5EF4-FFF2-40B4-BE49-F238E27FC236}">
                <a16:creationId xmlns:a16="http://schemas.microsoft.com/office/drawing/2014/main" id="{50A583D8-0807-4648-88CE-C4F5C6A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6" name="研究方法0文字">
            <a:extLst xmlns:a="http://schemas.openxmlformats.org/drawingml/2006/main">
              <a:ext uri="{FF2B5EF4-FFF2-40B4-BE49-F238E27FC236}">
                <a16:creationId xmlns:a16="http://schemas.microsoft.com/office/drawing/2014/main" id="{B3C5F36D-2FF2-439D-A9D3-BBA94ED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许可明确的留出样本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独立复核图纸标注</a:t>
            </a:r>
          </a:p>
        </p:txBody>
      </p:sp>
      <p:sp>
        <p:nvSpPr>
          <p:cNvPr id="4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FE7D612F-75B2-48F1-9C5A-19A683F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8" name="评价指标0">
            <a:extLst xmlns:a="http://schemas.openxmlformats.org/drawingml/2006/main">
              <a:ext uri="{FF2B5EF4-FFF2-40B4-BE49-F238E27FC236}">
                <a16:creationId xmlns:a16="http://schemas.microsoft.com/office/drawing/2014/main" id="{C1CF8C4C-29B6-4A9F-B8DF-94799E7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49" name="评价指标0文字">
            <a:extLst xmlns:a="http://schemas.openxmlformats.org/drawingml/2006/main">
              <a:ext uri="{FF2B5EF4-FFF2-40B4-BE49-F238E27FC236}">
                <a16:creationId xmlns:a16="http://schemas.microsoft.com/office/drawing/2014/main" id="{648A64A2-1835-44F9-AD90-501C7C79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拓扑 / 荷载 / 尺度</a:t>
            </a:r>
          </a:p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完整模型通过率</a:t>
            </a:r>
          </a:p>
        </p:txBody>
      </p:sp>
      <p:sp>
        <p:nvSpPr>
          <p:cNvPr id="50" name="研究方向1">
            <a:extLst xmlns:a="http://schemas.openxmlformats.org/drawingml/2006/main">
              <a:ext uri="{FF2B5EF4-FFF2-40B4-BE49-F238E27FC236}">
                <a16:creationId xmlns:a16="http://schemas.microsoft.com/office/drawing/2014/main" id="{7F7FE3F9-EAE4-4449-A677-990655A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1" name="研究方向1文字">
            <a:extLst xmlns:a="http://schemas.openxmlformats.org/drawingml/2006/main">
              <a:ext uri="{FF2B5EF4-FFF2-40B4-BE49-F238E27FC236}">
                <a16:creationId xmlns:a16="http://schemas.microsoft.com/office/drawing/2014/main" id="{9DC092ED-7A15-4460-B6B4-062A7140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局部应力</a:t>
            </a:r>
          </a:p>
        </p:txBody>
      </p:sp>
      <p:sp>
        <p:nvSpPr>
          <p:cNvPr id="52" name="研究方法1">
            <a:extLst xmlns:a="http://schemas.openxmlformats.org/drawingml/2006/main">
              <a:ext uri="{FF2B5EF4-FFF2-40B4-BE49-F238E27FC236}">
                <a16:creationId xmlns:a16="http://schemas.microsoft.com/office/drawing/2014/main" id="{003FB0C9-42D6-424D-A04F-87698D9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3" name="研究方法1文字">
            <a:extLst xmlns:a="http://schemas.openxmlformats.org/drawingml/2006/main">
              <a:ext uri="{FF2B5EF4-FFF2-40B4-BE49-F238E27FC236}">
                <a16:creationId xmlns:a16="http://schemas.microsoft.com/office/drawing/2014/main" id="{95B83783-AF5D-41D3-9547-D91F008D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三档网格与热点提取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Abaqus独立对标</a:t>
            </a:r>
          </a:p>
        </p:txBody>
      </p:sp>
      <p:sp>
        <p:nvSpPr>
          <p:cNvPr id="5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14ED54AE-484B-4290-94A4-75275BA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5" name="评价指标1">
            <a:extLst xmlns:a="http://schemas.openxmlformats.org/drawingml/2006/main">
              <a:ext uri="{FF2B5EF4-FFF2-40B4-BE49-F238E27FC236}">
                <a16:creationId xmlns:a16="http://schemas.microsoft.com/office/drawing/2014/main" id="{C7D341D8-F330-4EC3-AD31-56DA480B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56" name="评价指标1文字">
            <a:extLst xmlns:a="http://schemas.openxmlformats.org/drawingml/2006/main">
              <a:ext uri="{FF2B5EF4-FFF2-40B4-BE49-F238E27FC236}">
                <a16:creationId xmlns:a16="http://schemas.microsoft.com/office/drawing/2014/main" id="{0CE63815-C68C-444D-A379-1AAF56E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收敛误差与对标偏差</a:t>
            </a:r>
          </a:p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确定 Kt 适用范围</a:t>
            </a:r>
          </a:p>
        </p:txBody>
      </p:sp>
      <p:sp>
        <p:nvSpPr>
          <p:cNvPr id="57" name="研究方向2">
            <a:extLst xmlns:a="http://schemas.openxmlformats.org/drawingml/2006/main">
              <a:ext uri="{FF2B5EF4-FFF2-40B4-BE49-F238E27FC236}">
                <a16:creationId xmlns:a16="http://schemas.microsoft.com/office/drawing/2014/main" id="{27BFA74E-D3AF-4D33-BD40-7DDF66E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8" name="研究方向2文字">
            <a:extLst xmlns:a="http://schemas.openxmlformats.org/drawingml/2006/main">
              <a:ext uri="{FF2B5EF4-FFF2-40B4-BE49-F238E27FC236}">
                <a16:creationId xmlns:a16="http://schemas.microsoft.com/office/drawing/2014/main" id="{C858A17E-FCDE-4F4D-B1A1-15D05DC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软件交付</a:t>
            </a:r>
          </a:p>
        </p:txBody>
      </p:sp>
      <p:sp>
        <p:nvSpPr>
          <p:cNvPr id="59" name="研究方法2">
            <a:extLst xmlns:a="http://schemas.openxmlformats.org/drawingml/2006/main">
              <a:ext uri="{FF2B5EF4-FFF2-40B4-BE49-F238E27FC236}">
                <a16:creationId xmlns:a16="http://schemas.microsoft.com/office/drawing/2014/main" id="{D750D97C-8F4B-41B7-AE9C-A45D416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0" name="研究方法2文字">
            <a:extLst xmlns:a="http://schemas.openxmlformats.org/drawingml/2006/main">
              <a:ext uri="{FF2B5EF4-FFF2-40B4-BE49-F238E27FC236}">
                <a16:creationId xmlns:a16="http://schemas.microsoft.com/office/drawing/2014/main" id="{8CC249E1-3AE6-4A41-88F8-BE0ECCC7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修复缺陷、冻结版本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保存重开与显示检查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计算书验收</a:t>
            </a:r>
          </a:p>
        </p:txBody>
      </p:sp>
      <p:sp>
        <p:nvSpPr>
          <p:cNvPr id="61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CB22BC62-AB0B-4607-B2BC-CBA7967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2" name="评价指标2">
            <a:extLst xmlns:a="http://schemas.openxmlformats.org/drawingml/2006/main">
              <a:ext uri="{FF2B5EF4-FFF2-40B4-BE49-F238E27FC236}">
                <a16:creationId xmlns:a16="http://schemas.microsoft.com/office/drawing/2014/main" id="{BCD5C97B-26CD-4D5D-8BEB-BE09288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63" name="评价指标2文字">
            <a:extLst xmlns:a="http://schemas.openxmlformats.org/drawingml/2006/main">
              <a:ext uri="{FF2B5EF4-FFF2-40B4-BE49-F238E27FC236}">
                <a16:creationId xmlns:a16="http://schemas.microsoft.com/office/drawing/2014/main" id="{60B45FCB-E8DC-4685-856B-C5F0A89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形成版本与验收记录</a:t>
            </a:r>
          </a:p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逐项验证主流程</a:t>
            </a:r>
          </a:p>
        </p:txBody>
      </p:sp>
      <p:sp>
        <p:nvSpPr>
          <p:cNvPr id="64" name="研究方向3">
            <a:extLst xmlns:a="http://schemas.openxmlformats.org/drawingml/2006/main">
              <a:ext uri="{FF2B5EF4-FFF2-40B4-BE49-F238E27FC236}">
                <a16:creationId xmlns:a16="http://schemas.microsoft.com/office/drawing/2014/main" id="{3B63DF06-5287-4083-9894-05AFAE3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5" name="研究方向3文字">
            <a:extLst xmlns:a="http://schemas.openxmlformats.org/drawingml/2006/main">
              <a:ext uri="{FF2B5EF4-FFF2-40B4-BE49-F238E27FC236}">
                <a16:creationId xmlns:a16="http://schemas.microsoft.com/office/drawing/2014/main" id="{71A78C00-41AF-4AB1-80F4-ED39463D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力学扩展</a:t>
            </a:r>
          </a:p>
        </p:txBody>
      </p:sp>
      <p:sp>
        <p:nvSpPr>
          <p:cNvPr id="66" name="研究方法3">
            <a:extLst xmlns:a="http://schemas.openxmlformats.org/drawingml/2006/main">
              <a:ext uri="{FF2B5EF4-FFF2-40B4-BE49-F238E27FC236}">
                <a16:creationId xmlns:a16="http://schemas.microsoft.com/office/drawing/2014/main" id="{73EED368-970A-408B-8DC3-D95B076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7" name="研究方法3文字">
            <a:extLst xmlns:a="http://schemas.openxmlformats.org/drawingml/2006/main">
              <a:ext uri="{FF2B5EF4-FFF2-40B4-BE49-F238E27FC236}">
                <a16:creationId xmlns:a16="http://schemas.microsoft.com/office/drawing/2014/main" id="{73011F46-BF26-4C34-B783-5483E1C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先建立独立基准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再研究弯曲塑性</a:t>
            </a:r>
          </a:p>
        </p:txBody>
      </p:sp>
      <p:sp>
        <p:nvSpPr>
          <p:cNvPr id="6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FF0A4846-6093-45F0-A6B4-C75C4F2D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9" name="评价指标3">
            <a:extLst xmlns:a="http://schemas.openxmlformats.org/drawingml/2006/main">
              <a:ext uri="{FF2B5EF4-FFF2-40B4-BE49-F238E27FC236}">
                <a16:creationId xmlns:a16="http://schemas.microsoft.com/office/drawing/2014/main" id="{558B6794-4EC6-4FF1-83B1-2F9C9AB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70" name="评价指标3文字">
            <a:extLst xmlns:a="http://schemas.openxmlformats.org/drawingml/2006/main">
              <a:ext uri="{FF2B5EF4-FFF2-40B4-BE49-F238E27FC236}">
                <a16:creationId xmlns:a16="http://schemas.microsoft.com/office/drawing/2014/main" id="{85353681-F76B-4FC6-ABD8-0966B2A8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基准响应误差</a:t>
            </a:r>
          </a:p>
          <a:p xmlns:a="http://schemas.openxmlformats.org/drawingml/2006/main"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适用条件与失败案例</a:t>
            </a:r>
          </a:p>
        </p:txBody>
      </p:sp>
      <p:sp>
        <p:nvSpPr>
          <p:cNvPr id="71" name="研究方法标签">
            <a:extLst xmlns:a="http://schemas.openxmlformats.org/drawingml/2006/main">
              <a:ext uri="{FF2B5EF4-FFF2-40B4-BE49-F238E27FC236}">
                <a16:creationId xmlns:a16="http://schemas.microsoft.com/office/drawing/2014/main" id="{0C321F46-AA3D-4F48-82DC-D8D32AA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72" name="指标标签">
            <a:extLst xmlns:a="http://schemas.openxmlformats.org/drawingml/2006/main">
              <a:ext uri="{FF2B5EF4-FFF2-40B4-BE49-F238E27FC236}">
                <a16:creationId xmlns:a16="http://schemas.microsoft.com/office/drawing/2014/main" id="{42501B11-7DBE-4F3A-A88F-4DDE98D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评价指标 / 可复核产物</a:t>
            </a:r>
          </a:p>
        </p:txBody>
      </p:sp>
      <p:sp>
        <p:nvSpPr>
          <p:cNvPr id="73" name="近期安排">
            <a:extLst xmlns:a="http://schemas.openxmlformats.org/drawingml/2006/main">
              <a:ext uri="{FF2B5EF4-FFF2-40B4-BE49-F238E27FC236}">
                <a16:creationId xmlns:a16="http://schemas.microsoft.com/office/drawing/2014/main" id="{D5F0FD24-C66F-453A-9654-FCB7A65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近期：完成演示验收与版本冻结；后续：扩大样本、收敛对标与力学基准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FD84D100-DBFF-4EA5-ACAD-1F4621A39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bc20d468c4c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B7A7ADE2-1A79-48F4-9560-E46992F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  相同梁理论的数值对标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8D369085-F17B-4386-BD17-3A32FCE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来源：abaqus_bench/benchmark_B33.md；相同输入、相同EB梁理论；误差为原记录定义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2A480E6-6517-4876-8A66-83993C0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</a:t>
            </a:r>
          </a:p>
        </p:txBody>
      </p:sp>
      <p:sp>
        <p:nvSpPr>
          <p:cNvPr id="36" name="对标主题">
            <a:extLst xmlns:a="http://schemas.openxmlformats.org/drawingml/2006/main">
              <a:ext uri="{FF2B5EF4-FFF2-40B4-BE49-F238E27FC236}">
                <a16:creationId xmlns:a16="http://schemas.microsoft.com/office/drawing/2014/main" id="{BE3DD37E-53C9-4C37-BF01-9043277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已测试梁算例与 Abaqus B33 的位移对照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996B43-3A4A-4358-A8A0-8D86815A410E}"/>
              </a:ext>
            </a:extLst>
          </p:cNvPr>
          <p:cNvGraphicFramePr/>
          <p:nvPr/>
        </p:nvGraphicFramePr>
        <p:xfrm>
          <a:off xmlns:a="http://schemas.openxmlformats.org/drawingml/2006/main" x="457200" y="1866900"/>
          <a:ext xmlns:a="http://schemas.openxmlformats.org/drawingml/2006/main" cx="11277600" cy="3267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2847975"/>
                <a:gridCol w="3333750"/>
                <a:gridCol w="2476500"/>
              </a:tblGrid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算例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本程序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e(‖U‖)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悬臂强轴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8.74×10⁻⁶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悬臂弱轴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5.30×10⁻⁵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门式刚架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7.23×10⁻⁶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空间刚架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5.83×10⁻⁶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对标条件">
            <a:extLst xmlns:a="http://schemas.openxmlformats.org/drawingml/2006/main">
              <a:ext uri="{FF2B5EF4-FFF2-40B4-BE49-F238E27FC236}">
                <a16:creationId xmlns:a16="http://schemas.microsoft.com/office/drawing/2014/main" id="{4552F2CB-F968-466F-9D94-678770B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39" name="对标条件文字">
            <a:extLst xmlns:a="http://schemas.openxmlformats.org/drawingml/2006/main">
              <a:ext uri="{FF2B5EF4-FFF2-40B4-BE49-F238E27FC236}">
                <a16:creationId xmlns:a16="http://schemas.microsoft.com/office/drawing/2014/main" id="{FCF2D6C9-9636-4CF5-90D7-8EF8EE4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Euler–Bernoulli ↔ Abaqus B33：均不计横向剪切</a:t>
            </a:r>
          </a:p>
        </p:txBody>
      </p:sp>
      <p:sp>
        <p:nvSpPr>
          <p:cNvPr id="40" name="误差含义">
            <a:extLst xmlns:a="http://schemas.openxmlformats.org/drawingml/2006/main">
              <a:ext uri="{FF2B5EF4-FFF2-40B4-BE49-F238E27FC236}">
                <a16:creationId xmlns:a16="http://schemas.microsoft.com/office/drawing/2014/main" id="{4ADAAC15-1831-48AC-9CC0-3F661659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e(‖U‖)：位移向量归一化误差；表中最大位移为四舍五入的展示值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BFB8EA5C-1E6F-4DEA-BE41-36EA786B65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d4ed0df2f4b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83CB4A11-9C6E-45EA-A9D6-1951A5B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  实现规模与验证层级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495357E4-C026-402D-B7DE-51A3B70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统计截止2026-10-10；代码行数包含注释与空行；来源：课程报告 §2.1 与解析金标准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37AA5238-600A-4707-95DE-858531B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</a:t>
            </a:r>
          </a:p>
        </p:txBody>
      </p:sp>
      <p:graphicFrame>
        <p:nvGraphicFrame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594D1D-A5C7-4D46-9F4C-1817D7B83E8A}"/>
              </a:ext>
            </a:extLst>
          </p:cNvPr>
          <p:cNvGraphicFramePr/>
          <p:nvPr/>
        </p:nvGraphicFramePr>
        <p:xfrm>
          <a:off xmlns:a="http://schemas.openxmlformats.org/drawingml/2006/main" x="457200" y="1266825"/>
          <a:ext xmlns:a="http://schemas.openxmlformats.org/drawingml/2006/main" cx="1127760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466975"/>
                <a:gridCol w="2181225"/>
                <a:gridCol w="4819650"/>
              </a:tblGrid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目录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文件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29,387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内核、工具与数据管理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21,615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桌面、视口、后台任务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自动回归与基准验证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2,108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测量、验证与文档工具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规模总计">
            <a:extLst xmlns:a="http://schemas.openxmlformats.org/drawingml/2006/main">
              <a:ext uri="{FF2B5EF4-FFF2-40B4-BE49-F238E27FC236}">
                <a16:creationId xmlns:a16="http://schemas.microsoft.com/office/drawing/2014/main" id="{B48AB314-81CC-4337-AEEB-F173D29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合计：240 文件 / 86,851 行；规模不直接等价于人工工时</a:t>
            </a:r>
          </a:p>
        </p:txBody>
      </p:sp>
      <p:sp>
        <p:nvSpPr>
          <p:cNvPr id="38" name="验证层级">
            <a:extLst xmlns:a="http://schemas.openxmlformats.org/drawingml/2006/main">
              <a:ext uri="{FF2B5EF4-FFF2-40B4-BE49-F238E27FC236}">
                <a16:creationId xmlns:a16="http://schemas.microsoft.com/office/drawing/2014/main" id="{BEC2EDF4-FBE1-403D-9D71-9CDAFD4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12776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9" name="验证层级标签">
            <a:extLst xmlns:a="http://schemas.openxmlformats.org/drawingml/2006/main">
              <a:ext uri="{FF2B5EF4-FFF2-40B4-BE49-F238E27FC236}">
                <a16:creationId xmlns:a16="http://schemas.microsoft.com/office/drawing/2014/main" id="{778C4542-F1F6-41AA-9D96-FECDCC3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0" name="验证层级标签文字">
            <a:extLst xmlns:a="http://schemas.openxmlformats.org/drawingml/2006/main">
              <a:ext uri="{FF2B5EF4-FFF2-40B4-BE49-F238E27FC236}">
                <a16:creationId xmlns:a16="http://schemas.microsoft.com/office/drawing/2014/main" id="{2C990837-3173-47E2-9229-756E6C61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验证层级与能力边界</a:t>
            </a:r>
          </a:p>
        </p:txBody>
      </p:sp>
      <p:sp>
        <p:nvSpPr>
          <p:cNvPr id="41" name="基准范围">
            <a:extLst xmlns:a="http://schemas.openxmlformats.org/drawingml/2006/main">
              <a:ext uri="{FF2B5EF4-FFF2-40B4-BE49-F238E27FC236}">
                <a16:creationId xmlns:a16="http://schemas.microsoft.com/office/drawing/2014/main" id="{41B76D11-3C79-4A97-8721-78134A0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28项解析基准：静力12 / 模态5 / 屈曲9 / P-Δ及轴向塑性2</a:t>
            </a:r>
          </a:p>
        </p:txBody>
      </p:sp>
      <p:sp>
        <p:nvSpPr>
          <p:cNvPr id="42" name="不同证据">
            <a:extLst xmlns:a="http://schemas.openxmlformats.org/drawingml/2006/main">
              <a:ext uri="{FF2B5EF4-FFF2-40B4-BE49-F238E27FC236}">
                <a16:creationId xmlns:a16="http://schemas.microsoft.com/office/drawing/2014/main" id="{4B3B8456-BF1B-4770-8292-0FAC6A0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回归验证实现；留出图评价识别；网格收敛及独立对标评价局部应力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2026-10-11T08:03:46.5540000Z</dcterms:created>
  <dcterms:modified xsi:type="dcterms:W3CDTF">2026-10-11T08:03:46.5540000Z</dcterms:modified>
</coreProperties>
</file>