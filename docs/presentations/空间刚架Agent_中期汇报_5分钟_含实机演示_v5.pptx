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c2706e86c74a22" /><Relationship Type="http://schemas.openxmlformats.org/officeDocument/2006/relationships/extended-properties" Target="/docProps/app.xml" Id="R7dc2bcc88148470c" /><Relationship Type="http://schemas.openxmlformats.org/officeDocument/2006/relationships/officeDocument" Target="/ppt/presentation.xml" Id="Rc1b5864ea3e142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c82f4c768645f8"/>
  </p:sldMasterIdLst>
  <p:notesMasterIdLst>
    <p:notesMasterId xmlns:r="http://schemas.openxmlformats.org/officeDocument/2006/relationships" r:id="R92ad6ec01fd84677"/>
  </p:notesMasterIdLst>
  <p:sldIdLst>
    <p:sldId xmlns:r="http://schemas.openxmlformats.org/officeDocument/2006/relationships" id="256" r:id="R7df9b9f9ece04774"/>
    <p:sldId xmlns:r="http://schemas.openxmlformats.org/officeDocument/2006/relationships" id="257" r:id="Ra411abe8fae144f7"/>
    <p:sldId xmlns:r="http://schemas.openxmlformats.org/officeDocument/2006/relationships" id="258" r:id="Ra4807f5f38504b2d"/>
    <p:sldId xmlns:r="http://schemas.openxmlformats.org/officeDocument/2006/relationships" id="259" r:id="R61727ef8de1040e3"/>
    <p:sldId xmlns:r="http://schemas.openxmlformats.org/officeDocument/2006/relationships" id="260" r:id="R311a3358b8814b76"/>
    <p:sldId xmlns:r="http://schemas.openxmlformats.org/officeDocument/2006/relationships" id="261" r:id="Rf5948888296f4c3a"/>
    <p:sldId xmlns:r="http://schemas.openxmlformats.org/officeDocument/2006/relationships" id="262" r:id="R310ca94599e84d4b"/>
    <p:sldId xmlns:r="http://schemas.openxmlformats.org/officeDocument/2006/relationships" id="263" r:id="R1dd186e8c74a4548"/>
    <p:sldId xmlns:r="http://schemas.openxmlformats.org/officeDocument/2006/relationships" id="264" r:id="R336851f2fba64431"/>
    <p:sldId xmlns:r="http://schemas.openxmlformats.org/officeDocument/2006/relationships" id="265" r:id="R8db6516b48424116"/>
    <p:sldId xmlns:r="http://schemas.openxmlformats.org/officeDocument/2006/relationships" id="266" r:id="Rd1130c1cbb234a8a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e8498eda3e4be2" /><Relationship Type="http://schemas.openxmlformats.org/officeDocument/2006/relationships/slideMaster" Target="/ppt/slideMasters/slideMaster1.xml" Id="Rf2c82f4c768645f8" /><Relationship Type="http://schemas.openxmlformats.org/officeDocument/2006/relationships/notesMaster" Target="/ppt/notesMasters/notesMaster1.xml" Id="R92ad6ec01fd84677" /><Relationship Type="http://schemas.openxmlformats.org/officeDocument/2006/relationships/presProps" Target="/ppt/presProps.xml" Id="Ra02814ea7d144ad6" /><Relationship Type="http://schemas.openxmlformats.org/officeDocument/2006/relationships/viewProps" Target="/ppt/viewProps.xml" Id="R6296892ae6bf4317" /><Relationship Type="http://schemas.openxmlformats.org/officeDocument/2006/relationships/tableStyles" Target="/ppt/tableStyles.xml" Id="Re259d1cf99bc4871" /><Relationship Type="http://schemas.openxmlformats.org/officeDocument/2006/relationships/slide" Target="/ppt/slides/slide1.xml" Id="R7df9b9f9ece04774" /><Relationship Type="http://schemas.openxmlformats.org/officeDocument/2006/relationships/slide" Target="/ppt/slides/slide2.xml" Id="Ra411abe8fae144f7" /><Relationship Type="http://schemas.openxmlformats.org/officeDocument/2006/relationships/slide" Target="/ppt/slides/slide3.xml" Id="Ra4807f5f38504b2d" /><Relationship Type="http://schemas.openxmlformats.org/officeDocument/2006/relationships/slide" Target="/ppt/slides/slide4.xml" Id="R61727ef8de1040e3" /><Relationship Type="http://schemas.openxmlformats.org/officeDocument/2006/relationships/slide" Target="/ppt/slides/slide5.xml" Id="R311a3358b8814b76" /><Relationship Type="http://schemas.openxmlformats.org/officeDocument/2006/relationships/slide" Target="/ppt/slides/slide6.xml" Id="Rf5948888296f4c3a" /><Relationship Type="http://schemas.openxmlformats.org/officeDocument/2006/relationships/slide" Target="/ppt/slides/slide7.xml" Id="R310ca94599e84d4b" /><Relationship Type="http://schemas.openxmlformats.org/officeDocument/2006/relationships/slide" Target="/ppt/slides/slide8.xml" Id="R1dd186e8c74a4548" /><Relationship Type="http://schemas.openxmlformats.org/officeDocument/2006/relationships/slide" Target="/ppt/slides/slide9.xml" Id="R336851f2fba64431" /><Relationship Type="http://schemas.openxmlformats.org/officeDocument/2006/relationships/slide" Target="/ppt/slides/slide10.xml" Id="R8db6516b48424116" /><Relationship Type="http://schemas.openxmlformats.org/officeDocument/2006/relationships/slide" Target="/ppt/slides/slide11.xml" Id="Rd1130c1cbb234a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d2018fcf6444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e2444a9eaf4a22" /><Relationship Type="http://schemas.openxmlformats.org/officeDocument/2006/relationships/notesMaster" Target="/ppt/notesMasters/notesMaster1.xml" Id="R80978a53ceef49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5e7d7023654096" /><Relationship Type="http://schemas.openxmlformats.org/officeDocument/2006/relationships/notesMaster" Target="/ppt/notesMasters/notesMaster1.xml" Id="R93aa7ae69df14d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43d27d3e4a4773" /><Relationship Type="http://schemas.openxmlformats.org/officeDocument/2006/relationships/notesMaster" Target="/ppt/notesMasters/notesMaster1.xml" Id="R715fd64322754e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635cc5295741c8" /><Relationship Type="http://schemas.openxmlformats.org/officeDocument/2006/relationships/notesMaster" Target="/ppt/notesMasters/notesMaster1.xml" Id="Rf5cc65a70aa44b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27ff5041b140fd" /><Relationship Type="http://schemas.openxmlformats.org/officeDocument/2006/relationships/notesMaster" Target="/ppt/notesMasters/notesMaster1.xml" Id="R44c1908b8f8447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1aa52f892e4c73" /><Relationship Type="http://schemas.openxmlformats.org/officeDocument/2006/relationships/notesMaster" Target="/ppt/notesMasters/notesMaster1.xml" Id="Raa17f7f5f10f44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26dd0db6f94a33" /><Relationship Type="http://schemas.openxmlformats.org/officeDocument/2006/relationships/notesMaster" Target="/ppt/notesMasters/notesMaster1.xml" Id="R2eb45b4b64c24c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d72cdeca154687" /><Relationship Type="http://schemas.openxmlformats.org/officeDocument/2006/relationships/notesMaster" Target="/ppt/notesMasters/notesMaster1.xml" Id="Rd8609b0598b448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0eb5d3dc1c41d7" /><Relationship Type="http://schemas.openxmlformats.org/officeDocument/2006/relationships/notesMaster" Target="/ppt/notesMasters/notesMaster1.xml" Id="R1c2e22e7295949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1ca548b9d64fdf" /><Relationship Type="http://schemas.openxmlformats.org/officeDocument/2006/relationships/notesMaster" Target="/ppt/notesMasters/notesMaster1.xml" Id="R4425e7459e3345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fc66f322ef4bf9" /><Relationship Type="http://schemas.openxmlformats.org/officeDocument/2006/relationships/notesMaster" Target="/ppt/notesMasters/notesMaster1.xml" Id="R9f3777f966d840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【口头讲稿｜10秒】各位老师好。本项目面向空间钢结构教学研究与方案试算，下面介绍技术方法、阶段成果，并用一分钟实机演示展示计算流程。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【详细备忘与来源｜不朗读】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【15秒】各位老师好，本项目是基于AI的空间刚架智能计算Agent开发，面向教学研究、建模辅助和方案试算。汇报说明AI与力学程序如何分工，并用实际算例展示阶段成果、验证边界和后续研究。</a:t>
            </a:r>
          </a:p>
          <a:p xmlns:a="http://schemas.openxmlformats.org/drawingml/2006/main">
            <a:r>
              <a:t>学校封面沿用现有v3，人员信息须由汇报人填写。统计截止日为2026年10月10日。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口头讲稿｜25秒】AI辅助分析可能存在工程语义歧义、荷载或支座遗漏，以及数值依据不清的问题。项目采用结构化草稿与人工审核，由确定性程序计算数值，把结果绑定到模型版本。建模、求解、查询、云图和计算书使用同源数据，便于独立复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【详细备忘与来源｜不朗读】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30秒】空间刚架分析首先需要完整的节点、杆件、截面、支座及三维荷载。我们在项目试验中观察到工程语义歧义、信息遗漏、数值难追溯，以及修改模型后误读旧结果的风险。对应做法是结构化草稿与人工审核、确定性求解、模型版本绑定。项目价值是降低建模与结果查询的操作成本，并保留复算依据。这里总结项目观察，不作对所有AI系统的性能排名。</a:t>
            </a:r>
          </a:p>
          <a:p xmlns:a="http://schemas.openxmlformats.org/drawingml/2006/main">
            <a:r>
              <a:t>依据：docs/课程报告.md；src/model_io.py；src/session_solving.py；src/agent_tools.py；多模态公开图和审核缺陷记录。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口头讲稿｜45秒】运行时，AI理解需求、生成草稿并组织工具调用，用户确认尺度、支座和荷载。空间梁每节点六自由度，单元刚度为12乘12，经坐标变换、组装、释放与约束处理后求解Ku等于F，恢复内力和反力并校核平衡。Euler–Bernoulli不计剪切，有效剪切面积对应的平面启用Timoshenko。所有力学数值来自程序。开发时则由研究者确定假设和验收标准，AI辅助实现与排错，通过基准、复算和对标验证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【详细备忘与来源｜不朗读】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60秒】运行时，AI理解工程需求，形成结构化草稿和工具参数；用户确认图中的尺度、支座及荷载等不确定信息。校验后，由数值程序编译和求解，AI不生成位移、反力、内力或应力数值。空间梁每节点六自由度，单元刚度为12乘12。局部刚度经坐标变换组装；杆端释放采用静力凝聚并恢复，约束处理后求解Ku等于F，随后恢复反力和内力并检查平衡。未给剪切面积时采用Euler–Bernoulli；给出有效Ay或Az时，相应弯曲平面采用Timoshenko并计入剪切柔度。结果记录模型版本、工况和工具来源。底部另列开发协作：研究者确定力学假设和验收要求，AI辅助实现和排错，成果仍通过基准、复算与对标验证。它与运行时的Agent功能是两个不同层面。</a:t>
            </a:r>
          </a:p>
          <a:p xmlns:a="http://schemas.openxmlformats.org/drawingml/2006/main">
            <a:r>
              <a:t>依据：src/frame3d.py，尤其Section的Ay/Az与刚度分支；src/model_compiler.py；src/agent_tools.py；src/session_solving.py；docs/课程报告.md。梁图为理论说明，无模型计算值，局部坐标方向仅用于示意。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口头讲稿｜20秒】已完成力学内核、Agent工具、桌面交互、模型结果管理及计算书。截止10月10日，共240个Python文件、63个工具、28项解析基准。最近完整回归2837通过、1项环境跳过，随后只做增量验证。规模不能等同于识别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【详细备忘与来源｜不朗读】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30秒】模块覆盖力学内核、工具接口、桌面交互、模型与结果管理、图纸审核和计算书，验证体系单独维护。图中是保存的真实软件界面，展示复杂屋盖模型全貌。统计截至10月10日，共240个Python文件、63个注册工具和28项解析金标准。最近一次完整回归是2837项通过、1项因环境跳过，之后仅做增量验证。回归数不能当作图纸识别准确率；代码行数包含测试、注释和空行，也不能直接换算人工工时。多模态与局部实体已可演示，但验证范围仍有限。</a:t>
            </a:r>
          </a:p>
          <a:p xmlns:a="http://schemas.openxmlformats.org/drawingml/2006/main">
            <a:r>
              <a:t>来源：docs/课程报告.md §2.1；README.md；docs/BETA_0.1_GOLD_CASES.md；docs/BETA_0.1_CAPABILITY_MATRIX.md；原稿真实软件image7.png。2837通过加1环境跳过为历史完整基线；本轮文稿修改没有重新运行全量。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口头讲稿｜25秒】屋盖有239节点、622杆件。拱杆从P219乘8改为P273乘10后，ULS-GW最大节点位移从143.16降至99.22毫米，最大应力比降至0.8059，自重增至696.41千牛。这是响应与代价的对比，不代表最优设计。下面在软件里核对调整版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【详细备忘与来源｜不朗读】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40秒】这个真实屋盖包含239节点622根杆件，跨度24米、长度36米，18个固定支座，已分析5工况与5组合。初设有3根杆件应力比超限。将拱杆截面从P219乘8调整为P273乘10后，ULS-GW组合的最大节点平移合量从143.156560降至99.216702毫米，位置均在节点110。最大应力比从1.0116到0.8059，同时杆件自重从593.092445增加至696.413543千牛。这展示的是方案调整的响应和代价，不是自动优化结果，也没有完成工程安全认证。左侧截图均为初设软件实际记录；右侧柱图源于初设和调整后两次求解，保留原始精度，显示一位小数。</a:t>
            </a:r>
          </a:p>
          <a:p xmlns:a="http://schemas.openxmlformats.org/drawingml/2006/main">
            <a:r>
              <a:t>依据：examples/defense/拱形网格屋盖例题.md，方案对比表；examples/defense/拱形网格屋盖参考结果.json；原稿image7.png与image8.png。截图只裁切展示视口，不修改结果。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口头讲稿｜60秒】【配合操作，不连续朗读】这是同一调整版屋盖，模型包含239节点、622杆件和18个固定柱脚。现在按F5，现场调用数值程序求解。选择ULS-GW组合并显示变形，图形按标注系数放大。模型树输入节点110，回车定位。结果表显示实际位移，Ux约25.1003毫米、Uz约负95.9892毫米，平移幅值99.2167毫米，与刚才的方案对比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【详细备忘与来源｜不朗读】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【实机操作时间：全场2:05—3:05】</a:t>
            </a:r>
          </a:p>
          <a:p xmlns:a="http://schemas.openxmlformats.org/drawingml/2006/main">
            <a:r>
              <a:t>会前打开examples/defense/拱形网格屋盖.json，保持模型视图并完成一次预检，收起命令及抽屉。2:05切换到软件。0—10秒旋转模型、说明节点杆件与支座；10—25秒将焦点移出输入框，按F5等待求解；25—40秒选择工况ULS-GW，点击变形；40—55秒点击模型树，搜索“节点 110”并按Enter，在结果表查看位移幅值，必要时向下滚动；55—60秒返回PowerPoint，下一页继续。模型树左侧原始X/Y/Z不是位移。数值从当前ULS-GW结果读取，不能把其他工况的全模型峰值当作此节点的读数。</a:t>
            </a:r>
          </a:p>
          <a:p xmlns:a="http://schemas.openxmlformats.org/drawingml/2006/main">
            <a:r>
              <a:t>备用：若累计操作接近45秒而未完成查询，直接回到本页真实软件截图，用15秒说明已记录的结果。口头说明改为“这张截图记录同一模型的真实计算结果”，不称现场求解成功。本段展示确定性求解和结果查询，运行时Agent分工及人工审核见方法与缺陷页。</a:t>
            </a:r>
          </a:p>
          <a:p xmlns:a="http://schemas.openxmlformats.org/drawingml/2006/main">
            <a:r>
              <a:t>来源：examples/defense/拱形网格屋盖.json；同目录截图/04_调整版变形.png；2026-10-11本轮真实MainWindow后台F5求解与模型树回车定位，原始记录results/ppt_revision_v5/preflight/实机复现.json。节点110：Ux=25.100262183992566mm、Uy约5.05e-13mm、Uz=-95.98922205555066mm、位移幅值99.21670178218474mm。两图均来自软件；右图仅作局部裁切，未改写数据。几何与荷载为教学假设，不是图片测量得到的参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【口头讲稿｜20秒】局部扩展将梁截面六个内力分量传入实体区域，经Gmsh网格和自研C3D10求解得到云图。Abaqus用于独立对标。此图是另一功能案例，当前仍属实验性扩展，正式Kt需要网格收敛和热点复核。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【详细备忘与来源｜不朗读】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30秒】局部扩展把梁截面的六个内力分量传递到实体区域，使用Gmsh生成二次四面体网格，自研C3D10求解位移、应力并提供热点查询。Abaqus承担独立对标，不是本项目主求解器。左图是节点65的实际三管云图，它与上一页屋盖是不同的功能案例。原始Mises峰值约435.951兆帕，P99显示上限约157.83兆帕；色标裁剪不改变原始结果。当前为实验性扩展，单档网格不能作为正式应力集中系数的依据，后续需要三档收敛、热点定义和独立对照。</a:t>
            </a:r>
          </a:p>
          <a:p xmlns:a="http://schemas.openxmlformats.org/drawingml/2006/main">
            <a:r>
              <a:t>来源：results/solid-1920-1.5.png；src/solid_joint.py；src/solid3d.py；docs/SOLID_JOINT_SCOPE.md。力N/Vy/Vz使用模型力单位，T/My/Mz使用力乘长度；图中应力单位MPa，显示Mises及P99裁剪说明。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口头讲稿｜35秒】真实问题是草稿缺少荷载分量时，界面默认显示零，使未知量可能被误认为已确认。研究者发现语义错误，AI辅助定位并修复。现在缺失留空、有效分量保留，校验数值与单位，人工确认后才解除对应问题，未确认时阻断导入。回归覆盖缺失、短向量、非有限值和显式零值，下图为修复后的实际审核窗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【详细备忘与来源｜不朗读】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40秒】我们曾遇到识别草稿缺少节点荷载分量时，控件默认显示六个零。未知量被变成零，用户可能误认为已确认。研究者发现的是工程语义错误，AI辅助定位到界面默认值并实现修复。现在缺失项保留为空，有效已知分量保留，校验数值和单位；用户明确填写并确认后才能解除对应问题，未确认时阻断导入。回归覆盖缺失、短向量、布尔值、非有限值，以及已知量保留和显式零值。下方是修复后真实审核窗口。平衡校核只能检查已输入的模型，无法替代人工检查原图有没有漏载。</a:t>
            </a:r>
          </a:p>
          <a:p xmlns:a="http://schemas.openxmlformats.org/drawingml/2006/main">
            <a:r>
              <a:t>依据：docs/PROGRESS.md“审核问题分组与节点荷载缺值（2026-10-10）”；results/review-edit-missing-1.5.png；desktop/草图审核相关控件与tests/相关回归记录。截图为修复后界面局部，不假装是修改前后两张现场截图。</a:t>
            </a:r>
          </a:p>
          <a:p xmlns:a="http://schemas.openxmlformats.org/drawingml/2006/main">
            <a:r>
              <a:t>具体回归证据：tests/test_sketch_panel.py::test_invalid_or_partial_nodal_vector_cannot_be_silently_zeroed，以及该文件节点荷载填写、工况切换与精确问题绑定用例；修复源码desktop/sketch_panel.py。历史专项438通过、2项仅全量计数跳过，见2026-10-10进度；不是本轮重新执行的全量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口头讲稿｜45秒】目前主流程已可运行、可复算、可追溯。近期先修复明确缺陷、冻结版本，完成保存重开、显示和报告验收。工程图研究建立许可明确、独立复核的留出样本，分别评价拓扑、荷载、尺度和完整模型通过率。局部应力开展三档网格收敛、热点提取及Abaqus独立对标，确定Kt适用范围。力学扩展先建立独立基准，再研究弯曲塑性。后续以这些可复核证据评价改进。谢谢各位老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【详细备忘与来源｜不朗读】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40秒】现阶段已经形成可运行、可复算、可追溯的主流程，但复杂工程图与局部应力仍需要扩大验证。近期先修复明确缺陷、冻结版本，逐项完成保存重开、显示和报告验收。工程图研究将采用许可明确、独立复核的留出样本，分别统计拓扑、荷载、尺度和完整模型通过率，失败样本也进入分母。局部应力将开展三档网格、热点提取及Abaqus独立对标，评价收敛和偏差、确定Kt范围。力学扩展先建立独立基准，再研究弯曲塑性，不能把已有轴向双线性塑性等同于完整弯曲塑性。以上是研究计划，不宣称已完成。</a:t>
            </a:r>
          </a:p>
          <a:p xmlns:a="http://schemas.openxmlformats.org/drawingml/2006/main">
            <a:r>
              <a:t>依据：docs/答辩前验收.md；docs/BETA_0.1_CAPABILITY_MATRIX.md；docs/SOLID_JOINT_SCOPE.md；多模态公开样本评测记录。路线图表达工作分阶段推进，不表示四个方向必须单线串行；软件冻结是近期优先项。</a:t>
            </a:r>
          </a:p>
          <a:p xmlns:a="http://schemas.openxmlformats.org/drawingml/2006/main">
            <a:r>
              <a:t>全场排时：正文及实机共285秒，其中实机60秒，预留15秒翻页与结束缓冲，总时长300秒。实机结束返回PowerPoint后，下一页为第7页局部扩展，不进入隐藏备答；第10/11页保持隐藏。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隐藏备答，不计入五分钟】B33为不计剪切的三次梁，属于Euler–Bernoulli理论。比较限定于表中算例、相同理论和相同输入。误差e(‖U‖)使用原报告位移向量归一化误差定义，不应由四舍五入后的最大位移反推。文本输出精度也影响末位。这里不把梁对标扩大为局部实体、弯曲塑性或所有复杂工程验证。</a:t>
            </a:r>
          </a:p>
          <a:p xmlns:a="http://schemas.openxmlformats.org/drawingml/2006/main">
            <a:r>
              <a:t>来源：abaqus_bench/benchmark_B33.md；表中的值与误差逐项沿用真实独立对标记录。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隐藏备答，不计入五分钟】四个目录共240个Python文件、86851行，包含测试、注释及空行，不能据此换算人工工时。28项解析金标准分为静力12、模态5、屈曲9，以及P-Δ/轴向塑性2。完整回归的2837通过、1环境跳过不是工程图识别准确率。现有P-Δ属于小应变二阶弹性，材料塑性限定于轴向双线性；正式Kt需要收敛与独立验证。</a:t>
            </a:r>
          </a:p>
          <a:p xmlns:a="http://schemas.openxmlformats.org/drawingml/2006/main">
            <a:r>
              <a:t>来源：docs/课程报告.md §2.1；docs/BETA_0.1_GOLD_CASES.md；README.md；docs/BETA_0.1_CAPABILITY_MATRIX.md；docs/SOLID_JOINT_SCOPE.md。全部软件截图来自项目保存的实际窗口，没有使用AI生成的软件效果图；理论示意、框图和柱图均为可编辑原生对象。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cac4836627491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7686510dd047a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0b8cebb9f64f5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69cb2b54c249e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275a841e5b498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6f374f560a4a9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69c3267bbe478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9bc45b20c3420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a15891bb2e469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f92bcdfcaf4c3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c36bc261374450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B44CEAC-21D2-4803-87B9-A45E984F6F0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98800" y="914400"/>
            <a:ext cx="9799200" cy="2570400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6493D916-674F-4AFE-ABB6-C916FC1902F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98800" y="3560400"/>
            <a:ext cx="9799200" cy="14724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16" name="日期占位符 15">
            <a:extLst xmlns:a="http://schemas.openxmlformats.org/drawingml/2006/main">
              <a:ext uri="{FF2B5EF4-FFF2-40B4-BE49-F238E27FC236}">
                <a16:creationId xmlns:a16="http://schemas.microsoft.com/office/drawing/2014/main" id="{C3B273C1-2599-4774-A4C4-B80E543F5A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页脚占位符 16">
            <a:extLst xmlns:a="http://schemas.openxmlformats.org/drawingml/2006/main">
              <a:ext uri="{FF2B5EF4-FFF2-40B4-BE49-F238E27FC236}">
                <a16:creationId xmlns:a16="http://schemas.microsoft.com/office/drawing/2014/main" id="{6EB6AA3B-9CF6-4B32-8145-71BDC4FAC2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灯片编号占位符 17">
            <a:extLst xmlns:a="http://schemas.openxmlformats.org/drawingml/2006/main">
              <a:ext uri="{FF2B5EF4-FFF2-40B4-BE49-F238E27FC236}">
                <a16:creationId xmlns:a16="http://schemas.microsoft.com/office/drawing/2014/main" id="{D574BB6D-2B2C-4023-A616-BE4B35663D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6E4A382-0BBC-48FC-88E5-47CA5D62B8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EECF427-C548-4CDD-83B1-22B32628069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8400" y="1490400"/>
            <a:ext cx="10969200" cy="47592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3C8A185-98EE-4397-A7E2-3DE1E25C91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B32B2D0-086B-4168-B730-A6880FE388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6E1FBF8-327B-4C7A-8299-4BEC9A67A3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73229DD-8163-4200-A0D9-F48A3F55885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990800" y="3848400"/>
            <a:ext cx="7768800" cy="766800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>
              <a:buNone/>
              <a:defRPr sz="4400"/>
            </a:lvl1pPr>
          </a:lstStyle>
          <a:p xmlns:a="http://schemas.openxmlformats.org/drawingml/2006/main">
            <a:r>
              <a:t>单击此处编辑标题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E1D9A23-5C84-4C89-851C-A6C05F16C3E4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990800" y="4615200"/>
            <a:ext cx="7768800" cy="8676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78B6D48-B525-4370-BF1B-F9D0B7D595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1E84926-09F1-4BD5-8390-F75DA6466A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2F34BC3-83B7-40E0-BD98-3FB1A7A84A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6F1F621-E0D8-4985-A9F9-F02E4954B0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CFFA56A-FE6D-4BCD-9191-2D722A545F4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8400" y="1501200"/>
            <a:ext cx="5176800" cy="47484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F67E00AA-F14F-4F0D-9571-3DA975C0CD5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411600" y="1501200"/>
            <a:ext cx="5176800" cy="47484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9D2471D-D94D-4DB6-93C3-657E8ACD58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9684A6C-FADF-4744-A661-07058C0FF1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9673C99-0070-4B58-9B55-048C0E7014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71594A7-DE81-4A91-B1A6-5D70C81BE7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D058A86-351B-40DB-9C59-CFBFAAA0E45E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08400" y="1429200"/>
            <a:ext cx="5342400" cy="381600"/>
          </a:xfrm>
        </p:spPr>
        <p:txBody>
          <a:bodyPr xmlns:a="http://schemas.openxmlformats.org/drawingml/2006/main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B118A1EB-0D7B-425C-976D-30B408D229D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8400" y="1854000"/>
            <a:ext cx="5342400" cy="4395600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EEC5E579-8491-4345-96B8-A145C078A1CD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235750" y="1421729"/>
            <a:ext cx="5342400" cy="381600"/>
          </a:xfrm>
        </p:spPr>
        <p:txBody>
          <a:bodyPr xmlns:a="http://schemas.openxmlformats.org/drawingml/2006/main" vert="horz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D0B48670-403E-4D94-8F19-CA58DF9DA57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235750" y="1854000"/>
            <a:ext cx="5342400" cy="4395600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A1C925C2-58CF-48B8-992F-2D0C03A763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B8CEFC75-2A40-46E5-8482-88ABBA141F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9E9FAC28-2246-4D85-B540-A510839749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F55AE4F-2B8C-45EF-9281-F1C3366C65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B9F6A95-7140-43CC-B672-1B6A92D53E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F648025-B1EB-40DB-97E4-D0838AF1E7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171625F-5E7A-4520-8B3C-4F3BDFF0CC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E8E97EC-394C-414B-AF90-BB5E38C0C1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DC4BB3BE-FFB3-4F91-A902-CFD7C3F711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8B0B969-4EE6-42D9-9807-8E9C3FD3B4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C8EA7B46-8206-474A-9991-E69B6A3512F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08400" y="1555200"/>
            <a:ext cx="5233077" cy="46080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69BEEC9-542B-41D3-B92D-345DA5D2CAD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350400" y="1555200"/>
            <a:ext cx="5227200" cy="46080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C9EF193-0799-4B33-AB11-D3C76405EB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168DDE7-0959-4B93-B135-3D02E1FF8B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E1F8AF3B-5F7E-48A5-949A-A201F2FBCD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9A7BDC85-E3C3-4E04-8909-A6D2BED18C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97F149DE-B1A4-4D6D-8237-68ED3A5307A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234800" y="914400"/>
            <a:ext cx="1044000" cy="5029200"/>
          </a:xfrm>
        </p:spPr>
        <p:txBody>
          <a:bodyPr xmlns:a="http://schemas.openxmlformats.org/drawingml/2006/main" vert="eaVert" lIns="90000" tIns="46800" rIns="90000" bIns="46800" anchor="ctr">
            <a:normAutofit/>
          </a:bodyPr>
          <a:lstStyle xmlns:a="http://schemas.openxmlformats.org/drawingml/2006/main">
            <a:lvl1pPr>
              <a:buNone/>
              <a:defRPr sz="28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2B26B2C-4877-484D-AF26-20B49DF636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14400" y="914400"/>
            <a:ext cx="9169200" cy="5029200"/>
          </a:xfrm>
        </p:spPr>
        <p:txBody>
          <a:bodyPr xmlns:a="http://schemas.openxmlformats.org/drawingml/2006/main" vert="eaVert" lIns="46800" tIns="46800" rIns="46800" bIns="46800"/>
          <a:lstStyle xmlns:a="http://schemas.openxmlformats.org/drawingml/2006/main"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2F116E7-F030-45F2-890A-58F0EF55BB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224AF94-31B0-48B4-BC37-1B672DBF99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0FD0452-D57C-4163-B7AD-2D63F96EAA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970A8D3-F081-48B5-88DF-1ACE6BF494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F1FD8F0-3DF4-4871-90E6-E1BB0E0221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EA8E23F5-B418-44FB-9CE8-A3D7428EA5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28EDCA88-63C5-4DA6-92A8-23CC88F75207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08400" y="774000"/>
            <a:ext cx="10972800" cy="5482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42488CB-3948-4419-89A1-0D24D224C7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5F18BCA-A182-4FF9-8229-AE02F020B8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0760D35-AE74-4792-8D12-4F4A49120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19C96DE-2246-432D-A52D-E5509D6C2FA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198800" y="2484000"/>
            <a:ext cx="9799200" cy="1018800"/>
          </a:xfrm>
        </p:spPr>
        <p:txBody>
          <a:bodyPr xmlns:a="http://schemas.openxmlformats.org/drawingml/2006/main" vert="horz" lIns="90000" tIns="46800" rIns="90000" bIns="46800" anchor="t">
            <a:normAutofit/>
          </a:bodyPr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1B77BC8D-1A01-4AEF-867F-E93C5F6A44E1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98800" y="3560400"/>
            <a:ext cx="9799200" cy="4716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algn="ctr">
              <a:lnSpc>
                <a:spcPct val="110000"/>
              </a:lnSpc>
              <a:buNone/>
              <a:defRPr sz="2400" spc="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20b82e5202436a" /><Relationship Type="http://schemas.openxmlformats.org/officeDocument/2006/relationships/slideLayout" Target="/ppt/slideLayouts/slideLayout1.xml" Id="Rd2902311964e4d27" /><Relationship Type="http://schemas.openxmlformats.org/officeDocument/2006/relationships/slideLayout" Target="/ppt/slideLayouts/slideLayout2.xml" Id="R5cf94569471643e3" /><Relationship Type="http://schemas.openxmlformats.org/officeDocument/2006/relationships/slideLayout" Target="/ppt/slideLayouts/slideLayout3.xml" Id="Re6b1e9093b2748b2" /><Relationship Type="http://schemas.openxmlformats.org/officeDocument/2006/relationships/slideLayout" Target="/ppt/slideLayouts/slideLayout4.xml" Id="R5020b0dca79a46c0" /><Relationship Type="http://schemas.openxmlformats.org/officeDocument/2006/relationships/slideLayout" Target="/ppt/slideLayouts/slideLayout5.xml" Id="R7350446eeda648a8" /><Relationship Type="http://schemas.openxmlformats.org/officeDocument/2006/relationships/slideLayout" Target="/ppt/slideLayouts/slideLayout6.xml" Id="R2c73b08f92ef4c4f" /><Relationship Type="http://schemas.openxmlformats.org/officeDocument/2006/relationships/slideLayout" Target="/ppt/slideLayouts/slideLayout7.xml" Id="R3552edf6f7174164" /><Relationship Type="http://schemas.openxmlformats.org/officeDocument/2006/relationships/slideLayout" Target="/ppt/slideLayouts/slideLayout8.xml" Id="R50054a53f1c74ef3" /><Relationship Type="http://schemas.openxmlformats.org/officeDocument/2006/relationships/slideLayout" Target="/ppt/slideLayouts/slideLayout9.xml" Id="R0db0ebe3c69246ec" /><Relationship Type="http://schemas.openxmlformats.org/officeDocument/2006/relationships/slideLayout" Target="/ppt/slideLayouts/slideLayout10.xml" Id="R5fc4f6bbb3a04384" /><Relationship Type="http://schemas.openxmlformats.org/officeDocument/2006/relationships/slideLayout" Target="/ppt/slideLayouts/slideLayout11.xml" Id="R418c3a7d0db94f6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7B22A98E-F474-4F2D-B471-388FCBEA83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170" tIns="46990" rIns="90170" bIns="4699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EA388BB-E307-478A-AF4D-4C42D1A234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8400" y="1490400"/>
            <a:ext cx="10969200" cy="47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7E5BA7E-697E-41F5-BB29-E97F8D3A474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7376857-057B-48AC-AF19-F23450A009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7D0418B-9FAC-4D3D-8A53-0C1C13288E8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902311964e4d27"/>
    <p:sldLayoutId xmlns:r="http://schemas.openxmlformats.org/officeDocument/2006/relationships" id="2147483650" r:id="R5cf94569471643e3"/>
    <p:sldLayoutId xmlns:r="http://schemas.openxmlformats.org/officeDocument/2006/relationships" id="2147483651" r:id="Re6b1e9093b2748b2"/>
    <p:sldLayoutId xmlns:r="http://schemas.openxmlformats.org/officeDocument/2006/relationships" id="2147483652" r:id="R5020b0dca79a46c0"/>
    <p:sldLayoutId xmlns:r="http://schemas.openxmlformats.org/officeDocument/2006/relationships" id="2147483653" r:id="R7350446eeda648a8"/>
    <p:sldLayoutId xmlns:r="http://schemas.openxmlformats.org/officeDocument/2006/relationships" id="2147483654" r:id="R2c73b08f92ef4c4f"/>
    <p:sldLayoutId xmlns:r="http://schemas.openxmlformats.org/officeDocument/2006/relationships" id="2147483655" r:id="R3552edf6f7174164"/>
    <p:sldLayoutId xmlns:r="http://schemas.openxmlformats.org/officeDocument/2006/relationships" id="2147483656" r:id="R50054a53f1c74ef3"/>
    <p:sldLayoutId xmlns:r="http://schemas.openxmlformats.org/officeDocument/2006/relationships" id="2147483657" r:id="R0db0ebe3c69246ec"/>
    <p:sldLayoutId xmlns:r="http://schemas.openxmlformats.org/officeDocument/2006/relationships" id="2147483658" r:id="R5fc4f6bbb3a04384"/>
    <p:sldLayoutId xmlns:r="http://schemas.openxmlformats.org/officeDocument/2006/relationships" id="2147483659" r:id="R418c3a7d0db94f6c"/>
  </p:sldLayoutIdLst>
  <p:txStyles>
    <p:titleStyle>
      <a:lvl1pPr xmlns:a="http://schemas.openxmlformats.org/drawingml/2006/main" algn="l" defTabSz="914400">
        <a:lnSpc>
          <a:spcPct val="100000"/>
        </a:lnSpc>
        <a:spcBef>
          <a:spcPct val="0"/>
        </a:spcBef>
        <a:buNone/>
        <a:defRPr sz="3600" b="0" u="none" strike="noStrike" kern="1200" cap="none" spc="300" baseline="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130000"/>
        </a:lnSpc>
        <a:spcBef>
          <a:spcPts val="0"/>
        </a:spcBef>
        <a:spcAft>
          <a:spcPts val="1000"/>
        </a:spcAft>
        <a:buFont typeface="Arial"/>
        <a:buChar char="●"/>
        <a:defRPr sz="18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defRPr sz="16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Wingdings"/>
        <a:buChar char=""/>
        <a:defRPr sz="14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Arial"/>
        <a:buChar char="•"/>
        <a:defRPr sz="14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e8b8578878342ac" /><Relationship Type="http://schemas.openxmlformats.org/officeDocument/2006/relationships/image" Target="/ppt/media/image.png" Id="Ra47a5703b70c423a" /><Relationship Type="http://schemas.openxmlformats.org/officeDocument/2006/relationships/image" Target="/ppt/media/image2.png" Id="R90762a9f31b542ca" /><Relationship Type="http://schemas.openxmlformats.org/officeDocument/2006/relationships/image" Target="/ppt/media/image.svg" Id="R5b180a2ebefc4155" /><Relationship Type="http://schemas.openxmlformats.org/officeDocument/2006/relationships/image" Target="/ppt/media/image3.png" Id="R99e417b9f92c4e42" /><Relationship Type="http://schemas.openxmlformats.org/officeDocument/2006/relationships/notesSlide" Target="/ppt/notesSlides/notesSlide1.xml" Id="Recfca434d29f42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c7d4531980f44b2" /><Relationship Type="http://schemas.openxmlformats.org/officeDocument/2006/relationships/image" Target="/ppt/media/image4.png" Id="Rdba2a372aa584079" /><Relationship Type="http://schemas.openxmlformats.org/officeDocument/2006/relationships/notesSlide" Target="/ppt/notesSlides/notesSlide2.xml" Id="R6c94299e464640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4ffa87722da43ba" /><Relationship Type="http://schemas.openxmlformats.org/officeDocument/2006/relationships/image" Target="/ppt/media/image4.png" Id="Rbaeed2483ee94e19" /><Relationship Type="http://schemas.openxmlformats.org/officeDocument/2006/relationships/notesSlide" Target="/ppt/notesSlides/notesSlide3.xml" Id="R83fd2dbfc5d14a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3d29cc8dbba4800" /><Relationship Type="http://schemas.openxmlformats.org/officeDocument/2006/relationships/image" Target="/ppt/media/image4.png" Id="R70c13b7b8bcd4031" /><Relationship Type="http://schemas.openxmlformats.org/officeDocument/2006/relationships/image" Target="/ppt/media/image5.png" Id="Rc5216b1264e94c48" /><Relationship Type="http://schemas.openxmlformats.org/officeDocument/2006/relationships/notesSlide" Target="/ppt/notesSlides/notesSlide4.xml" Id="Re5f4eebd9ab84c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71a8de565ae4a45" /><Relationship Type="http://schemas.openxmlformats.org/officeDocument/2006/relationships/image" Target="/ppt/media/image4.png" Id="Ra39b015057b048d2" /><Relationship Type="http://schemas.openxmlformats.org/officeDocument/2006/relationships/image" Target="/ppt/media/image6.png" Id="Rb8f27eed051340c8" /><Relationship Type="http://schemas.openxmlformats.org/officeDocument/2006/relationships/chart" Target="/ppt/slides/charts/chart1.xml" Id="R820591d8576348f0" /><Relationship Type="http://schemas.openxmlformats.org/officeDocument/2006/relationships/notesSlide" Target="/ppt/notesSlides/notesSlide5.xml" Id="Rd549426cd6dc48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348487ae94d40f1" /><Relationship Type="http://schemas.openxmlformats.org/officeDocument/2006/relationships/image" Target="/ppt/media/image4.png" Id="Rc80da344a43b434b" /><Relationship Type="http://schemas.openxmlformats.org/officeDocument/2006/relationships/image" Target="/ppt/media/image7.png" Id="R47f9b80a7b654e5b" /><Relationship Type="http://schemas.openxmlformats.org/officeDocument/2006/relationships/image" Target="/ppt/media/image8.png" Id="R663bbddb8caf468e" /><Relationship Type="http://schemas.openxmlformats.org/officeDocument/2006/relationships/notesSlide" Target="/ppt/notesSlides/notesSlide6.xml" Id="R50f9edb59ce349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39e8948a3cf45a1" /><Relationship Type="http://schemas.openxmlformats.org/officeDocument/2006/relationships/image" Target="/ppt/media/image4.png" Id="R6a0347b143f34ad7" /><Relationship Type="http://schemas.openxmlformats.org/officeDocument/2006/relationships/image" Target="/ppt/media/image9.png" Id="R00a7066d26134181" /><Relationship Type="http://schemas.openxmlformats.org/officeDocument/2006/relationships/notesSlide" Target="/ppt/notesSlides/notesSlide7.xml" Id="R1a41f0e713a647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dfbe592a8364f7f" /><Relationship Type="http://schemas.openxmlformats.org/officeDocument/2006/relationships/image" Target="/ppt/media/image4.png" Id="Re2758ae0478b445b" /><Relationship Type="http://schemas.openxmlformats.org/officeDocument/2006/relationships/image" Target="/ppt/media/image10.png" Id="R514f08d90a9742cf" /><Relationship Type="http://schemas.openxmlformats.org/officeDocument/2006/relationships/notesSlide" Target="/ppt/notesSlides/notesSlide8.xml" Id="Rfe532446f0744b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34be95af75147c7" /><Relationship Type="http://schemas.openxmlformats.org/officeDocument/2006/relationships/image" Target="/ppt/media/image4.png" Id="R311a81b947224474" /><Relationship Type="http://schemas.openxmlformats.org/officeDocument/2006/relationships/notesSlide" Target="/ppt/notesSlides/notesSlide9.xml" Id="R9cb050a35de344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b1877b38ecd4e28" /><Relationship Type="http://schemas.openxmlformats.org/officeDocument/2006/relationships/image" Target="/ppt/media/image4.png" Id="Rb6f89ed0a3cb4b93" /><Relationship Type="http://schemas.openxmlformats.org/officeDocument/2006/relationships/notesSlide" Target="/ppt/notesSlides/notesSlide10.xml" Id="R896bcc076eaf487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9ca1779abef4a90" /><Relationship Type="http://schemas.openxmlformats.org/officeDocument/2006/relationships/image" Target="/ppt/media/image4.png" Id="Rbf3243c3885d4e78" /><Relationship Type="http://schemas.openxmlformats.org/officeDocument/2006/relationships/notesSlide" Target="/ppt/notesSlides/notesSlide11.xml" Id="R323e0b0fe0664518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ULS-GW 最大节点平移合量 / mm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092858"/>
              </a:solidFill>
              <a:latin typeface="微软雅黑"/>
              <a:ea typeface="微软雅黑"/>
              <a:cs typeface="微软雅黑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最大节点平移合量</c:v>
          </c:tx>
          <c:spPr>
            <a:solidFill xmlns:a="http://schemas.openxmlformats.org/drawingml/2006/main">
              <a:srgbClr val="0075C9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09285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075C9"/>
              </a:solidFill>
            </c:spPr>
          </c:dPt>
          <c:cat>
            <c:strLit>
              <c:ptCount val="2"/>
              <c:pt idx="0">
                <c:v>初设</c:v>
              </c:pt>
              <c:pt idx="1">
                <c:v>截面调整后</c:v>
              </c:pt>
            </c:strLit>
          </c:cat>
          <c:val>
            <c:numLit>
              <c:formatCode>General</c:formatCode>
              <c:ptCount val="2"/>
              <c:pt idx="0">
                <c:v>143.15656</c:v>
              </c:pt>
              <c:pt idx="1">
                <c:v>99.216702</c:v>
              </c:pt>
            </c:numLit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092858"/>
                  </a:solidFill>
                  <a:latin typeface="微软雅黑"/>
                  <a:ea typeface="微软雅黑"/>
                  <a:cs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00">
                <a:solidFill>
                  <a:srgbClr val="171D2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  <c:max val="1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FE6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Between val="between"/>
        <c:majorUnit val="6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图片 23">
            <a:extLst xmlns:a="http://schemas.openxmlformats.org/drawingml/2006/main">
              <a:ext uri="{FF2B5EF4-FFF2-40B4-BE49-F238E27FC236}">
                <a16:creationId xmlns:a16="http://schemas.microsoft.com/office/drawing/2014/main" id="{54B64FF0-E8B5-477B-87F5-D1B3659BE3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47a5703b70c423a">
            <a:alphaModFix amt="20000"/>
          </a:blip>
          <a:srcRect xmlns:a="http://schemas.openxmlformats.org/drawingml/2006/main" l="0" t="28704" r="0" b="1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478094"/>
            <a:ext cx="12192000" cy="1988854"/>
          </a:xfrm>
          <a:prstGeom xmlns:a="http://schemas.openxmlformats.org/drawingml/2006/main" prst="rect">
            <a:avLst/>
          </a:prstGeom>
        </p:spPr>
      </p:pic>
      <p:pic>
        <p:nvPicPr>
          <p:cNvPr id="20" name="图片 19">
            <a:extLst xmlns:a="http://schemas.openxmlformats.org/drawingml/2006/main">
              <a:ext uri="{FF2B5EF4-FFF2-40B4-BE49-F238E27FC236}">
                <a16:creationId xmlns:a16="http://schemas.microsoft.com/office/drawing/2014/main" id="{6A08C705-E608-41D5-AD1E-D4E90B2AAF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62a9f31b542ca"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384709"/>
            <a:ext cx="12192000" cy="3473291"/>
          </a:xfrm>
          <a:prstGeom xmlns:a="http://schemas.openxmlformats.org/drawingml/2006/main" prst="rect">
            <a:avLst/>
          </a:prstGeom>
        </p:spPr>
      </p:pic>
      <p:pic>
        <p:nvPicPr>
          <p:cNvPr id="12" name="图形 11">
            <a:extLst xmlns:a="http://schemas.openxmlformats.org/drawingml/2006/main">
              <a:ext uri="{FF2B5EF4-FFF2-40B4-BE49-F238E27FC236}">
                <a16:creationId xmlns:a16="http://schemas.microsoft.com/office/drawing/2014/main" id="{C000EC16-3A5D-4D62-A82C-AA1AF9E82C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7a5703b70c423a">
            <a:extLst>
              <a:ext uri="{96DAC541-7B7A-43D3-8B79-37D633B846F1}">
                <asvg:svgBlip xmlns:asvg="http://schemas.microsoft.com/office/drawing/2016/SVG/main" r:embed="R5b180a2ebefc415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09697" y="66675"/>
            <a:ext cx="2731173" cy="717216"/>
          </a:xfrm>
          <a:prstGeom xmlns:a="http://schemas.openxmlformats.org/drawingml/2006/main" prst="rect">
            <a:avLst/>
          </a:prstGeom>
        </p:spPr>
      </p:pic>
      <p:sp>
        <p:nvSpPr>
          <p:cNvPr id="26" name="基于 AI 的空间刚架&#10;智能计算 Agent 开">
            <a:extLst xmlns:a="http://schemas.openxmlformats.org/drawingml/2006/main">
              <a:ext uri="{FF2B5EF4-FFF2-40B4-BE49-F238E27FC236}">
                <a16:creationId xmlns:a16="http://schemas.microsoft.com/office/drawing/2014/main" id="{0E721B4E-ABAF-494D-B1E7-38B8274C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52575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6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36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基于 AI 的空间刚架</a:t>
            </a:r>
          </a:p>
          <a:p xmlns:a="http://schemas.openxmlformats.org/drawingml/2006/main">
            <a:pPr algn="ctr">
              <a:buNone/>
              <a:defRPr sz="36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智能计算 Agent 开发</a:t>
            </a:r>
          </a:p>
        </p:txBody>
      </p:sp>
      <p:sp>
        <p:nvSpPr>
          <p:cNvPr id="27" name="中期汇报">
            <a:extLst xmlns:a="http://schemas.openxmlformats.org/drawingml/2006/main">
              <a:ext uri="{FF2B5EF4-FFF2-40B4-BE49-F238E27FC236}">
                <a16:creationId xmlns:a16="http://schemas.microsoft.com/office/drawing/2014/main" id="{1950D80B-300D-4FB1-B968-795920A7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24175"/>
            <a:ext cx="4381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00206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475" b="1">
                <a:solidFill>
                  <a:srgbClr val="002060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002060"/>
                </a:solidFill>
                <a:latin typeface="微软雅黑"/>
                <a:ea typeface="微软雅黑"/>
                <a:cs typeface="微软雅黑"/>
              </a:rPr>
              <a:t>中期汇报</a:t>
            </a:r>
          </a:p>
        </p:txBody>
      </p:sp>
      <p:sp>
        <p:nvSpPr>
          <p:cNvPr id="28" name="汇报人：________________    ">
            <a:extLst xmlns:a="http://schemas.openxmlformats.org/drawingml/2006/main">
              <a:ext uri="{FF2B5EF4-FFF2-40B4-BE49-F238E27FC236}">
                <a16:creationId xmlns:a16="http://schemas.microsoft.com/office/drawing/2014/main" id="{96ED2251-5B2B-4895-9230-75276E28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52850"/>
            <a:ext cx="823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rPr>
              <a:t>汇报人：________________    班级：________________</a:t>
            </a:r>
          </a:p>
        </p:txBody>
      </p:sp>
      <p:sp>
        <p:nvSpPr>
          <p:cNvPr id="29" name="小组成员：___________________">
            <a:extLst xmlns:a="http://schemas.openxmlformats.org/drawingml/2006/main">
              <a:ext uri="{FF2B5EF4-FFF2-40B4-BE49-F238E27FC236}">
                <a16:creationId xmlns:a16="http://schemas.microsoft.com/office/drawing/2014/main" id="{003A8608-E55F-445F-B783-9DE599BC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276725"/>
            <a:ext cx="823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rPr>
              <a:t>小组成员：_____________________________________</a:t>
            </a:r>
          </a:p>
        </p:txBody>
      </p:sp>
      <p:sp>
        <p:nvSpPr>
          <p:cNvPr id="30" name="指导教师：________________">
            <a:extLst xmlns:a="http://schemas.openxmlformats.org/drawingml/2006/main">
              <a:ext uri="{FF2B5EF4-FFF2-40B4-BE49-F238E27FC236}">
                <a16:creationId xmlns:a16="http://schemas.microsoft.com/office/drawing/2014/main" id="{72D1EF5F-BE6B-4112-8706-12F7FD7D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8006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rPr>
              <a:t>指导教师：________________</a:t>
            </a:r>
          </a:p>
        </p:txBody>
      </p:sp>
      <p:sp>
        <p:nvSpPr>
          <p:cNvPr id="31" name="2026 年 10 月">
            <a:extLst xmlns:a="http://schemas.openxmlformats.org/drawingml/2006/main">
              <a:ext uri="{FF2B5EF4-FFF2-40B4-BE49-F238E27FC236}">
                <a16:creationId xmlns:a16="http://schemas.microsoft.com/office/drawing/2014/main" id="{684CBC89-C832-4DF1-A359-6B021A3E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340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rPr>
              <a:t>2026 年 10 月</a:t>
            </a:r>
          </a:p>
        </p:txBody>
      </p:sp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95B63338-CDDF-45E0-8748-160A6DD686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417b9f92c4e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1131" y="29589"/>
            <a:ext cx="4532224" cy="82766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14798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4">
            <a:extLst xmlns:a="http://schemas.openxmlformats.org/drawingml/2006/main"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80"/>
          </a:p>
        </p:txBody>
      </p:sp>
      <p:pic>
        <p:nvPicPr>
          <p:cNvPr id="32" name="Picture 2">
            <a:extLst xmlns:a="http://schemas.openxmlformats.org/drawingml/2006/main">
              <a:ext uri="{FF2B5EF4-FFF2-40B4-BE49-F238E27FC236}">
                <a16:creationId xmlns:a16="http://schemas.microsoft.com/office/drawing/2014/main" id="{5E1ECAD9-8D97-4CFC-A2BB-418880F364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a2a372aa58407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419" y="99849"/>
            <a:ext cx="2203824" cy="5752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1538468B-92EF-43B9-8223-5E346F2E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0500"/>
            <a:ext cx="872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1  项目定位与价值</a:t>
            </a:r>
          </a:p>
        </p:txBody>
      </p:sp>
      <p:sp>
        <p:nvSpPr>
          <p:cNvPr id="34" name="资料来源">
            <a:extLst xmlns:a="http://schemas.openxmlformats.org/drawingml/2006/main">
              <a:ext uri="{FF2B5EF4-FFF2-40B4-BE49-F238E27FC236}">
                <a16:creationId xmlns:a16="http://schemas.microsoft.com/office/drawing/2014/main" id="{540348F7-382D-4CBF-9483-7659A9D2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344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rPr>
              <a:t>依据：课程报告；多模态试验与缺陷记录；模型与结果管理源码</a:t>
            </a:r>
          </a:p>
        </p:txBody>
      </p:sp>
      <p:sp>
        <p:nvSpPr>
          <p:cNvPr id="35" name="页码">
            <a:extLst xmlns:a="http://schemas.openxmlformats.org/drawingml/2006/main">
              <a:ext uri="{FF2B5EF4-FFF2-40B4-BE49-F238E27FC236}">
                <a16:creationId xmlns:a16="http://schemas.microsoft.com/office/drawing/2014/main" id="{242C5884-FBDF-47D4-9BCF-0A215BB0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buNone/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36" name="定位">
            <a:extLst xmlns:a="http://schemas.openxmlformats.org/drawingml/2006/main">
              <a:ext uri="{FF2B5EF4-FFF2-40B4-BE49-F238E27FC236}">
                <a16:creationId xmlns:a16="http://schemas.microsoft.com/office/drawing/2014/main" id="{BA1E36AA-3CC3-4E80-A497-BF882C4E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9650"/>
            <a:ext cx="11277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6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6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面向空间钢结构的教学研究、建模辅助与方案试算</a:t>
            </a:r>
          </a:p>
        </p:txBody>
      </p:sp>
      <p:sp>
        <p:nvSpPr>
          <p:cNvPr id="37" name="问题标题">
            <a:extLst xmlns:a="http://schemas.openxmlformats.org/drawingml/2006/main">
              <a:ext uri="{FF2B5EF4-FFF2-40B4-BE49-F238E27FC236}">
                <a16:creationId xmlns:a16="http://schemas.microsoft.com/office/drawing/2014/main" id="{0FE8E8A5-0360-4829-AEB0-CD18A03C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85925"/>
            <a:ext cx="3333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38" name="问题标题文字">
            <a:extLst xmlns:a="http://schemas.openxmlformats.org/drawingml/2006/main">
              <a:ext uri="{FF2B5EF4-FFF2-40B4-BE49-F238E27FC236}">
                <a16:creationId xmlns:a16="http://schemas.microsoft.com/office/drawing/2014/main" id="{BC0EAC33-769B-421A-B243-59092C9B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24025"/>
            <a:ext cx="3181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项目实际观察到的问题</a:t>
            </a:r>
          </a:p>
        </p:txBody>
      </p:sp>
      <p:sp>
        <p:nvSpPr>
          <p:cNvPr id="39" name="方法标题">
            <a:extLst xmlns:a="http://schemas.openxmlformats.org/drawingml/2006/main">
              <a:ext uri="{FF2B5EF4-FFF2-40B4-BE49-F238E27FC236}">
                <a16:creationId xmlns:a16="http://schemas.microsoft.com/office/drawing/2014/main" id="{D9307D0C-A592-47C9-90B9-823C6599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85925"/>
            <a:ext cx="3476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40" name="方法标题文字">
            <a:extLst xmlns:a="http://schemas.openxmlformats.org/drawingml/2006/main">
              <a:ext uri="{FF2B5EF4-FFF2-40B4-BE49-F238E27FC236}">
                <a16:creationId xmlns:a16="http://schemas.microsoft.com/office/drawing/2014/main" id="{3DFEB525-3A76-4FF6-862B-FA204FA9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24025"/>
            <a:ext cx="33242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对应方法</a:t>
            </a:r>
          </a:p>
        </p:txBody>
      </p:sp>
      <p:sp>
        <p:nvSpPr>
          <p:cNvPr id="41" name="价值标题">
            <a:extLst xmlns:a="http://schemas.openxmlformats.org/drawingml/2006/main">
              <a:ext uri="{FF2B5EF4-FFF2-40B4-BE49-F238E27FC236}">
                <a16:creationId xmlns:a16="http://schemas.microsoft.com/office/drawing/2014/main" id="{B217E333-747B-4A22-A421-C12A8A29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85925"/>
            <a:ext cx="30289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42" name="价值标题文字">
            <a:extLst xmlns:a="http://schemas.openxmlformats.org/drawingml/2006/main">
              <a:ext uri="{FF2B5EF4-FFF2-40B4-BE49-F238E27FC236}">
                <a16:creationId xmlns:a16="http://schemas.microsoft.com/office/drawing/2014/main" id="{BB56FCB5-CBDC-438B-8A4D-2166457F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24025"/>
            <a:ext cx="2876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项目价值</a:t>
            </a:r>
          </a:p>
        </p:txBody>
      </p:sp>
      <p:sp>
        <p:nvSpPr>
          <p:cNvPr id="43" name="问题0">
            <a:extLst xmlns:a="http://schemas.openxmlformats.org/drawingml/2006/main">
              <a:ext uri="{FF2B5EF4-FFF2-40B4-BE49-F238E27FC236}">
                <a16:creationId xmlns:a16="http://schemas.microsoft.com/office/drawing/2014/main" id="{2E44210B-0E51-4B41-886E-273EF22F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3337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44" name="问题0文字">
            <a:extLst xmlns:a="http://schemas.openxmlformats.org/drawingml/2006/main">
              <a:ext uri="{FF2B5EF4-FFF2-40B4-BE49-F238E27FC236}">
                <a16:creationId xmlns:a16="http://schemas.microsoft.com/office/drawing/2014/main" id="{03600E8F-7ACD-411B-944F-D8239EAB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90775"/>
            <a:ext cx="31051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工程语义歧义</a:t>
            </a:r>
          </a:p>
          <a:p xmlns:a="http://schemas.openxmlformats.org/drawingml/2006/main">
            <a:pPr algn="ctr">
              <a:buNone/>
              <a:def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荷载 / 支座信息遗漏</a:t>
            </a:r>
          </a:p>
        </p:txBody>
      </p:sp>
      <p:sp>
        <p:nvSpPr>
          <p:cNvPr id="45" name="方法0">
            <a:extLst xmlns:a="http://schemas.openxmlformats.org/drawingml/2006/main">
              <a:ext uri="{FF2B5EF4-FFF2-40B4-BE49-F238E27FC236}">
                <a16:creationId xmlns:a16="http://schemas.microsoft.com/office/drawing/2014/main" id="{8ED7A0DD-774A-486C-A490-73011BCC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43150"/>
            <a:ext cx="3476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46" name="方法0文字">
            <a:extLst xmlns:a="http://schemas.openxmlformats.org/drawingml/2006/main">
              <a:ext uri="{FF2B5EF4-FFF2-40B4-BE49-F238E27FC236}">
                <a16:creationId xmlns:a16="http://schemas.microsoft.com/office/drawing/2014/main" id="{1855D8C5-1DF0-4C70-B751-D550705A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90775"/>
            <a:ext cx="32480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结构化草稿＋证据保留</a:t>
            </a:r>
          </a:p>
          <a:p xmlns:a="http://schemas.openxmlformats.org/drawingml/2006/main">
            <a:pPr algn="ctr">
              <a:buNone/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不确定输入由人工审核</a:t>
            </a:r>
          </a:p>
        </p:txBody>
      </p:sp>
      <p:sp>
        <p:nvSpPr>
          <p:cNvPr id="47" name="价值0">
            <a:extLst xmlns:a="http://schemas.openxmlformats.org/drawingml/2006/main">
              <a:ext uri="{FF2B5EF4-FFF2-40B4-BE49-F238E27FC236}">
                <a16:creationId xmlns:a16="http://schemas.microsoft.com/office/drawing/2014/main" id="{3801FE83-4B47-4F61-81F1-A84FD29B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43150"/>
            <a:ext cx="30289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5C9"/>
            </a:solidFill>
            <a:prstDash val="solid"/>
          </a:ln>
        </p:spPr>
      </p:sp>
      <p:sp>
        <p:nvSpPr>
          <p:cNvPr id="48" name="价值0文字">
            <a:extLst xmlns:a="http://schemas.openxmlformats.org/drawingml/2006/main">
              <a:ext uri="{FF2B5EF4-FFF2-40B4-BE49-F238E27FC236}">
                <a16:creationId xmlns:a16="http://schemas.microsoft.com/office/drawing/2014/main" id="{E030BB90-74AC-4AF1-AE55-75C8013F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90775"/>
            <a:ext cx="28003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减少无依据的输入</a:t>
            </a:r>
          </a:p>
          <a:p xmlns:a="http://schemas.openxmlformats.org/drawingml/2006/main">
            <a:pPr algn="ctr">
              <a:buNone/>
              <a:defRPr sz="1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确认后再计算</a:t>
            </a:r>
          </a:p>
        </p:txBody>
      </p:sp>
      <p:sp>
        <p:nvSpPr>
          <p:cNvPr id="49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E66800E4-A286-4903-B5D1-E78A0326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619375"/>
            <a:ext cx="42862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50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E447FA51-113E-4D2F-A171-45A01876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619375"/>
            <a:ext cx="4381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51" name="问题1">
            <a:extLst xmlns:a="http://schemas.openxmlformats.org/drawingml/2006/main">
              <a:ext uri="{FF2B5EF4-FFF2-40B4-BE49-F238E27FC236}">
                <a16:creationId xmlns:a16="http://schemas.microsoft.com/office/drawing/2014/main" id="{A2304DBC-A30D-4D6B-B716-FB7D871F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81375"/>
            <a:ext cx="33337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2" name="问题1文字">
            <a:extLst xmlns:a="http://schemas.openxmlformats.org/drawingml/2006/main">
              <a:ext uri="{FF2B5EF4-FFF2-40B4-BE49-F238E27FC236}">
                <a16:creationId xmlns:a16="http://schemas.microsoft.com/office/drawing/2014/main" id="{D6029B99-BBD2-44CF-849D-F389FFFE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31051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数值依据难以追溯</a:t>
            </a:r>
          </a:p>
        </p:txBody>
      </p:sp>
      <p:sp>
        <p:nvSpPr>
          <p:cNvPr id="53" name="方法1">
            <a:extLst xmlns:a="http://schemas.openxmlformats.org/drawingml/2006/main">
              <a:ext uri="{FF2B5EF4-FFF2-40B4-BE49-F238E27FC236}">
                <a16:creationId xmlns:a16="http://schemas.microsoft.com/office/drawing/2014/main" id="{9D8F07A7-5F94-474A-88D8-D27C10BA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81375"/>
            <a:ext cx="3476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54" name="方法1文字">
            <a:extLst xmlns:a="http://schemas.openxmlformats.org/drawingml/2006/main">
              <a:ext uri="{FF2B5EF4-FFF2-40B4-BE49-F238E27FC236}">
                <a16:creationId xmlns:a16="http://schemas.microsoft.com/office/drawing/2014/main" id="{62710CDA-1C35-4D42-AB36-45105D47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29000"/>
            <a:ext cx="32480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确定性力学内核求解</a:t>
            </a:r>
          </a:p>
          <a:p xmlns:a="http://schemas.openxmlformats.org/drawingml/2006/main">
            <a:pPr algn="ctr">
              <a:buNone/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记录工况与求解来源</a:t>
            </a:r>
          </a:p>
        </p:txBody>
      </p:sp>
      <p:sp>
        <p:nvSpPr>
          <p:cNvPr id="55" name="价值1">
            <a:extLst xmlns:a="http://schemas.openxmlformats.org/drawingml/2006/main">
              <a:ext uri="{FF2B5EF4-FFF2-40B4-BE49-F238E27FC236}">
                <a16:creationId xmlns:a16="http://schemas.microsoft.com/office/drawing/2014/main" id="{5C74DA29-F707-4082-A407-40DF7CD2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81375"/>
            <a:ext cx="30289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5C9"/>
            </a:solidFill>
            <a:prstDash val="solid"/>
          </a:ln>
        </p:spPr>
      </p:sp>
      <p:sp>
        <p:nvSpPr>
          <p:cNvPr id="56" name="价值1文字">
            <a:extLst xmlns:a="http://schemas.openxmlformats.org/drawingml/2006/main">
              <a:ext uri="{FF2B5EF4-FFF2-40B4-BE49-F238E27FC236}">
                <a16:creationId xmlns:a16="http://schemas.microsoft.com/office/drawing/2014/main" id="{421565E9-BF6C-453D-B0DB-7C25FDCF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0"/>
            <a:ext cx="28003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便于独立复算</a:t>
            </a:r>
          </a:p>
          <a:p xmlns:a="http://schemas.openxmlformats.org/drawingml/2006/main">
            <a:pPr algn="ctr">
              <a:buNone/>
              <a:defRPr sz="1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结果有数值依据</a:t>
            </a:r>
          </a:p>
        </p:txBody>
      </p:sp>
      <p:sp>
        <p:nvSpPr>
          <p:cNvPr id="57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E6BEA908-1942-4C3F-9255-72F1357E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657600"/>
            <a:ext cx="42862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58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6428C6C5-2B76-4C25-A0EB-BD4D9122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657600"/>
            <a:ext cx="4381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59" name="问题2">
            <a:extLst xmlns:a="http://schemas.openxmlformats.org/drawingml/2006/main">
              <a:ext uri="{FF2B5EF4-FFF2-40B4-BE49-F238E27FC236}">
                <a16:creationId xmlns:a16="http://schemas.microsoft.com/office/drawing/2014/main" id="{3B573CD6-976F-4E56-ADF4-47C44F48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33337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60" name="问题2文字">
            <a:extLst xmlns:a="http://schemas.openxmlformats.org/drawingml/2006/main">
              <a:ext uri="{FF2B5EF4-FFF2-40B4-BE49-F238E27FC236}">
                <a16:creationId xmlns:a16="http://schemas.microsoft.com/office/drawing/2014/main" id="{0C167CB0-EB82-4B43-B3FE-DEFF66B7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67225"/>
            <a:ext cx="31051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模型修改后结果不同步</a:t>
            </a:r>
          </a:p>
        </p:txBody>
      </p:sp>
      <p:sp>
        <p:nvSpPr>
          <p:cNvPr id="61" name="方法2">
            <a:extLst xmlns:a="http://schemas.openxmlformats.org/drawingml/2006/main">
              <a:ext uri="{FF2B5EF4-FFF2-40B4-BE49-F238E27FC236}">
                <a16:creationId xmlns:a16="http://schemas.microsoft.com/office/drawing/2014/main" id="{DFFB4851-B837-4E79-BA34-705FCDCB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19600"/>
            <a:ext cx="3476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62" name="方法2文字">
            <a:extLst xmlns:a="http://schemas.openxmlformats.org/drawingml/2006/main">
              <a:ext uri="{FF2B5EF4-FFF2-40B4-BE49-F238E27FC236}">
                <a16:creationId xmlns:a16="http://schemas.microsoft.com/office/drawing/2014/main" id="{7459248D-2B09-4F43-8B73-F155A70C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67225"/>
            <a:ext cx="32480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绑定模型版本</a:t>
            </a:r>
          </a:p>
          <a:p xmlns:a="http://schemas.openxmlformats.org/drawingml/2006/main">
            <a:pPr algn="ctr">
              <a:buNone/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旧结果失效并提示重算</a:t>
            </a:r>
          </a:p>
        </p:txBody>
      </p:sp>
      <p:sp>
        <p:nvSpPr>
          <p:cNvPr id="63" name="价值2">
            <a:extLst xmlns:a="http://schemas.openxmlformats.org/drawingml/2006/main">
              <a:ext uri="{FF2B5EF4-FFF2-40B4-BE49-F238E27FC236}">
                <a16:creationId xmlns:a16="http://schemas.microsoft.com/office/drawing/2014/main" id="{26B46DEB-DC99-40E2-BD71-2C945185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19600"/>
            <a:ext cx="30289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5C9"/>
            </a:solidFill>
            <a:prstDash val="solid"/>
          </a:ln>
        </p:spPr>
      </p:sp>
      <p:sp>
        <p:nvSpPr>
          <p:cNvPr id="64" name="价值2文字">
            <a:extLst xmlns:a="http://schemas.openxmlformats.org/drawingml/2006/main">
              <a:ext uri="{FF2B5EF4-FFF2-40B4-BE49-F238E27FC236}">
                <a16:creationId xmlns:a16="http://schemas.microsoft.com/office/drawing/2014/main" id="{F1641E68-0D67-46DB-B877-4DFD869B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467225"/>
            <a:ext cx="28003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降低误读旧结果的风险</a:t>
            </a:r>
          </a:p>
        </p:txBody>
      </p:sp>
      <p:sp>
        <p:nvSpPr>
          <p:cNvPr id="65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0FC98014-E900-4BE8-8084-5ACBE6B2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695825"/>
            <a:ext cx="42862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66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2CDF6B4E-2B29-4B32-8710-2E241139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695825"/>
            <a:ext cx="4381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67" name="一体化工作流">
            <a:extLst xmlns:a="http://schemas.openxmlformats.org/drawingml/2006/main">
              <a:ext uri="{FF2B5EF4-FFF2-40B4-BE49-F238E27FC236}">
                <a16:creationId xmlns:a16="http://schemas.microsoft.com/office/drawing/2014/main" id="{DA6F052B-F28A-46F3-BC0B-1BC0FF17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43575"/>
            <a:ext cx="11277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92858"/>
            </a:solidFill>
            <a:prstDash val="dash"/>
          </a:ln>
        </p:spPr>
      </p:sp>
      <p:sp>
        <p:nvSpPr>
          <p:cNvPr id="68" name="一体化工作流标签">
            <a:extLst xmlns:a="http://schemas.openxmlformats.org/drawingml/2006/main">
              <a:ext uri="{FF2B5EF4-FFF2-40B4-BE49-F238E27FC236}">
                <a16:creationId xmlns:a16="http://schemas.microsoft.com/office/drawing/2014/main" id="{2D61DC15-7FDB-4B64-8FA0-175941EF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25622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69" name="一体化工作流标签文字">
            <a:extLst xmlns:a="http://schemas.openxmlformats.org/drawingml/2006/main">
              <a:ext uri="{FF2B5EF4-FFF2-40B4-BE49-F238E27FC236}">
                <a16:creationId xmlns:a16="http://schemas.microsoft.com/office/drawing/2014/main" id="{DA5384F2-C8A6-4071-ACD1-D94FE47A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统一模型与同源结果</a:t>
            </a:r>
          </a:p>
        </p:txBody>
      </p:sp>
      <p:sp>
        <p:nvSpPr>
          <p:cNvPr id="70" name="主流程">
            <a:extLst xmlns:a="http://schemas.openxmlformats.org/drawingml/2006/main">
              <a:ext uri="{FF2B5EF4-FFF2-40B4-BE49-F238E27FC236}">
                <a16:creationId xmlns:a16="http://schemas.microsoft.com/office/drawing/2014/main" id="{92539274-3CF9-45C9-BFF8-19219E31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1066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建模  →  校验  →  求解  →  结果查询 / 云图  →  计算书</a:t>
            </a:r>
          </a:p>
        </p:txBody>
      </p:sp>
    </p:spTree>
    <p:extLst>
      <p:ext uri="{BB962C8B-B14F-4D97-AF65-F5344CB8AC3E}">
        <p14:creationId xmlns:p14="http://schemas.microsoft.com/office/powerpoint/2010/main" val="179811308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4">
            <a:extLst xmlns:a="http://schemas.openxmlformats.org/drawingml/2006/main"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80"/>
          </a:p>
        </p:txBody>
      </p:sp>
      <p:pic>
        <p:nvPicPr>
          <p:cNvPr id="32" name="Picture 2">
            <a:extLst xmlns:a="http://schemas.openxmlformats.org/drawingml/2006/main">
              <a:ext uri="{FF2B5EF4-FFF2-40B4-BE49-F238E27FC236}">
                <a16:creationId xmlns:a16="http://schemas.microsoft.com/office/drawing/2014/main" id="{D54F1CA3-69C6-449A-AFA6-F3D6F6A680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eed2483ee94e1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419" y="99849"/>
            <a:ext cx="2203824" cy="5752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A97580DF-8C09-460B-9851-05A39AE8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0500"/>
            <a:ext cx="872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2  方法特点与技术路线</a:t>
            </a:r>
          </a:p>
        </p:txBody>
      </p:sp>
      <p:sp>
        <p:nvSpPr>
          <p:cNvPr id="34" name="资料来源">
            <a:extLst xmlns:a="http://schemas.openxmlformats.org/drawingml/2006/main">
              <a:ext uri="{FF2B5EF4-FFF2-40B4-BE49-F238E27FC236}">
                <a16:creationId xmlns:a16="http://schemas.microsoft.com/office/drawing/2014/main" id="{52398FC0-6599-44B2-A928-1C853FBF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344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rPr>
              <a:t>依据：agent_tools.py；model_compiler.py；frame3d.py；解析基准与实际开发记录</a:t>
            </a:r>
          </a:p>
        </p:txBody>
      </p:sp>
      <p:sp>
        <p:nvSpPr>
          <p:cNvPr id="35" name="页码">
            <a:extLst xmlns:a="http://schemas.openxmlformats.org/drawingml/2006/main">
              <a:ext uri="{FF2B5EF4-FFF2-40B4-BE49-F238E27FC236}">
                <a16:creationId xmlns:a16="http://schemas.microsoft.com/office/drawing/2014/main" id="{29C3ADB5-8EAF-41BA-A013-4BB798F2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buNone/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36" name="运行流程">
            <a:extLst xmlns:a="http://schemas.openxmlformats.org/drawingml/2006/main">
              <a:ext uri="{FF2B5EF4-FFF2-40B4-BE49-F238E27FC236}">
                <a16:creationId xmlns:a16="http://schemas.microsoft.com/office/drawing/2014/main" id="{65BEFFE9-B2EF-4C9C-BAE5-0A91428E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92858"/>
            </a:solidFill>
            <a:prstDash val="dash"/>
          </a:ln>
        </p:spPr>
      </p:sp>
      <p:sp>
        <p:nvSpPr>
          <p:cNvPr id="37" name="运行流程标签">
            <a:extLst xmlns:a="http://schemas.openxmlformats.org/drawingml/2006/main">
              <a:ext uri="{FF2B5EF4-FFF2-40B4-BE49-F238E27FC236}">
                <a16:creationId xmlns:a16="http://schemas.microsoft.com/office/drawing/2014/main" id="{8E1792E0-C445-4C46-8AF5-6A173FAC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38004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38" name="运行流程标签文字">
            <a:extLst xmlns:a="http://schemas.openxmlformats.org/drawingml/2006/main">
              <a:ext uri="{FF2B5EF4-FFF2-40B4-BE49-F238E27FC236}">
                <a16:creationId xmlns:a16="http://schemas.microsoft.com/office/drawing/2014/main" id="{CC961717-7C3D-4296-8B1F-14212A6B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52525"/>
            <a:ext cx="3648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软件运行：人、AI与数值程序</a:t>
            </a:r>
          </a:p>
        </p:txBody>
      </p:sp>
      <p:sp>
        <p:nvSpPr>
          <p:cNvPr id="39" name="输入">
            <a:extLst xmlns:a="http://schemas.openxmlformats.org/drawingml/2006/main">
              <a:ext uri="{FF2B5EF4-FFF2-40B4-BE49-F238E27FC236}">
                <a16:creationId xmlns:a16="http://schemas.microsoft.com/office/drawing/2014/main" id="{D7EF5295-0C6E-4597-BD92-0CCA1DA1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28775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40" name="输入文字">
            <a:extLst xmlns:a="http://schemas.openxmlformats.org/drawingml/2006/main">
              <a:ext uri="{FF2B5EF4-FFF2-40B4-BE49-F238E27FC236}">
                <a16:creationId xmlns:a16="http://schemas.microsoft.com/office/drawing/2014/main" id="{C1026D17-C1E7-4A92-9418-20DFD2F5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67640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需求与图片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尺度与加载</a:t>
            </a:r>
          </a:p>
        </p:txBody>
      </p:sp>
      <p:sp>
        <p:nvSpPr>
          <p:cNvPr id="41" name="Agent标题">
            <a:extLst xmlns:a="http://schemas.openxmlformats.org/drawingml/2006/main">
              <a:ext uri="{FF2B5EF4-FFF2-40B4-BE49-F238E27FC236}">
                <a16:creationId xmlns:a16="http://schemas.microsoft.com/office/drawing/2014/main" id="{ECADDC8E-D79F-43AA-9DE8-F48D9A9F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533525"/>
            <a:ext cx="2238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42" name="Agent标题文字">
            <a:extLst xmlns:a="http://schemas.openxmlformats.org/drawingml/2006/main">
              <a:ext uri="{FF2B5EF4-FFF2-40B4-BE49-F238E27FC236}">
                <a16:creationId xmlns:a16="http://schemas.microsoft.com/office/drawing/2014/main" id="{7772B5CB-C1E0-4C7F-907A-55A8FF98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2085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00" b="1">
                <a:solidFill>
                  <a:srgbClr val="FFD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900" b="1">
                <a:solidFill>
                  <a:srgbClr val="FFD000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FFD000"/>
                </a:solidFill>
                <a:latin typeface="微软雅黑"/>
                <a:ea typeface="微软雅黑"/>
                <a:cs typeface="微软雅黑"/>
              </a:rPr>
              <a:t>AI Agent</a:t>
            </a:r>
          </a:p>
        </p:txBody>
      </p:sp>
      <p:sp>
        <p:nvSpPr>
          <p:cNvPr id="43" name="AI职责">
            <a:extLst xmlns:a="http://schemas.openxmlformats.org/drawingml/2006/main">
              <a:ext uri="{FF2B5EF4-FFF2-40B4-BE49-F238E27FC236}">
                <a16:creationId xmlns:a16="http://schemas.microsoft.com/office/drawing/2014/main" id="{3047C9E4-30B3-4369-8034-9D72DC80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66900"/>
            <a:ext cx="2238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44" name="AI职责文字">
            <a:extLst xmlns:a="http://schemas.openxmlformats.org/drawingml/2006/main">
              <a:ext uri="{FF2B5EF4-FFF2-40B4-BE49-F238E27FC236}">
                <a16:creationId xmlns:a16="http://schemas.microsoft.com/office/drawing/2014/main" id="{B3FCB9F9-3718-4D74-9784-B178F9CA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14525"/>
            <a:ext cx="20097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理解意图，生成草稿</a:t>
            </a:r>
          </a:p>
          <a:p xmlns:a="http://schemas.openxmlformats.org/drawingml/2006/main">
            <a:pPr algn="ctr">
              <a:buNone/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组织工具参数与调用</a:t>
            </a:r>
          </a:p>
        </p:txBody>
      </p:sp>
      <p:sp>
        <p:nvSpPr>
          <p:cNvPr id="45" name="人工确认">
            <a:extLst xmlns:a="http://schemas.openxmlformats.org/drawingml/2006/main">
              <a:ext uri="{FF2B5EF4-FFF2-40B4-BE49-F238E27FC236}">
                <a16:creationId xmlns:a16="http://schemas.microsoft.com/office/drawing/2014/main" id="{A7698ACA-EDFF-41C9-9B79-F3BF1EF9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628775"/>
            <a:ext cx="21812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46" name="人工确认文字">
            <a:extLst xmlns:a="http://schemas.openxmlformats.org/drawingml/2006/main">
              <a:ext uri="{FF2B5EF4-FFF2-40B4-BE49-F238E27FC236}">
                <a16:creationId xmlns:a16="http://schemas.microsoft.com/office/drawing/2014/main" id="{DE615C86-523B-4EDB-A3E5-FE7DACF1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676400"/>
            <a:ext cx="1952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确认不确定输入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尺度 / 支座 / 荷载</a:t>
            </a:r>
          </a:p>
        </p:txBody>
      </p:sp>
      <p:sp>
        <p:nvSpPr>
          <p:cNvPr id="47" name="确定性工具">
            <a:extLst xmlns:a="http://schemas.openxmlformats.org/drawingml/2006/main">
              <a:ext uri="{FF2B5EF4-FFF2-40B4-BE49-F238E27FC236}">
                <a16:creationId xmlns:a16="http://schemas.microsoft.com/office/drawing/2014/main" id="{6E2DD418-22A0-43EB-920F-F14399E1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1628775"/>
            <a:ext cx="3638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48" name="确定性工具文字">
            <a:extLst xmlns:a="http://schemas.openxmlformats.org/drawingml/2006/main">
              <a:ext uri="{FF2B5EF4-FFF2-40B4-BE49-F238E27FC236}">
                <a16:creationId xmlns:a16="http://schemas.microsoft.com/office/drawing/2014/main" id="{22B2DBCA-D43C-4352-A005-459ECCF7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676400"/>
            <a:ext cx="3409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模型校验 → 编译 → 求解</a:t>
            </a:r>
          </a:p>
          <a:p xmlns:a="http://schemas.openxmlformats.org/drawingml/2006/main">
            <a:pPr algn="ctr">
              <a:buNone/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查询、云图与计算书</a:t>
            </a:r>
          </a:p>
        </p:txBody>
      </p:sp>
      <p:sp>
        <p:nvSpPr>
          <p:cNvPr id="49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4A7461C4-F69E-48AC-BCC7-54116EB8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9145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50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AB11BC1D-0691-432E-8BF3-8B64054C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145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51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236EF509-2B06-4622-8624-BFBCD317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145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cxnSp>
        <p:nvCxnSpPr>
          <p:cNvPr id="52" name="关系连接线">
            <a:extLst xmlns:a="http://schemas.openxmlformats.org/drawingml/2006/main">
              <a:ext uri="{FF2B5EF4-FFF2-40B4-BE49-F238E27FC236}">
                <a16:creationId xmlns:a16="http://schemas.microsoft.com/office/drawing/2014/main" id="{A02B6A8D-FC3B-4953-84DF-220C968B2EE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467475" y="2466975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00000"/>
            </a:solidFill>
            <a:prstDash val="solid"/>
          </a:ln>
        </p:spPr>
      </p:cxnSp>
      <p:cxnSp>
        <p:nvCxnSpPr>
          <p:cNvPr id="53" name="关系连接线">
            <a:extLst xmlns:a="http://schemas.openxmlformats.org/drawingml/2006/main">
              <a:ext uri="{FF2B5EF4-FFF2-40B4-BE49-F238E27FC236}">
                <a16:creationId xmlns:a16="http://schemas.microsoft.com/office/drawing/2014/main" id="{58E226F4-7E3B-40F2-8CCE-FBFB64DAF53D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3905250" y="2676525"/>
            <a:ext cx="2562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00000"/>
            </a:solidFill>
            <a:prstDash val="solid"/>
          </a:ln>
        </p:spPr>
      </p:cxnSp>
      <p:cxnSp>
        <p:nvCxnSpPr>
          <p:cNvPr id="54" name="关系连接线">
            <a:extLst xmlns:a="http://schemas.openxmlformats.org/drawingml/2006/main">
              <a:ext uri="{FF2B5EF4-FFF2-40B4-BE49-F238E27FC236}">
                <a16:creationId xmlns:a16="http://schemas.microsoft.com/office/drawing/2014/main" id="{275366F5-EA03-44DE-B7CB-B95E6E680700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3905250" y="2466975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00000"/>
            </a:solidFill>
            <a:prstDash val="solid"/>
            <a:tailEnd type="triangle" w="med" len="med"/>
          </a:ln>
        </p:spPr>
      </p:cxnSp>
      <p:sp>
        <p:nvSpPr>
          <p:cNvPr id="55" name="返回说明">
            <a:extLst xmlns:a="http://schemas.openxmlformats.org/drawingml/2006/main">
              <a:ext uri="{FF2B5EF4-FFF2-40B4-BE49-F238E27FC236}">
                <a16:creationId xmlns:a16="http://schemas.microsoft.com/office/drawing/2014/main" id="{5C2F6296-0669-4EC0-AFE8-11D74A5B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05075"/>
            <a:ext cx="481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信息不足 / 校验异常：返回补充与确认</a:t>
            </a:r>
          </a:p>
        </p:txBody>
      </p:sp>
      <p:sp>
        <p:nvSpPr>
          <p:cNvPr id="56" name="有限元标题">
            <a:extLst xmlns:a="http://schemas.openxmlformats.org/drawingml/2006/main">
              <a:ext uri="{FF2B5EF4-FFF2-40B4-BE49-F238E27FC236}">
                <a16:creationId xmlns:a16="http://schemas.microsoft.com/office/drawing/2014/main" id="{DB3B8524-E296-46AA-918F-5178695D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2876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57" name="有限元标题文字">
            <a:extLst xmlns:a="http://schemas.openxmlformats.org/drawingml/2006/main">
              <a:ext uri="{FF2B5EF4-FFF2-40B4-BE49-F238E27FC236}">
                <a16:creationId xmlns:a16="http://schemas.microsoft.com/office/drawing/2014/main" id="{7285C616-8E15-4154-8FB6-9080F736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确定性有限元内核</a:t>
            </a:r>
          </a:p>
        </p:txBody>
      </p:sp>
      <p:sp>
        <p:nvSpPr>
          <p:cNvPr id="58" name="有限元过程">
            <a:extLst xmlns:a="http://schemas.openxmlformats.org/drawingml/2006/main">
              <a:ext uri="{FF2B5EF4-FFF2-40B4-BE49-F238E27FC236}">
                <a16:creationId xmlns:a16="http://schemas.microsoft.com/office/drawing/2014/main" id="{9536326E-F694-4A55-B429-BEA11D04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105150"/>
            <a:ext cx="8181975" cy="200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92858"/>
            </a:solidFill>
            <a:prstDash val="dash"/>
          </a:ln>
        </p:spPr>
      </p:sp>
      <p:sp>
        <p:nvSpPr>
          <p:cNvPr id="59" name="有限元过程标签">
            <a:extLst xmlns:a="http://schemas.openxmlformats.org/drawingml/2006/main">
              <a:ext uri="{FF2B5EF4-FFF2-40B4-BE49-F238E27FC236}">
                <a16:creationId xmlns:a16="http://schemas.microsoft.com/office/drawing/2014/main" id="{4F3B669E-6631-4E22-A7FB-08401856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924175"/>
            <a:ext cx="1571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60" name="有限元过程标签文字">
            <a:extLst xmlns:a="http://schemas.openxmlformats.org/drawingml/2006/main">
              <a:ext uri="{FF2B5EF4-FFF2-40B4-BE49-F238E27FC236}">
                <a16:creationId xmlns:a16="http://schemas.microsoft.com/office/drawing/2014/main" id="{8E2A91A0-ABE5-42ED-B2C8-F68E0473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962275"/>
            <a:ext cx="1419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空间梁单元</a:t>
            </a:r>
          </a:p>
        </p:txBody>
      </p:sp>
      <p:cxnSp>
        <p:nvCxnSpPr>
          <p:cNvPr id="61" name="关系连接线">
            <a:extLst xmlns:a="http://schemas.openxmlformats.org/drawingml/2006/main">
              <a:ext uri="{FF2B5EF4-FFF2-40B4-BE49-F238E27FC236}">
                <a16:creationId xmlns:a16="http://schemas.microsoft.com/office/drawing/2014/main" id="{D238CE28-0C6B-4017-9236-32244E6CA45A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971550" y="3752850"/>
            <a:ext cx="186690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66675">
            <a:solidFill>
              <a:srgbClr val="092858"/>
            </a:solidFill>
            <a:prstDash val="solid"/>
          </a:ln>
        </p:spPr>
      </p:cxnSp>
      <p:sp>
        <p:nvSpPr>
          <p:cNvPr id="62" name="梁节点i">
            <a:extLst xmlns:a="http://schemas.openxmlformats.org/drawingml/2006/main">
              <a:ext uri="{FF2B5EF4-FFF2-40B4-BE49-F238E27FC236}">
                <a16:creationId xmlns:a16="http://schemas.microsoft.com/office/drawing/2014/main" id="{B3FDB05F-5D3D-4162-AAE4-89F3DAB9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52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</a:ln>
        </p:spPr>
      </p:sp>
      <p:sp>
        <p:nvSpPr>
          <p:cNvPr id="63" name="节点i">
            <a:extLst xmlns:a="http://schemas.openxmlformats.org/drawingml/2006/main">
              <a:ext uri="{FF2B5EF4-FFF2-40B4-BE49-F238E27FC236}">
                <a16:creationId xmlns:a16="http://schemas.microsoft.com/office/drawing/2014/main" id="{C018492C-651D-4ABD-BCA0-2B47E351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1338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1D26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buNone/>
              <a:defRPr sz="1800" b="0">
                <a:solidFill>
                  <a:srgbClr val="171D26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>
                <a:solidFill>
                  <a:srgbClr val="171D26"/>
                </a:solidFill>
                <a:latin typeface="Cambria Math"/>
                <a:ea typeface="Cambria Math"/>
                <a:cs typeface="Cambria Math"/>
              </a:rPr>
              <a:t>i</a:t>
            </a:r>
          </a:p>
        </p:txBody>
      </p:sp>
      <p:sp>
        <p:nvSpPr>
          <p:cNvPr id="64" name="梁节点j">
            <a:extLst xmlns:a="http://schemas.openxmlformats.org/drawingml/2006/main">
              <a:ext uri="{FF2B5EF4-FFF2-40B4-BE49-F238E27FC236}">
                <a16:creationId xmlns:a16="http://schemas.microsoft.com/office/drawing/2014/main" id="{F2DCFF3C-2692-49E8-90FA-B822E1A4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95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</a:ln>
        </p:spPr>
      </p:sp>
      <p:sp>
        <p:nvSpPr>
          <p:cNvPr id="65" name="节点j">
            <a:extLst xmlns:a="http://schemas.openxmlformats.org/drawingml/2006/main">
              <a:ext uri="{FF2B5EF4-FFF2-40B4-BE49-F238E27FC236}">
                <a16:creationId xmlns:a16="http://schemas.microsoft.com/office/drawing/2014/main" id="{C28DBBF4-63F2-428D-AAF0-D988FE30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8766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1D26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buNone/>
              <a:defRPr sz="1800" b="0">
                <a:solidFill>
                  <a:srgbClr val="171D26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>
                <a:solidFill>
                  <a:srgbClr val="171D26"/>
                </a:solidFill>
                <a:latin typeface="Cambria Math"/>
                <a:ea typeface="Cambria Math"/>
                <a:cs typeface="Cambria Math"/>
              </a:rPr>
              <a:t>j</a:t>
            </a:r>
          </a:p>
        </p:txBody>
      </p:sp>
      <p:cxnSp>
        <p:nvCxnSpPr>
          <p:cNvPr id="66" name="关系连接线">
            <a:extLst xmlns:a="http://schemas.openxmlformats.org/drawingml/2006/main">
              <a:ext uri="{FF2B5EF4-FFF2-40B4-BE49-F238E27FC236}">
                <a16:creationId xmlns:a16="http://schemas.microsoft.com/office/drawing/2014/main" id="{FE1AA8E8-EDDB-4ADA-9DD2-FA3E546F2C74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990600" y="3933825"/>
            <a:ext cx="542925" cy="76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5C9"/>
            </a:solidFill>
            <a:prstDash val="solid"/>
            <a:tailEnd type="triangle" w="med" len="med"/>
          </a:ln>
        </p:spPr>
      </p:cxnSp>
      <p:cxnSp>
        <p:nvCxnSpPr>
          <p:cNvPr id="67" name="关系连接线">
            <a:extLst xmlns:a="http://schemas.openxmlformats.org/drawingml/2006/main">
              <a:ext uri="{FF2B5EF4-FFF2-40B4-BE49-F238E27FC236}">
                <a16:creationId xmlns:a16="http://schemas.microsoft.com/office/drawing/2014/main" id="{4D815452-1C07-4EF0-8FB8-D49C2DEE06A8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990600" y="3514725"/>
            <a:ext cx="9525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5C9"/>
            </a:solidFill>
            <a:prstDash val="solid"/>
            <a:tailEnd type="triangle" w="med" len="med"/>
          </a:ln>
        </p:spPr>
      </p:cxnSp>
      <p:cxnSp>
        <p:nvCxnSpPr>
          <p:cNvPr id="68" name="关系连接线">
            <a:extLst xmlns:a="http://schemas.openxmlformats.org/drawingml/2006/main">
              <a:ext uri="{FF2B5EF4-FFF2-40B4-BE49-F238E27FC236}">
                <a16:creationId xmlns:a16="http://schemas.microsoft.com/office/drawing/2014/main" id="{B9D4EF96-090E-4312-8A25-8AE1B6DAB2CA}"/>
              </a:ext>
            </a:extLst>
          </p:cNvPr>
          <p:cNvCxnSpPr/>
          <p:nvPr/>
        </p:nvCxnSpPr>
        <p:spPr>
          <a:xfrm xmlns:a="http://schemas.openxmlformats.org/drawingml/2006/main" flipH="1" flipV="1">
            <a:off x="600075" y="3762375"/>
            <a:ext cx="390525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5C9"/>
            </a:solidFill>
            <a:prstDash val="solid"/>
            <a:tailEnd type="triangle" w="med" len="med"/>
          </a:ln>
        </p:spPr>
      </p:cxnSp>
      <p:sp>
        <p:nvSpPr>
          <p:cNvPr id="69" name="局部x">
            <a:extLst xmlns:a="http://schemas.openxmlformats.org/drawingml/2006/main">
              <a:ext uri="{FF2B5EF4-FFF2-40B4-BE49-F238E27FC236}">
                <a16:creationId xmlns:a16="http://schemas.microsoft.com/office/drawing/2014/main" id="{05438ADE-50FE-4F68-BE61-692B7B26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33825"/>
            <a:ext cx="228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00" b="0">
                <a:solidFill>
                  <a:srgbClr val="171D26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buNone/>
              <a:defRPr sz="1600" b="0">
                <a:solidFill>
                  <a:srgbClr val="171D26"/>
                </a:solidFill>
                <a:latin typeface="Cambria Math"/>
                <a:ea typeface="Cambria Math"/>
                <a:cs typeface="Cambria Math"/>
              </a:defRPr>
            </a:pPr>
            <a:r>
              <a:rPr sz="1600" b="0">
                <a:solidFill>
                  <a:srgbClr val="171D26"/>
                </a:solidFill>
                <a:latin typeface="Cambria Math"/>
                <a:ea typeface="Cambria Math"/>
                <a:cs typeface="Cambria Math"/>
              </a:rPr>
              <a:t>x</a:t>
            </a:r>
          </a:p>
        </p:txBody>
      </p:sp>
      <p:sp>
        <p:nvSpPr>
          <p:cNvPr id="70" name="局部y">
            <a:extLst xmlns:a="http://schemas.openxmlformats.org/drawingml/2006/main">
              <a:ext uri="{FF2B5EF4-FFF2-40B4-BE49-F238E27FC236}">
                <a16:creationId xmlns:a16="http://schemas.microsoft.com/office/drawing/2014/main" id="{69F9EEAF-89CD-4E3B-AD6F-95A60777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247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00" b="0">
                <a:solidFill>
                  <a:srgbClr val="171D26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buNone/>
              <a:defRPr sz="1600" b="0">
                <a:solidFill>
                  <a:srgbClr val="171D26"/>
                </a:solidFill>
                <a:latin typeface="Cambria Math"/>
                <a:ea typeface="Cambria Math"/>
                <a:cs typeface="Cambria Math"/>
              </a:defRPr>
            </a:pPr>
            <a:r>
              <a:rPr sz="1600" b="0">
                <a:solidFill>
                  <a:srgbClr val="171D26"/>
                </a:solidFill>
                <a:latin typeface="Cambria Math"/>
                <a:ea typeface="Cambria Math"/>
                <a:cs typeface="Cambria Math"/>
              </a:rPr>
              <a:t>y</a:t>
            </a:r>
          </a:p>
        </p:txBody>
      </p:sp>
      <p:sp>
        <p:nvSpPr>
          <p:cNvPr id="71" name="局部z">
            <a:extLst xmlns:a="http://schemas.openxmlformats.org/drawingml/2006/main">
              <a:ext uri="{FF2B5EF4-FFF2-40B4-BE49-F238E27FC236}">
                <a16:creationId xmlns:a16="http://schemas.microsoft.com/office/drawing/2014/main" id="{7E0AD9A5-309A-40B5-92D0-CAF70A48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571875"/>
            <a:ext cx="257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00" b="0">
                <a:solidFill>
                  <a:srgbClr val="171D26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buNone/>
              <a:defRPr sz="1600" b="0">
                <a:solidFill>
                  <a:srgbClr val="171D26"/>
                </a:solidFill>
                <a:latin typeface="Cambria Math"/>
                <a:ea typeface="Cambria Math"/>
                <a:cs typeface="Cambria Math"/>
              </a:defRPr>
            </a:pPr>
            <a:r>
              <a:rPr sz="1600" b="0">
                <a:solidFill>
                  <a:srgbClr val="171D26"/>
                </a:solidFill>
                <a:latin typeface="Cambria Math"/>
                <a:ea typeface="Cambria Math"/>
                <a:cs typeface="Cambria Math"/>
              </a:rPr>
              <a:t>z</a:t>
            </a:r>
          </a:p>
        </p:txBody>
      </p:sp>
      <p:sp>
        <p:nvSpPr>
          <p:cNvPr id="72" name="自由度">
            <a:extLst xmlns:a="http://schemas.openxmlformats.org/drawingml/2006/main">
              <a:ext uri="{FF2B5EF4-FFF2-40B4-BE49-F238E27FC236}">
                <a16:creationId xmlns:a16="http://schemas.microsoft.com/office/drawing/2014/main" id="{3FFA0FE5-906F-4A77-8A6F-1D67942F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48175"/>
            <a:ext cx="2876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每节点：3平移＋3转角</a:t>
            </a:r>
          </a:p>
        </p:txBody>
      </p:sp>
      <p:sp>
        <p:nvSpPr>
          <p:cNvPr id="73" name="自由度向量">
            <a:extLst xmlns:a="http://schemas.openxmlformats.org/drawingml/2006/main">
              <a:ext uri="{FF2B5EF4-FFF2-40B4-BE49-F238E27FC236}">
                <a16:creationId xmlns:a16="http://schemas.microsoft.com/office/drawing/2014/main" id="{84EF6E91-1523-4C1F-AC68-8451C7E4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815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00" b="0">
                <a:solidFill>
                  <a:srgbClr val="171D26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buNone/>
              <a:defRPr sz="1600" b="0">
                <a:solidFill>
                  <a:srgbClr val="171D26"/>
                </a:solidFill>
                <a:latin typeface="Cambria Math"/>
                <a:ea typeface="Cambria Math"/>
                <a:cs typeface="Cambria Math"/>
              </a:defRPr>
            </a:pPr>
            <a:r>
              <a:rPr sz="1600" b="0">
                <a:solidFill>
                  <a:srgbClr val="171D26"/>
                </a:solidFill>
                <a:latin typeface="Cambria Math"/>
                <a:ea typeface="Cambria Math"/>
                <a:cs typeface="Cambria Math"/>
              </a:rPr>
              <a:t>dᵢ = [u, v, w, θₓ, θᵧ, θz]ᵀ</a:t>
            </a:r>
          </a:p>
        </p:txBody>
      </p:sp>
      <p:sp>
        <p:nvSpPr>
          <p:cNvPr id="74" name="刚度步骤0">
            <a:extLst xmlns:a="http://schemas.openxmlformats.org/drawingml/2006/main">
              <a:ext uri="{FF2B5EF4-FFF2-40B4-BE49-F238E27FC236}">
                <a16:creationId xmlns:a16="http://schemas.microsoft.com/office/drawing/2014/main" id="{75021E09-1291-45FD-A67A-021317DC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24250"/>
            <a:ext cx="1666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75" name="刚度步骤0文字">
            <a:extLst xmlns:a="http://schemas.openxmlformats.org/drawingml/2006/main">
              <a:ext uri="{FF2B5EF4-FFF2-40B4-BE49-F238E27FC236}">
                <a16:creationId xmlns:a16="http://schemas.microsoft.com/office/drawing/2014/main" id="{BC53AE9A-FD5E-4BC0-9957-04559D86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71875"/>
            <a:ext cx="14382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kₑ：12×12</a:t>
            </a:r>
          </a:p>
        </p:txBody>
      </p:sp>
      <p:sp>
        <p:nvSpPr>
          <p:cNvPr id="76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A56F7108-9F8F-489E-8C62-F4DB378E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676650"/>
            <a:ext cx="238125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77" name="刚度步骤1">
            <a:extLst xmlns:a="http://schemas.openxmlformats.org/drawingml/2006/main">
              <a:ext uri="{FF2B5EF4-FFF2-40B4-BE49-F238E27FC236}">
                <a16:creationId xmlns:a16="http://schemas.microsoft.com/office/drawing/2014/main" id="{860D3E52-8D02-48C3-A4DB-9B293E70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524250"/>
            <a:ext cx="1666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78" name="刚度步骤1文字">
            <a:extLst xmlns:a="http://schemas.openxmlformats.org/drawingml/2006/main">
              <a:ext uri="{FF2B5EF4-FFF2-40B4-BE49-F238E27FC236}">
                <a16:creationId xmlns:a16="http://schemas.microsoft.com/office/drawing/2014/main" id="{2C3BA990-4B86-4E7E-BCE5-84837DE1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71875"/>
            <a:ext cx="14382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坐标变换</a:t>
            </a:r>
          </a:p>
        </p:txBody>
      </p:sp>
      <p:sp>
        <p:nvSpPr>
          <p:cNvPr id="79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E6CE00B7-30B6-400E-8A62-A1B9D582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676650"/>
            <a:ext cx="238125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80" name="刚度步骤2">
            <a:extLst xmlns:a="http://schemas.openxmlformats.org/drawingml/2006/main">
              <a:ext uri="{FF2B5EF4-FFF2-40B4-BE49-F238E27FC236}">
                <a16:creationId xmlns:a16="http://schemas.microsoft.com/office/drawing/2014/main" id="{2BFBCB13-BAE9-4AA2-AFEE-BCA3A470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524250"/>
            <a:ext cx="1666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81" name="刚度步骤2文字">
            <a:extLst xmlns:a="http://schemas.openxmlformats.org/drawingml/2006/main">
              <a:ext uri="{FF2B5EF4-FFF2-40B4-BE49-F238E27FC236}">
                <a16:creationId xmlns:a16="http://schemas.microsoft.com/office/drawing/2014/main" id="{BA73A4A5-F49E-4088-BBAC-76555001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571875"/>
            <a:ext cx="14382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组装与约束</a:t>
            </a:r>
          </a:p>
        </p:txBody>
      </p:sp>
      <p:sp>
        <p:nvSpPr>
          <p:cNvPr id="82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EF784001-EA09-48D4-84DD-BBAE9992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76650"/>
            <a:ext cx="238125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83" name="刚度步骤3">
            <a:extLst xmlns:a="http://schemas.openxmlformats.org/drawingml/2006/main">
              <a:ext uri="{FF2B5EF4-FFF2-40B4-BE49-F238E27FC236}">
                <a16:creationId xmlns:a16="http://schemas.microsoft.com/office/drawing/2014/main" id="{55F3D18C-17DB-4221-9890-810CE6C5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524250"/>
            <a:ext cx="15716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84" name="刚度步骤3文字">
            <a:extLst xmlns:a="http://schemas.openxmlformats.org/drawingml/2006/main">
              <a:ext uri="{FF2B5EF4-FFF2-40B4-BE49-F238E27FC236}">
                <a16:creationId xmlns:a16="http://schemas.microsoft.com/office/drawing/2014/main" id="{EAE2AC10-B006-4647-8584-6996BAA0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571875"/>
            <a:ext cx="13430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K u = F</a:t>
            </a:r>
          </a:p>
        </p:txBody>
      </p:sp>
      <p:sp>
        <p:nvSpPr>
          <p:cNvPr id="85" name="刚度变换">
            <a:extLst xmlns:a="http://schemas.openxmlformats.org/drawingml/2006/main">
              <a:ext uri="{FF2B5EF4-FFF2-40B4-BE49-F238E27FC236}">
                <a16:creationId xmlns:a16="http://schemas.microsoft.com/office/drawing/2014/main" id="{2FA51058-4808-4B38-B5EB-883BB651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4133850"/>
            <a:ext cx="2486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00" b="0">
                <a:solidFill>
                  <a:srgbClr val="171D26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buNone/>
              <a:defRPr sz="1900" b="0">
                <a:solidFill>
                  <a:srgbClr val="171D26"/>
                </a:solidFill>
                <a:latin typeface="Cambria Math"/>
                <a:ea typeface="Cambria Math"/>
                <a:cs typeface="Cambria Math"/>
              </a:defRPr>
            </a:pPr>
            <a:r>
              <a:rPr sz="1900" b="0">
                <a:solidFill>
                  <a:srgbClr val="171D26"/>
                </a:solidFill>
                <a:latin typeface="Cambria Math"/>
                <a:ea typeface="Cambria Math"/>
                <a:cs typeface="Cambria Math"/>
              </a:rPr>
              <a:t>Kₑ = Tᵀ kₑ T</a:t>
            </a:r>
          </a:p>
        </p:txBody>
      </p:sp>
      <p:sp>
        <p:nvSpPr>
          <p:cNvPr id="86" name="释放恢复">
            <a:extLst xmlns:a="http://schemas.openxmlformats.org/drawingml/2006/main">
              <a:ext uri="{FF2B5EF4-FFF2-40B4-BE49-F238E27FC236}">
                <a16:creationId xmlns:a16="http://schemas.microsoft.com/office/drawing/2014/main" id="{579DAC13-C3B3-42F9-85E4-B605F55B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29125"/>
            <a:ext cx="773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00" b="0">
                <a:solidFill>
                  <a:srgbClr val="171D2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700" b="0">
                <a:solidFill>
                  <a:srgbClr val="171D26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171D26"/>
                </a:solidFill>
                <a:latin typeface="微软雅黑"/>
                <a:ea typeface="微软雅黑"/>
                <a:cs typeface="微软雅黑"/>
              </a:rPr>
              <a:t>杆端释放：静力凝聚及恢复；约束：给定位移处理</a:t>
            </a:r>
          </a:p>
        </p:txBody>
      </p:sp>
      <p:sp>
        <p:nvSpPr>
          <p:cNvPr id="87" name="梁分支">
            <a:extLst xmlns:a="http://schemas.openxmlformats.org/drawingml/2006/main">
              <a:ext uri="{FF2B5EF4-FFF2-40B4-BE49-F238E27FC236}">
                <a16:creationId xmlns:a16="http://schemas.microsoft.com/office/drawing/2014/main" id="{09BA1BDC-BD93-4574-B622-CD86476B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52975"/>
            <a:ext cx="773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6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Euler–Bernoulli：不计剪切；Timoshenko：Ay / Az &gt; 0 的对应平面计入剪切</a:t>
            </a:r>
          </a:p>
        </p:txBody>
      </p:sp>
      <p:sp>
        <p:nvSpPr>
          <p:cNvPr id="88" name="输出">
            <a:extLst xmlns:a="http://schemas.openxmlformats.org/drawingml/2006/main">
              <a:ext uri="{FF2B5EF4-FFF2-40B4-BE49-F238E27FC236}">
                <a16:creationId xmlns:a16="http://schemas.microsoft.com/office/drawing/2014/main" id="{6D6BC7FA-F3B3-42CF-8D35-D6646BEF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1277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位移、反力与内力由工具计算 → 平衡校核 → 记录模型版本与工况</a:t>
            </a:r>
          </a:p>
        </p:txBody>
      </p:sp>
      <p:sp>
        <p:nvSpPr>
          <p:cNvPr id="89" name="开发协作">
            <a:extLst xmlns:a="http://schemas.openxmlformats.org/drawingml/2006/main">
              <a:ext uri="{FF2B5EF4-FFF2-40B4-BE49-F238E27FC236}">
                <a16:creationId xmlns:a16="http://schemas.microsoft.com/office/drawing/2014/main" id="{ECAF9291-D300-40FB-8FE9-B3B77496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23717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90" name="开发协作文字">
            <a:extLst xmlns:a="http://schemas.openxmlformats.org/drawingml/2006/main">
              <a:ext uri="{FF2B5EF4-FFF2-40B4-BE49-F238E27FC236}">
                <a16:creationId xmlns:a16="http://schemas.microsoft.com/office/drawing/2014/main" id="{990C5B64-1DB9-4A45-988E-0B7FBA60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2219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开发中的人机协作</a:t>
            </a:r>
          </a:p>
        </p:txBody>
      </p:sp>
      <p:sp>
        <p:nvSpPr>
          <p:cNvPr id="91" name="研究者">
            <a:extLst xmlns:a="http://schemas.openxmlformats.org/drawingml/2006/main">
              <a:ext uri="{FF2B5EF4-FFF2-40B4-BE49-F238E27FC236}">
                <a16:creationId xmlns:a16="http://schemas.microsoft.com/office/drawing/2014/main" id="{D6CB4F19-2EAC-496C-83CB-98227C40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5657850"/>
            <a:ext cx="24955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92" name="研究者文字">
            <a:extLst xmlns:a="http://schemas.openxmlformats.org/drawingml/2006/main">
              <a:ext uri="{FF2B5EF4-FFF2-40B4-BE49-F238E27FC236}">
                <a16:creationId xmlns:a16="http://schemas.microsoft.com/office/drawing/2014/main" id="{ED59A97D-0ACE-48DA-AA59-28050A6B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705475"/>
            <a:ext cx="2266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研究者：力学假设</a:t>
            </a:r>
          </a:p>
          <a:p xmlns:a="http://schemas.openxmlformats.org/drawingml/2006/main">
            <a:pPr algn="ctr">
              <a:buNone/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功能需求与验收标准</a:t>
            </a:r>
          </a:p>
        </p:txBody>
      </p:sp>
      <p:sp>
        <p:nvSpPr>
          <p:cNvPr id="93" name="AI开发">
            <a:extLst xmlns:a="http://schemas.openxmlformats.org/drawingml/2006/main">
              <a:ext uri="{FF2B5EF4-FFF2-40B4-BE49-F238E27FC236}">
                <a16:creationId xmlns:a16="http://schemas.microsoft.com/office/drawing/2014/main" id="{EAB1D34A-8EB5-4240-BA60-8A7CFCF4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657850"/>
            <a:ext cx="26955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94" name="AI开发文字">
            <a:extLst xmlns:a="http://schemas.openxmlformats.org/drawingml/2006/main">
              <a:ext uri="{FF2B5EF4-FFF2-40B4-BE49-F238E27FC236}">
                <a16:creationId xmlns:a16="http://schemas.microsoft.com/office/drawing/2014/main" id="{03088039-024D-40E5-B573-7EAE899B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705475"/>
            <a:ext cx="24669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AI辅助：代码与缺陷定位</a:t>
            </a:r>
          </a:p>
          <a:p xmlns:a="http://schemas.openxmlformats.org/drawingml/2006/main">
            <a:pPr algn="ctr">
              <a:buNone/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回归维护、文档整理</a:t>
            </a:r>
          </a:p>
        </p:txBody>
      </p:sp>
      <p:sp>
        <p:nvSpPr>
          <p:cNvPr id="95" name="开发验收">
            <a:extLst xmlns:a="http://schemas.openxmlformats.org/drawingml/2006/main">
              <a:ext uri="{FF2B5EF4-FFF2-40B4-BE49-F238E27FC236}">
                <a16:creationId xmlns:a16="http://schemas.microsoft.com/office/drawing/2014/main" id="{9694CC88-506C-40FC-A5FF-2DD184AE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657850"/>
            <a:ext cx="26574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96" name="开发验收文字">
            <a:extLst xmlns:a="http://schemas.openxmlformats.org/drawingml/2006/main">
              <a:ext uri="{FF2B5EF4-FFF2-40B4-BE49-F238E27FC236}">
                <a16:creationId xmlns:a16="http://schemas.microsoft.com/office/drawing/2014/main" id="{8618366A-D492-4A7A-B076-F7893F6A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705475"/>
            <a:ext cx="2428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理论算例 / 独立复算</a:t>
            </a:r>
          </a:p>
          <a:p xmlns:a="http://schemas.openxmlformats.org/drawingml/2006/main">
            <a:pPr algn="ctr">
              <a:buNone/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及对标复核</a:t>
            </a:r>
          </a:p>
        </p:txBody>
      </p:sp>
      <p:sp>
        <p:nvSpPr>
          <p:cNvPr id="97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D2D75B11-6391-4FD8-98F2-74F321FE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857875"/>
            <a:ext cx="219075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98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CEF6F1BD-7722-4DDB-AD65-11EB758D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857875"/>
            <a:ext cx="219075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99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00730DA3-C304-4E0E-8402-319252D6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857875"/>
            <a:ext cx="219075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</p:spTree>
    <p:extLst>
      <p:ext uri="{BB962C8B-B14F-4D97-AF65-F5344CB8AC3E}">
        <p14:creationId xmlns:p14="http://schemas.microsoft.com/office/powerpoint/2010/main" val="179811308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4">
            <a:extLst xmlns:a="http://schemas.openxmlformats.org/drawingml/2006/main"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80"/>
          </a:p>
        </p:txBody>
      </p:sp>
      <p:pic>
        <p:nvPicPr>
          <p:cNvPr id="32" name="Picture 2">
            <a:extLst xmlns:a="http://schemas.openxmlformats.org/drawingml/2006/main">
              <a:ext uri="{FF2B5EF4-FFF2-40B4-BE49-F238E27FC236}">
                <a16:creationId xmlns:a16="http://schemas.microsoft.com/office/drawing/2014/main" id="{F055CB6C-4E62-48D5-9DBE-6120221028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c13b7b8bcd403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419" y="99849"/>
            <a:ext cx="2203824" cy="5752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E55C91D3-CE16-4DA1-B77E-1C07CB17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0500"/>
            <a:ext cx="872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3  已完成工作与实现规模</a:t>
            </a:r>
          </a:p>
        </p:txBody>
      </p:sp>
      <p:sp>
        <p:nvSpPr>
          <p:cNvPr id="34" name="资料来源">
            <a:extLst xmlns:a="http://schemas.openxmlformats.org/drawingml/2006/main">
              <a:ext uri="{FF2B5EF4-FFF2-40B4-BE49-F238E27FC236}">
                <a16:creationId xmlns:a16="http://schemas.microsoft.com/office/drawing/2014/main" id="{ABDD99B3-A77C-44C3-8A4F-1E2C35F1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344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rPr>
              <a:t>截至2026-10-10；最近完整回归2837通过、1按环境跳过；此后仅增量验证（来源：报告、回归记录）</a:t>
            </a:r>
          </a:p>
        </p:txBody>
      </p:sp>
      <p:sp>
        <p:nvSpPr>
          <p:cNvPr id="35" name="页码">
            <a:extLst xmlns:a="http://schemas.openxmlformats.org/drawingml/2006/main">
              <a:ext uri="{FF2B5EF4-FFF2-40B4-BE49-F238E27FC236}">
                <a16:creationId xmlns:a16="http://schemas.microsoft.com/office/drawing/2014/main" id="{CA4DBE3A-CB5E-4DDD-8CE3-9DB5FD92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buNone/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36" name="模块主题">
            <a:extLst xmlns:a="http://schemas.openxmlformats.org/drawingml/2006/main">
              <a:ext uri="{FF2B5EF4-FFF2-40B4-BE49-F238E27FC236}">
                <a16:creationId xmlns:a16="http://schemas.microsoft.com/office/drawing/2014/main" id="{6EF08781-9F69-4E0B-BBF5-98EE4725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6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6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已完成的模块与可运行主流程</a:t>
            </a:r>
          </a:p>
        </p:txBody>
      </p:sp>
      <p:sp>
        <p:nvSpPr>
          <p:cNvPr id="37" name="功能模块">
            <a:extLst xmlns:a="http://schemas.openxmlformats.org/drawingml/2006/main">
              <a:ext uri="{FF2B5EF4-FFF2-40B4-BE49-F238E27FC236}">
                <a16:creationId xmlns:a16="http://schemas.microsoft.com/office/drawing/2014/main" id="{78E9320B-78A6-4E48-BB17-1DC1474C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62125"/>
            <a:ext cx="4800600" cy="2867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92858"/>
            </a:solidFill>
            <a:prstDash val="dash"/>
          </a:ln>
        </p:spPr>
      </p:sp>
      <p:sp>
        <p:nvSpPr>
          <p:cNvPr id="38" name="功能模块标签">
            <a:extLst xmlns:a="http://schemas.openxmlformats.org/drawingml/2006/main">
              <a:ext uri="{FF2B5EF4-FFF2-40B4-BE49-F238E27FC236}">
                <a16:creationId xmlns:a16="http://schemas.microsoft.com/office/drawing/2014/main" id="{D6C965B9-680E-4AC0-928D-CD695DB1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13239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39" name="功能模块标签文字">
            <a:extLst xmlns:a="http://schemas.openxmlformats.org/drawingml/2006/main">
              <a:ext uri="{FF2B5EF4-FFF2-40B4-BE49-F238E27FC236}">
                <a16:creationId xmlns:a16="http://schemas.microsoft.com/office/drawing/2014/main" id="{65143072-A3AA-4EBA-BC7D-7DC8B652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171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开发模块</a:t>
            </a:r>
          </a:p>
        </p:txBody>
      </p:sp>
      <p:sp>
        <p:nvSpPr>
          <p:cNvPr id="40" name="模块0">
            <a:extLst xmlns:a="http://schemas.openxmlformats.org/drawingml/2006/main">
              <a:ext uri="{FF2B5EF4-FFF2-40B4-BE49-F238E27FC236}">
                <a16:creationId xmlns:a16="http://schemas.microsoft.com/office/drawing/2014/main" id="{F4D4864C-2BD2-4CDD-8B04-542581C0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66925"/>
            <a:ext cx="2133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41" name="模块0文字">
            <a:extLst xmlns:a="http://schemas.openxmlformats.org/drawingml/2006/main">
              <a:ext uri="{FF2B5EF4-FFF2-40B4-BE49-F238E27FC236}">
                <a16:creationId xmlns:a16="http://schemas.microsoft.com/office/drawing/2014/main" id="{EC5C5DD3-6FAD-4CD2-A8C7-A9341470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05025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 工具接口</a:t>
            </a:r>
          </a:p>
        </p:txBody>
      </p:sp>
      <p:sp>
        <p:nvSpPr>
          <p:cNvPr id="42" name="职责0">
            <a:extLst xmlns:a="http://schemas.openxmlformats.org/drawingml/2006/main">
              <a:ext uri="{FF2B5EF4-FFF2-40B4-BE49-F238E27FC236}">
                <a16:creationId xmlns:a16="http://schemas.microsoft.com/office/drawing/2014/main" id="{FECD9AF0-791F-4948-B47C-2810367B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066925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43" name="职责0文字">
            <a:extLst xmlns:a="http://schemas.openxmlformats.org/drawingml/2006/main">
              <a:ext uri="{FF2B5EF4-FFF2-40B4-BE49-F238E27FC236}">
                <a16:creationId xmlns:a16="http://schemas.microsoft.com/office/drawing/2014/main" id="{D7CB67B2-740F-465A-9F9B-C9EA1799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1145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7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意图与工具组织</a:t>
            </a:r>
          </a:p>
        </p:txBody>
      </p:sp>
      <p:sp>
        <p:nvSpPr>
          <p:cNvPr id="44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2B8F6649-B81D-48B1-83FB-734F8A8D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09800"/>
            <a:ext cx="2095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45" name="模块1">
            <a:extLst xmlns:a="http://schemas.openxmlformats.org/drawingml/2006/main">
              <a:ext uri="{FF2B5EF4-FFF2-40B4-BE49-F238E27FC236}">
                <a16:creationId xmlns:a16="http://schemas.microsoft.com/office/drawing/2014/main" id="{AA6B90A3-1AF9-47CB-943A-A1DE60FA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76525"/>
            <a:ext cx="2133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46" name="模块1文字">
            <a:extLst xmlns:a="http://schemas.openxmlformats.org/drawingml/2006/main">
              <a:ext uri="{FF2B5EF4-FFF2-40B4-BE49-F238E27FC236}">
                <a16:creationId xmlns:a16="http://schemas.microsoft.com/office/drawing/2014/main" id="{F4911567-A64D-4E74-8136-FA6175AA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14625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模型与结果管理</a:t>
            </a:r>
          </a:p>
        </p:txBody>
      </p:sp>
      <p:sp>
        <p:nvSpPr>
          <p:cNvPr id="47" name="职责1">
            <a:extLst xmlns:a="http://schemas.openxmlformats.org/drawingml/2006/main">
              <a:ext uri="{FF2B5EF4-FFF2-40B4-BE49-F238E27FC236}">
                <a16:creationId xmlns:a16="http://schemas.microsoft.com/office/drawing/2014/main" id="{D9101FF5-DC50-4491-B242-924866BB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676525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48" name="职责1文字">
            <a:extLst xmlns:a="http://schemas.openxmlformats.org/drawingml/2006/main">
              <a:ext uri="{FF2B5EF4-FFF2-40B4-BE49-F238E27FC236}">
                <a16:creationId xmlns:a16="http://schemas.microsoft.com/office/drawing/2014/main" id="{D5892A8B-5FCA-4B5A-9B76-955E6D54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7241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7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版本 / 工况 / 保存</a:t>
            </a:r>
          </a:p>
        </p:txBody>
      </p:sp>
      <p:sp>
        <p:nvSpPr>
          <p:cNvPr id="49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BF3C27A6-EBFB-419E-A096-A9BCE077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19400"/>
            <a:ext cx="2095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50" name="模块2">
            <a:extLst xmlns:a="http://schemas.openxmlformats.org/drawingml/2006/main">
              <a:ext uri="{FF2B5EF4-FFF2-40B4-BE49-F238E27FC236}">
                <a16:creationId xmlns:a16="http://schemas.microsoft.com/office/drawing/2014/main" id="{A5D154CB-01BF-4A3D-8D5D-A86C5EF5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86125"/>
            <a:ext cx="2133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51" name="模块2文字">
            <a:extLst xmlns:a="http://schemas.openxmlformats.org/drawingml/2006/main">
              <a:ext uri="{FF2B5EF4-FFF2-40B4-BE49-F238E27FC236}">
                <a16:creationId xmlns:a16="http://schemas.microsoft.com/office/drawing/2014/main" id="{F44042C0-BD7F-4852-B388-3801907F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24225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力学计算内核</a:t>
            </a:r>
          </a:p>
        </p:txBody>
      </p:sp>
      <p:sp>
        <p:nvSpPr>
          <p:cNvPr id="52" name="职责2">
            <a:extLst xmlns:a="http://schemas.openxmlformats.org/drawingml/2006/main">
              <a:ext uri="{FF2B5EF4-FFF2-40B4-BE49-F238E27FC236}">
                <a16:creationId xmlns:a16="http://schemas.microsoft.com/office/drawing/2014/main" id="{569DE009-69F0-4A9F-B0AA-F6BA132B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286125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53" name="职责2文字">
            <a:extLst xmlns:a="http://schemas.openxmlformats.org/drawingml/2006/main">
              <a:ext uri="{FF2B5EF4-FFF2-40B4-BE49-F238E27FC236}">
                <a16:creationId xmlns:a16="http://schemas.microsoft.com/office/drawing/2014/main" id="{5F93F1BF-F45C-4AF6-8CB2-DE43EE80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3337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7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编译 / 求解 / 验算</a:t>
            </a:r>
          </a:p>
        </p:txBody>
      </p:sp>
      <p:sp>
        <p:nvSpPr>
          <p:cNvPr id="54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EA993E74-5DF5-4847-BC63-37BA492C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29000"/>
            <a:ext cx="2095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55" name="模块3">
            <a:extLst xmlns:a="http://schemas.openxmlformats.org/drawingml/2006/main">
              <a:ext uri="{FF2B5EF4-FFF2-40B4-BE49-F238E27FC236}">
                <a16:creationId xmlns:a16="http://schemas.microsoft.com/office/drawing/2014/main" id="{C4E7024F-2C30-4FC4-AE53-2AEC0AEE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95725"/>
            <a:ext cx="2133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56" name="模块3文字">
            <a:extLst xmlns:a="http://schemas.openxmlformats.org/drawingml/2006/main">
              <a:ext uri="{FF2B5EF4-FFF2-40B4-BE49-F238E27FC236}">
                <a16:creationId xmlns:a16="http://schemas.microsoft.com/office/drawing/2014/main" id="{FCC05874-99CA-4C5E-A5CE-157BCD36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33825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桌面交互与报告</a:t>
            </a:r>
          </a:p>
        </p:txBody>
      </p:sp>
      <p:sp>
        <p:nvSpPr>
          <p:cNvPr id="57" name="职责3">
            <a:extLst xmlns:a="http://schemas.openxmlformats.org/drawingml/2006/main">
              <a:ext uri="{FF2B5EF4-FFF2-40B4-BE49-F238E27FC236}">
                <a16:creationId xmlns:a16="http://schemas.microsoft.com/office/drawing/2014/main" id="{B8DC66C0-BD64-4789-A1AF-925A0699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895725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58" name="职责3文字">
            <a:extLst xmlns:a="http://schemas.openxmlformats.org/drawingml/2006/main">
              <a:ext uri="{FF2B5EF4-FFF2-40B4-BE49-F238E27FC236}">
                <a16:creationId xmlns:a16="http://schemas.microsoft.com/office/drawing/2014/main" id="{D5F51FC0-F8E9-4D70-935C-4222A28B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9433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7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视口 / 查询 / 报告</a:t>
            </a:r>
          </a:p>
        </p:txBody>
      </p:sp>
      <p:sp>
        <p:nvSpPr>
          <p:cNvPr id="59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A548620E-5A39-495B-917A-A4D0B69D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038600"/>
            <a:ext cx="2095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pic>
        <p:nvPic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8447EFB-1077-4271-A855-69C7B72A02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216b1264e94c48"/>
          <a:stretch xmlns:a="http://schemas.openxmlformats.org/drawingml/2006/main"/>
        </p:blipFill>
        <p:spPr>
          <a:xfrm xmlns:a="http://schemas.openxmlformats.org/drawingml/2006/main">
            <a:off x="5553604" y="1847850"/>
            <a:ext cx="6180667" cy="3476625"/>
          </a:xfrm>
          <a:prstGeom xmlns:a="http://schemas.openxmlformats.org/drawingml/2006/main" prst="rect">
            <a:avLst/>
          </a:prstGeom>
        </p:spPr>
      </p:pic>
      <p:sp>
        <p:nvSpPr>
          <p:cNvPr id="61" name="截图标题">
            <a:extLst xmlns:a="http://schemas.openxmlformats.org/drawingml/2006/main">
              <a:ext uri="{FF2B5EF4-FFF2-40B4-BE49-F238E27FC236}">
                <a16:creationId xmlns:a16="http://schemas.microsoft.com/office/drawing/2014/main" id="{7031E830-C9C2-46D5-A409-4BFE0CB8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5562600"/>
            <a:ext cx="6181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真实屋盖模型：239节点、622杆件</a:t>
            </a:r>
          </a:p>
        </p:txBody>
      </p:sp>
      <p:sp>
        <p:nvSpPr>
          <p:cNvPr id="62" name="实验能力">
            <a:extLst xmlns:a="http://schemas.openxmlformats.org/drawingml/2006/main">
              <a:ext uri="{FF2B5EF4-FFF2-40B4-BE49-F238E27FC236}">
                <a16:creationId xmlns:a16="http://schemas.microsoft.com/office/drawing/2014/main" id="{A326E8CF-68B4-44AD-8ED6-11077008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0125"/>
            <a:ext cx="4800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63" name="实验能力文字">
            <a:extLst xmlns:a="http://schemas.openxmlformats.org/drawingml/2006/main">
              <a:ext uri="{FF2B5EF4-FFF2-40B4-BE49-F238E27FC236}">
                <a16:creationId xmlns:a16="http://schemas.microsoft.com/office/drawing/2014/main" id="{F7131013-DCD5-425D-9CA7-943C2650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多模态审核 / 局部实体：阶段性扩展</a:t>
            </a:r>
          </a:p>
        </p:txBody>
      </p:sp>
      <p:sp>
        <p:nvSpPr>
          <p:cNvPr id="64" name="验证模块">
            <a:extLst xmlns:a="http://schemas.openxmlformats.org/drawingml/2006/main">
              <a:ext uri="{FF2B5EF4-FFF2-40B4-BE49-F238E27FC236}">
                <a16:creationId xmlns:a16="http://schemas.microsoft.com/office/drawing/2014/main" id="{6BDFFAF4-5103-4134-873E-220A8073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38775"/>
            <a:ext cx="4800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验证体系：解析基准、自动回归与独立对标</a:t>
            </a:r>
          </a:p>
        </p:txBody>
      </p:sp>
      <p:sp>
        <p:nvSpPr>
          <p:cNvPr id="65" name="指标数字0">
            <a:extLst xmlns:a="http://schemas.openxmlformats.org/drawingml/2006/main">
              <a:ext uri="{FF2B5EF4-FFF2-40B4-BE49-F238E27FC236}">
                <a16:creationId xmlns:a16="http://schemas.microsoft.com/office/drawing/2014/main" id="{904351B4-11A0-4717-B67A-481323F6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009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2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240</a:t>
            </a:r>
          </a:p>
        </p:txBody>
      </p:sp>
      <p:sp>
        <p:nvSpPr>
          <p:cNvPr id="66" name="指标含义0">
            <a:extLst xmlns:a="http://schemas.openxmlformats.org/drawingml/2006/main">
              <a:ext uri="{FF2B5EF4-FFF2-40B4-BE49-F238E27FC236}">
                <a16:creationId xmlns:a16="http://schemas.microsoft.com/office/drawing/2014/main" id="{7F64B24E-54F0-4889-AE88-3A2FEE28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6010275"/>
            <a:ext cx="1743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Python文件</a:t>
            </a:r>
          </a:p>
        </p:txBody>
      </p:sp>
      <p:sp>
        <p:nvSpPr>
          <p:cNvPr id="67" name="指标数字1">
            <a:extLst xmlns:a="http://schemas.openxmlformats.org/drawingml/2006/main">
              <a:ext uri="{FF2B5EF4-FFF2-40B4-BE49-F238E27FC236}">
                <a16:creationId xmlns:a16="http://schemas.microsoft.com/office/drawing/2014/main" id="{3F623A64-8611-4583-97C7-2452AAE7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953125"/>
            <a:ext cx="1009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2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63</a:t>
            </a:r>
          </a:p>
        </p:txBody>
      </p:sp>
      <p:sp>
        <p:nvSpPr>
          <p:cNvPr id="68" name="指标含义1">
            <a:extLst xmlns:a="http://schemas.openxmlformats.org/drawingml/2006/main">
              <a:ext uri="{FF2B5EF4-FFF2-40B4-BE49-F238E27FC236}">
                <a16:creationId xmlns:a16="http://schemas.microsoft.com/office/drawing/2014/main" id="{5672D19E-02FC-48B3-A979-ECF2FD59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6010275"/>
            <a:ext cx="1743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注册工具</a:t>
            </a:r>
          </a:p>
        </p:txBody>
      </p:sp>
      <p:sp>
        <p:nvSpPr>
          <p:cNvPr id="69" name="指标数字2">
            <a:extLst xmlns:a="http://schemas.openxmlformats.org/drawingml/2006/main">
              <a:ext uri="{FF2B5EF4-FFF2-40B4-BE49-F238E27FC236}">
                <a16:creationId xmlns:a16="http://schemas.microsoft.com/office/drawing/2014/main" id="{6CD9EFFF-6F60-49B6-B55F-B7F97002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953125"/>
            <a:ext cx="1009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2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70" name="指标含义2">
            <a:extLst xmlns:a="http://schemas.openxmlformats.org/drawingml/2006/main">
              <a:ext uri="{FF2B5EF4-FFF2-40B4-BE49-F238E27FC236}">
                <a16:creationId xmlns:a16="http://schemas.microsoft.com/office/drawing/2014/main" id="{7EAC6D63-2C24-4E7F-9F34-EFE175A5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6010275"/>
            <a:ext cx="1743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解析金标准</a:t>
            </a:r>
          </a:p>
        </p:txBody>
      </p:sp>
      <p:sp>
        <p:nvSpPr>
          <p:cNvPr id="71" name="指标数字3">
            <a:extLst xmlns:a="http://schemas.openxmlformats.org/drawingml/2006/main">
              <a:ext uri="{FF2B5EF4-FFF2-40B4-BE49-F238E27FC236}">
                <a16:creationId xmlns:a16="http://schemas.microsoft.com/office/drawing/2014/main" id="{2DB5A113-1295-4B6C-BCD0-612C8957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953125"/>
            <a:ext cx="1009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2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2837</a:t>
            </a:r>
          </a:p>
        </p:txBody>
      </p:sp>
      <p:sp>
        <p:nvSpPr>
          <p:cNvPr id="72" name="指标含义3">
            <a:extLst xmlns:a="http://schemas.openxmlformats.org/drawingml/2006/main">
              <a:ext uri="{FF2B5EF4-FFF2-40B4-BE49-F238E27FC236}">
                <a16:creationId xmlns:a16="http://schemas.microsoft.com/office/drawing/2014/main" id="{3EB95C3B-FC10-49B2-9BA2-0A3B4FE2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6010275"/>
            <a:ext cx="1743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6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通过 / 1项跳过</a:t>
            </a:r>
          </a:p>
        </p:txBody>
      </p:sp>
    </p:spTree>
    <p:extLst>
      <p:ext uri="{BB962C8B-B14F-4D97-AF65-F5344CB8AC3E}">
        <p14:creationId xmlns:p14="http://schemas.microsoft.com/office/powerpoint/2010/main" val="179811308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4">
            <a:extLst xmlns:a="http://schemas.openxmlformats.org/drawingml/2006/main"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80"/>
          </a:p>
        </p:txBody>
      </p:sp>
      <p:pic>
        <p:nvPicPr>
          <p:cNvPr id="32" name="Picture 2">
            <a:extLst xmlns:a="http://schemas.openxmlformats.org/drawingml/2006/main">
              <a:ext uri="{FF2B5EF4-FFF2-40B4-BE49-F238E27FC236}">
                <a16:creationId xmlns:a16="http://schemas.microsoft.com/office/drawing/2014/main" id="{3259B4A3-65A8-4B2D-9DFB-8120668045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9b015057b048d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419" y="99849"/>
            <a:ext cx="2203824" cy="5752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9FC6FAAA-CE0B-4352-8D5B-514F6C2C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0500"/>
            <a:ext cx="872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3  阶段成果：复杂拱形网格屋盖</a:t>
            </a:r>
          </a:p>
        </p:txBody>
      </p:sp>
      <p:sp>
        <p:nvSpPr>
          <p:cNvPr id="34" name="资料来源">
            <a:extLst xmlns:a="http://schemas.openxmlformats.org/drawingml/2006/main">
              <a:ext uri="{FF2B5EF4-FFF2-40B4-BE49-F238E27FC236}">
                <a16:creationId xmlns:a16="http://schemas.microsoft.com/office/drawing/2014/main" id="{BCFC2C2E-59DF-4F71-8F87-1412F4D1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344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rPr>
              <a:t>来源：拱形网格屋盖例题.md 与参考结果.json；软件截图为初设记录，柱图保留原始数据</a:t>
            </a:r>
          </a:p>
        </p:txBody>
      </p:sp>
      <p:sp>
        <p:nvSpPr>
          <p:cNvPr id="35" name="页码">
            <a:extLst xmlns:a="http://schemas.openxmlformats.org/drawingml/2006/main">
              <a:ext uri="{FF2B5EF4-FFF2-40B4-BE49-F238E27FC236}">
                <a16:creationId xmlns:a16="http://schemas.microsoft.com/office/drawing/2014/main" id="{C29FC25B-41A7-4C78-91C5-54C000DB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buNone/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36" name="屋盖问题">
            <a:extLst xmlns:a="http://schemas.openxmlformats.org/drawingml/2006/main">
              <a:ext uri="{FF2B5EF4-FFF2-40B4-BE49-F238E27FC236}">
                <a16:creationId xmlns:a16="http://schemas.microsoft.com/office/drawing/2014/main" id="{24B699B0-7B01-43AB-A3EC-EC5F11A8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1277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6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6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同一屋盖的截面调整：响应改善与自重代价</a:t>
            </a:r>
          </a:p>
        </p:txBody>
      </p:sp>
      <p:sp>
        <p:nvSpPr>
          <p:cNvPr id="37" name="屋盖对象">
            <a:extLst xmlns:a="http://schemas.openxmlformats.org/drawingml/2006/main">
              <a:ext uri="{FF2B5EF4-FFF2-40B4-BE49-F238E27FC236}">
                <a16:creationId xmlns:a16="http://schemas.microsoft.com/office/drawing/2014/main" id="{01D32341-7616-4DF6-B09E-FA1FADBE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28775"/>
            <a:ext cx="6105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38" name="屋盖对象文字">
            <a:extLst xmlns:a="http://schemas.openxmlformats.org/drawingml/2006/main">
              <a:ext uri="{FF2B5EF4-FFF2-40B4-BE49-F238E27FC236}">
                <a16:creationId xmlns:a16="http://schemas.microsoft.com/office/drawing/2014/main" id="{E686772A-E5AB-4279-8C9E-FD0831D5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66875"/>
            <a:ext cx="595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239 节点 / 622 杆件</a:t>
            </a:r>
          </a:p>
        </p:txBody>
      </p:sp>
      <p:sp>
        <p:nvSpPr>
          <p:cNvPr id="39" name="屋盖条件">
            <a:extLst xmlns:a="http://schemas.openxmlformats.org/drawingml/2006/main">
              <a:ext uri="{FF2B5EF4-FFF2-40B4-BE49-F238E27FC236}">
                <a16:creationId xmlns:a16="http://schemas.microsoft.com/office/drawing/2014/main" id="{7C6EF853-E208-4135-9B09-4B1ED3EE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24075"/>
            <a:ext cx="61055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24 m × 36 m；18固定支座；5工况、5组合</a:t>
            </a:r>
          </a:p>
        </p:txBody>
      </p:sp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BCE747-1B5A-460B-A1FA-0756104D9C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f27eed051340c8"/>
          <a:srcRect xmlns:a="http://schemas.openxmlformats.org/drawingml/2006/main" l="4500" t="18500" r="4500" b="6500"/>
          <a:stretch xmlns:a="http://schemas.openxmlformats.org/drawingml/2006/main"/>
        </p:blipFill>
        <p:spPr>
          <a:xfrm xmlns:a="http://schemas.openxmlformats.org/drawingml/2006/main">
            <a:off x="457200" y="2857500"/>
            <a:ext cx="6105525" cy="2828925"/>
          </a:xfrm>
          <a:prstGeom xmlns:a="http://schemas.openxmlformats.org/drawingml/2006/main" prst="rect">
            <a:avLst/>
          </a:prstGeom>
        </p:spPr>
      </p:pic>
      <p:sp>
        <p:nvSpPr>
          <p:cNvPr id="41" name="模型图注">
            <a:extLst xmlns:a="http://schemas.openxmlformats.org/drawingml/2006/main">
              <a:ext uri="{FF2B5EF4-FFF2-40B4-BE49-F238E27FC236}">
                <a16:creationId xmlns:a16="http://schemas.microsoft.com/office/drawing/2014/main" id="{13386C98-F28E-4598-8320-4569B281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9775"/>
            <a:ext cx="6105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初设应力比：3根杆件超限；色标无量纲</a:t>
            </a:r>
          </a:p>
        </p:txBody>
      </p:sp>
      <p:sp>
        <p:nvSpPr>
          <p:cNvPr id="42" name="结果条件">
            <a:extLst xmlns:a="http://schemas.openxmlformats.org/drawingml/2006/main">
              <a:ext uri="{FF2B5EF4-FFF2-40B4-BE49-F238E27FC236}">
                <a16:creationId xmlns:a16="http://schemas.microsoft.com/office/drawing/2014/main" id="{1B3B8DA6-E4F3-4A7F-98C8-7432B85B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6105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00" b="0">
                <a:solidFill>
                  <a:srgbClr val="171D2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600" b="0">
                <a:solidFill>
                  <a:srgbClr val="171D26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>
                <a:solidFill>
                  <a:srgbClr val="171D26"/>
                </a:solidFill>
                <a:latin typeface="微软雅黑"/>
                <a:ea typeface="微软雅黑"/>
                <a:cs typeface="微软雅黑"/>
              </a:rPr>
              <a:t>ULS-GW组合；调整后响应见右侧求解对比</a:t>
            </a:r>
          </a:p>
        </p:txBody>
      </p:sp>
      <p:graphicFrame>
        <p:nvGraphicFramePr>
          <p:cNvPr id="43" name="Chart">
            <a:extLst xmlns:a="http://schemas.openxmlformats.org/drawingml/2006/main">
              <a:ext uri="{FF2B5EF4-FFF2-40B4-BE49-F238E27FC236}">
                <a16:creationId xmlns:a16="http://schemas.microsoft.com/office/drawing/2014/main" id="{D2282FEF-B290-4F44-9F15-466C245E8DBF}"/>
              </a:ext>
            </a:extLst>
          </p:cNvPr>
          <p:cNvGraphicFramePr/>
          <p:nvPr/>
        </p:nvGraphicFramePr>
        <p:xfrm>
          <a:off xmlns:a="http://schemas.openxmlformats.org/drawingml/2006/main" x="6915150" y="1685925"/>
          <a:ext xmlns:a="http://schemas.openxmlformats.org/drawingml/2006/main" cx="4819650" cy="3105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20591d8576348f0"/>
          </a:graphicData>
        </a:graphic>
      </p:graphicFrame>
      <p:sp>
        <p:nvSpPr>
          <p:cNvPr id="44" name="截面调整">
            <a:extLst xmlns:a="http://schemas.openxmlformats.org/drawingml/2006/main">
              <a:ext uri="{FF2B5EF4-FFF2-40B4-BE49-F238E27FC236}">
                <a16:creationId xmlns:a16="http://schemas.microsoft.com/office/drawing/2014/main" id="{806C175E-E7A4-495A-9121-0E26F46E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76800"/>
            <a:ext cx="46482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45" name="截面调整文字">
            <a:extLst xmlns:a="http://schemas.openxmlformats.org/drawingml/2006/main">
              <a:ext uri="{FF2B5EF4-FFF2-40B4-BE49-F238E27FC236}">
                <a16:creationId xmlns:a16="http://schemas.microsoft.com/office/drawing/2014/main" id="{67124F52-6830-4043-8973-46560B74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924425"/>
            <a:ext cx="4419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拱杆：P219×8 → P273×10</a:t>
            </a:r>
          </a:p>
        </p:txBody>
      </p:sp>
      <p:sp>
        <p:nvSpPr>
          <p:cNvPr id="46" name="应力比">
            <a:extLst xmlns:a="http://schemas.openxmlformats.org/drawingml/2006/main">
              <a:ext uri="{FF2B5EF4-FFF2-40B4-BE49-F238E27FC236}">
                <a16:creationId xmlns:a16="http://schemas.microsoft.com/office/drawing/2014/main" id="{C3AE0694-BF42-40C6-9235-4E612469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410200"/>
            <a:ext cx="464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最大应力比：1.0116 → 0.8059</a:t>
            </a:r>
          </a:p>
        </p:txBody>
      </p:sp>
      <p:sp>
        <p:nvSpPr>
          <p:cNvPr id="47" name="自重代价">
            <a:extLst xmlns:a="http://schemas.openxmlformats.org/drawingml/2006/main">
              <a:ext uri="{FF2B5EF4-FFF2-40B4-BE49-F238E27FC236}">
                <a16:creationId xmlns:a16="http://schemas.microsoft.com/office/drawing/2014/main" id="{4F75BF4E-F051-45EF-8A2C-ED4062F1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819775"/>
            <a:ext cx="464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9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杆件自重：593.09 → 696.41 kN</a:t>
            </a:r>
          </a:p>
        </p:txBody>
      </p:sp>
    </p:spTree>
    <p:extLst>
      <p:ext uri="{BB962C8B-B14F-4D97-AF65-F5344CB8AC3E}">
        <p14:creationId xmlns:p14="http://schemas.microsoft.com/office/powerpoint/2010/main" val="17981130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4">
            <a:extLst xmlns:a="http://schemas.openxmlformats.org/drawingml/2006/main"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80"/>
          </a:p>
        </p:txBody>
      </p:sp>
      <p:pic>
        <p:nvPicPr>
          <p:cNvPr id="32" name="Picture 2">
            <a:extLst xmlns:a="http://schemas.openxmlformats.org/drawingml/2006/main">
              <a:ext uri="{FF2B5EF4-FFF2-40B4-BE49-F238E27FC236}">
                <a16:creationId xmlns:a16="http://schemas.microsoft.com/office/drawing/2014/main" id="{5E1ECAD9-8D97-4CFC-A2BB-418880F364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0da344a43b434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419" y="99849"/>
            <a:ext cx="2203824" cy="5752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24B4090C-3A0E-4C8B-BA14-EE268374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0500"/>
            <a:ext cx="872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3  实机演示：屋盖求解与节点位移</a:t>
            </a:r>
          </a:p>
        </p:txBody>
      </p:sp>
      <p:sp>
        <p:nvSpPr>
          <p:cNvPr id="34" name="模型核对">
            <a:extLst xmlns:a="http://schemas.openxmlformats.org/drawingml/2006/main">
              <a:ext uri="{FF2B5EF4-FFF2-40B4-BE49-F238E27FC236}">
                <a16:creationId xmlns:a16="http://schemas.microsoft.com/office/drawing/2014/main" id="{DFA0C92D-13D3-4E52-AD54-4795A1CB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32766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5C9"/>
            </a:solidFill>
          </a:ln>
        </p:spPr>
      </p:sp>
      <p:sp>
        <p:nvSpPr>
          <p:cNvPr id="35" name="模型核对文字">
            <a:extLst xmlns:a="http://schemas.openxmlformats.org/drawingml/2006/main">
              <a:ext uri="{FF2B5EF4-FFF2-40B4-BE49-F238E27FC236}">
                <a16:creationId xmlns:a16="http://schemas.microsoft.com/office/drawing/2014/main" id="{2794DD60-E565-45BF-B88F-783F645E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30861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1  观察模型（10秒）</a:t>
            </a:r>
          </a:p>
          <a:p xmlns:a="http://schemas.openxmlformats.org/drawingml/2006/main">
            <a: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239节点 / 622杆件</a:t>
            </a:r>
          </a:p>
        </p:txBody>
      </p:sp>
      <p:sp>
        <p:nvSpPr>
          <p:cNvPr id="36" name="操作顺序箭头">
            <a:extLst xmlns:a="http://schemas.openxmlformats.org/drawingml/2006/main">
              <a:ext uri="{FF2B5EF4-FFF2-40B4-BE49-F238E27FC236}">
                <a16:creationId xmlns:a16="http://schemas.microsoft.com/office/drawing/2014/main" id="{86F5A824-62E1-4204-BFD1-859DC4D4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371600"/>
            <a:ext cx="3619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37" name="现场求解">
            <a:extLst xmlns:a="http://schemas.openxmlformats.org/drawingml/2006/main">
              <a:ext uri="{FF2B5EF4-FFF2-40B4-BE49-F238E27FC236}">
                <a16:creationId xmlns:a16="http://schemas.microsoft.com/office/drawing/2014/main" id="{4A1310C5-493E-4D8E-A7EB-97813C6E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143000"/>
            <a:ext cx="31813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5C9"/>
            </a:solidFill>
          </a:ln>
        </p:spPr>
      </p:sp>
      <p:sp>
        <p:nvSpPr>
          <p:cNvPr id="38" name="现场求解文字">
            <a:extLst xmlns:a="http://schemas.openxmlformats.org/drawingml/2006/main">
              <a:ext uri="{FF2B5EF4-FFF2-40B4-BE49-F238E27FC236}">
                <a16:creationId xmlns:a16="http://schemas.microsoft.com/office/drawing/2014/main" id="{8CCA1389-9E98-44AB-BABE-D92F57B8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181100"/>
            <a:ext cx="29908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2  现场求解（15秒）</a:t>
            </a:r>
          </a:p>
          <a:p xmlns:a="http://schemas.openxmlformats.org/drawingml/2006/main">
            <a: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F5：确定性数值程序</a:t>
            </a:r>
          </a:p>
        </p:txBody>
      </p:sp>
      <p:sp>
        <p:nvSpPr>
          <p:cNvPr id="39" name="操作顺序箭头">
            <a:extLst xmlns:a="http://schemas.openxmlformats.org/drawingml/2006/main">
              <a:ext uri="{FF2B5EF4-FFF2-40B4-BE49-F238E27FC236}">
                <a16:creationId xmlns:a16="http://schemas.microsoft.com/office/drawing/2014/main" id="{A76BA561-9DA9-4F18-9F75-D4963CD3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371600"/>
            <a:ext cx="3619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40" name="真实读数">
            <a:extLst xmlns:a="http://schemas.openxmlformats.org/drawingml/2006/main">
              <a:ext uri="{FF2B5EF4-FFF2-40B4-BE49-F238E27FC236}">
                <a16:creationId xmlns:a16="http://schemas.microsoft.com/office/drawing/2014/main" id="{C36DEAA5-E5D0-4039-B846-AE4B587A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143000"/>
            <a:ext cx="34956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5C9"/>
            </a:solidFill>
          </a:ln>
        </p:spPr>
      </p:sp>
      <p:sp>
        <p:nvSpPr>
          <p:cNvPr id="41" name="真实读数文字">
            <a:extLst xmlns:a="http://schemas.openxmlformats.org/drawingml/2006/main">
              <a:ext uri="{FF2B5EF4-FFF2-40B4-BE49-F238E27FC236}">
                <a16:creationId xmlns:a16="http://schemas.microsoft.com/office/drawing/2014/main" id="{52AD7BE4-2A1A-447E-AC91-61BE8E8A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181100"/>
            <a:ext cx="33051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3  结果查询（35秒）</a:t>
            </a:r>
          </a:p>
          <a:p xmlns:a="http://schemas.openxmlformats.org/drawingml/2006/main">
            <a: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ULS-GW / 节点110</a:t>
            </a:r>
          </a:p>
        </p:txBody>
      </p:sp>
      <p:sp>
        <p:nvSpPr>
          <p:cNvPr id="42" name="模型图片说明">
            <a:extLst xmlns:a="http://schemas.openxmlformats.org/drawingml/2006/main">
              <a:ext uri="{FF2B5EF4-FFF2-40B4-BE49-F238E27FC236}">
                <a16:creationId xmlns:a16="http://schemas.microsoft.com/office/drawing/2014/main" id="{5B49E155-3D7E-4EED-81A9-CDF6BF97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695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实际软件：调整版屋盖与放大变形</a:t>
            </a:r>
          </a:p>
        </p:txBody>
      </p:sp>
      <p:sp>
        <p:nvSpPr>
          <p:cNvPr id="43" name="位移表图片说明">
            <a:extLst xmlns:a="http://schemas.openxmlformats.org/drawingml/2006/main">
              <a:ext uri="{FF2B5EF4-FFF2-40B4-BE49-F238E27FC236}">
                <a16:creationId xmlns:a16="http://schemas.microsoft.com/office/drawing/2014/main" id="{F63D2952-D66A-49AB-84F1-B5DB6380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000250"/>
            <a:ext cx="3933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节点110 · 全局坐标 · 实际值</a:t>
            </a:r>
          </a:p>
        </p:txBody>
      </p:sp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628BBFB-93EB-40BB-A8F9-B59C405AEA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f9b80a7b654e5b"/>
          <a:stretch xmlns:a="http://schemas.openxmlformats.org/drawingml/2006/main"/>
        </p:blipFill>
        <p:spPr>
          <a:xfrm xmlns:a="http://schemas.openxmlformats.org/drawingml/2006/main">
            <a:off x="457200" y="2343150"/>
            <a:ext cx="6953250" cy="3911203"/>
          </a:xfrm>
          <a:prstGeom xmlns:a="http://schemas.openxmlformats.org/drawingml/2006/main" prst="rect">
            <a:avLst/>
          </a:prstGeom>
        </p:spPr>
      </p:pic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4740AE-D089-4290-A680-F020C3DE8C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3bbddb8caf468e"/>
          <a:srcRect xmlns:a="http://schemas.openxmlformats.org/drawingml/2006/main" l="618" t="18050" r="72712" b="47068"/>
          <a:stretch xmlns:a="http://schemas.openxmlformats.org/drawingml/2006/main"/>
        </p:blipFill>
        <p:spPr>
          <a:xfrm xmlns:a="http://schemas.openxmlformats.org/drawingml/2006/main">
            <a:off x="7800975" y="2362200"/>
            <a:ext cx="3933825" cy="3793035"/>
          </a:xfrm>
          <a:prstGeom xmlns:a="http://schemas.openxmlformats.org/drawingml/2006/main" prst="rect">
            <a:avLst/>
          </a:prstGeom>
        </p:spPr>
      </p:pic>
      <p:sp>
        <p:nvSpPr>
          <p:cNvPr id="46" name="资料来源">
            <a:extLst xmlns:a="http://schemas.openxmlformats.org/drawingml/2006/main">
              <a:ext uri="{FF2B5EF4-FFF2-40B4-BE49-F238E27FC236}">
                <a16:creationId xmlns:a16="http://schemas.microsoft.com/office/drawing/2014/main" id="{D3F1F136-EBFF-4BCD-B5D0-7E125EB1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344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rPr>
              <a:t>模型：拱形网格屋盖.json；节点结果来自本轮实际F5求解；位移表不乘变形放大系数</a:t>
            </a:r>
          </a:p>
        </p:txBody>
      </p:sp>
      <p:sp>
        <p:nvSpPr>
          <p:cNvPr id="47" name="页码">
            <a:extLst xmlns:a="http://schemas.openxmlformats.org/drawingml/2006/main">
              <a:ext uri="{FF2B5EF4-FFF2-40B4-BE49-F238E27FC236}">
                <a16:creationId xmlns:a16="http://schemas.microsoft.com/office/drawing/2014/main" id="{01E6EF76-E179-47DB-A6DB-9972F2E8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2651949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4">
            <a:extLst xmlns:a="http://schemas.openxmlformats.org/drawingml/2006/main"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80"/>
          </a:p>
        </p:txBody>
      </p:sp>
      <p:pic>
        <p:nvPicPr>
          <p:cNvPr id="32" name="Picture 2">
            <a:extLst xmlns:a="http://schemas.openxmlformats.org/drawingml/2006/main">
              <a:ext uri="{FF2B5EF4-FFF2-40B4-BE49-F238E27FC236}">
                <a16:creationId xmlns:a16="http://schemas.microsoft.com/office/drawing/2014/main" id="{CB85EDA7-F462-4C8C-8406-F69DAAAC68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0347b143f34ad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419" y="99849"/>
            <a:ext cx="2203824" cy="5752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6BDE5815-496F-42EC-BF42-1232093E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0500"/>
            <a:ext cx="872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3  阶段扩展：梁—局部实体分析</a:t>
            </a:r>
          </a:p>
        </p:txBody>
      </p:sp>
      <p:sp>
        <p:nvSpPr>
          <p:cNvPr id="34" name="资料来源">
            <a:extLst xmlns:a="http://schemas.openxmlformats.org/drawingml/2006/main">
              <a:ext uri="{FF2B5EF4-FFF2-40B4-BE49-F238E27FC236}">
                <a16:creationId xmlns:a16="http://schemas.microsoft.com/office/drawing/2014/main" id="{D0842478-6E92-4E3E-90E4-030A156D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344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rPr>
              <a:t>来源：solid_joint.py、solid3d.py、SOLID_JOINT_SCOPE.md；节点65真实实体窗口</a:t>
            </a:r>
          </a:p>
        </p:txBody>
      </p:sp>
      <p:sp>
        <p:nvSpPr>
          <p:cNvPr id="35" name="页码">
            <a:extLst xmlns:a="http://schemas.openxmlformats.org/drawingml/2006/main">
              <a:ext uri="{FF2B5EF4-FFF2-40B4-BE49-F238E27FC236}">
                <a16:creationId xmlns:a16="http://schemas.microsoft.com/office/drawing/2014/main" id="{AEA5185E-9FC1-4047-9DF2-B2A2D221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buNone/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36" name="实体阶段0">
            <a:extLst xmlns:a="http://schemas.openxmlformats.org/drawingml/2006/main">
              <a:ext uri="{FF2B5EF4-FFF2-40B4-BE49-F238E27FC236}">
                <a16:creationId xmlns:a16="http://schemas.microsoft.com/office/drawing/2014/main" id="{A2FEAB6E-F0DE-436F-A0AA-FD6A9378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28725"/>
            <a:ext cx="26479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9525">
            <a:solidFill>
              <a:srgbClr val="0075C9"/>
            </a:solidFill>
            <a:prstDash val="solid"/>
          </a:ln>
        </p:spPr>
      </p:sp>
      <p:sp>
        <p:nvSpPr>
          <p:cNvPr id="37" name="实体阶段0文字">
            <a:extLst xmlns:a="http://schemas.openxmlformats.org/drawingml/2006/main">
              <a:ext uri="{FF2B5EF4-FFF2-40B4-BE49-F238E27FC236}">
                <a16:creationId xmlns:a16="http://schemas.microsoft.com/office/drawing/2014/main" id="{7562AF67-8BFD-4219-941A-1340C4C4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66825"/>
            <a:ext cx="2495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梁截面内力</a:t>
            </a:r>
          </a:p>
        </p:txBody>
      </p:sp>
      <p:sp>
        <p:nvSpPr>
          <p:cNvPr id="38" name="实体说明0">
            <a:extLst xmlns:a="http://schemas.openxmlformats.org/drawingml/2006/main">
              <a:ext uri="{FF2B5EF4-FFF2-40B4-BE49-F238E27FC236}">
                <a16:creationId xmlns:a16="http://schemas.microsoft.com/office/drawing/2014/main" id="{6C7B5EB4-26CE-44A6-8CBD-237922CC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2647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39" name="实体说明0文字">
            <a:extLst xmlns:a="http://schemas.openxmlformats.org/drawingml/2006/main">
              <a:ext uri="{FF2B5EF4-FFF2-40B4-BE49-F238E27FC236}">
                <a16:creationId xmlns:a16="http://schemas.microsoft.com/office/drawing/2014/main" id="{17A2FE79-8B18-4A40-8051-295AAF56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2419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N, Vy, Vz / N</a:t>
            </a:r>
          </a:p>
          <a:p xmlns:a="http://schemas.openxmlformats.org/drawingml/2006/main">
            <a:pPr algn="ctr">
              <a:buNone/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T, My, Mz / N·m</a:t>
            </a:r>
          </a:p>
        </p:txBody>
      </p:sp>
      <p:sp>
        <p:nvSpPr>
          <p:cNvPr id="40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D88524B5-6813-493F-9038-F4BCADED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800225"/>
            <a:ext cx="133350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41" name="实体阶段1">
            <a:extLst xmlns:a="http://schemas.openxmlformats.org/drawingml/2006/main">
              <a:ext uri="{FF2B5EF4-FFF2-40B4-BE49-F238E27FC236}">
                <a16:creationId xmlns:a16="http://schemas.microsoft.com/office/drawing/2014/main" id="{4E3521E0-C3F1-4312-B43B-D417982B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28725"/>
            <a:ext cx="26479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9525">
            <a:solidFill>
              <a:srgbClr val="0075C9"/>
            </a:solidFill>
            <a:prstDash val="solid"/>
          </a:ln>
        </p:spPr>
      </p:sp>
      <p:sp>
        <p:nvSpPr>
          <p:cNvPr id="42" name="实体阶段1文字">
            <a:extLst xmlns:a="http://schemas.openxmlformats.org/drawingml/2006/main">
              <a:ext uri="{FF2B5EF4-FFF2-40B4-BE49-F238E27FC236}">
                <a16:creationId xmlns:a16="http://schemas.microsoft.com/office/drawing/2014/main" id="{3511B546-CD87-4278-BBDA-63D64E4C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266825"/>
            <a:ext cx="2495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局部区域与边界</a:t>
            </a:r>
          </a:p>
        </p:txBody>
      </p:sp>
      <p:sp>
        <p:nvSpPr>
          <p:cNvPr id="43" name="实体说明1">
            <a:extLst xmlns:a="http://schemas.openxmlformats.org/drawingml/2006/main">
              <a:ext uri="{FF2B5EF4-FFF2-40B4-BE49-F238E27FC236}">
                <a16:creationId xmlns:a16="http://schemas.microsoft.com/office/drawing/2014/main" id="{347554D3-2FA8-42D2-B872-DA5B5063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2647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44" name="实体说明1文字">
            <a:extLst xmlns:a="http://schemas.openxmlformats.org/drawingml/2006/main">
              <a:ext uri="{FF2B5EF4-FFF2-40B4-BE49-F238E27FC236}">
                <a16:creationId xmlns:a16="http://schemas.microsoft.com/office/drawing/2014/main" id="{45656203-B6C4-41D0-BC65-38F98EE4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66875"/>
            <a:ext cx="2419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截面六分量传递</a:t>
            </a:r>
          </a:p>
        </p:txBody>
      </p:sp>
      <p:sp>
        <p:nvSpPr>
          <p:cNvPr id="45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8725382F-01AA-420C-9E39-848AA6F6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00225"/>
            <a:ext cx="133350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46" name="实体阶段2">
            <a:extLst xmlns:a="http://schemas.openxmlformats.org/drawingml/2006/main">
              <a:ext uri="{FF2B5EF4-FFF2-40B4-BE49-F238E27FC236}">
                <a16:creationId xmlns:a16="http://schemas.microsoft.com/office/drawing/2014/main" id="{16090255-BD5A-4E71-BD52-E01CC5F2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228725"/>
            <a:ext cx="26479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9525">
            <a:solidFill>
              <a:srgbClr val="0075C9"/>
            </a:solidFill>
            <a:prstDash val="solid"/>
          </a:ln>
        </p:spPr>
      </p:sp>
      <p:sp>
        <p:nvSpPr>
          <p:cNvPr id="47" name="实体阶段2文字">
            <a:extLst xmlns:a="http://schemas.openxmlformats.org/drawingml/2006/main">
              <a:ext uri="{FF2B5EF4-FFF2-40B4-BE49-F238E27FC236}">
                <a16:creationId xmlns:a16="http://schemas.microsoft.com/office/drawing/2014/main" id="{C93877CE-C1BA-4712-A590-7B30410E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66825"/>
            <a:ext cx="2495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Gmsh</a:t>
            </a:r>
          </a:p>
        </p:txBody>
      </p:sp>
      <p:sp>
        <p:nvSpPr>
          <p:cNvPr id="48" name="实体说明2">
            <a:extLst xmlns:a="http://schemas.openxmlformats.org/drawingml/2006/main">
              <a:ext uri="{FF2B5EF4-FFF2-40B4-BE49-F238E27FC236}">
                <a16:creationId xmlns:a16="http://schemas.microsoft.com/office/drawing/2014/main" id="{5B709BD1-D3A7-4DE2-86F5-F64D9635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19250"/>
            <a:ext cx="2647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49" name="实体说明2文字">
            <a:extLst xmlns:a="http://schemas.openxmlformats.org/drawingml/2006/main">
              <a:ext uri="{FF2B5EF4-FFF2-40B4-BE49-F238E27FC236}">
                <a16:creationId xmlns:a16="http://schemas.microsoft.com/office/drawing/2014/main" id="{51C7656E-659B-4B97-B34A-A39A4250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66875"/>
            <a:ext cx="2419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二次四面体网格</a:t>
            </a:r>
          </a:p>
        </p:txBody>
      </p:sp>
      <p:sp>
        <p:nvSpPr>
          <p:cNvPr id="50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74FBE5C9-D7EA-4DB0-8AC4-E757EBD4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00225"/>
            <a:ext cx="133350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51" name="实体阶段3">
            <a:extLst xmlns:a="http://schemas.openxmlformats.org/drawingml/2006/main">
              <a:ext uri="{FF2B5EF4-FFF2-40B4-BE49-F238E27FC236}">
                <a16:creationId xmlns:a16="http://schemas.microsoft.com/office/drawing/2014/main" id="{884D94DE-17A4-438D-92BD-4B67BA5B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228725"/>
            <a:ext cx="26479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52" name="实体阶段3文字">
            <a:extLst xmlns:a="http://schemas.openxmlformats.org/drawingml/2006/main">
              <a:ext uri="{FF2B5EF4-FFF2-40B4-BE49-F238E27FC236}">
                <a16:creationId xmlns:a16="http://schemas.microsoft.com/office/drawing/2014/main" id="{52ACF608-4021-4BBD-9B0E-A159E99F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266825"/>
            <a:ext cx="2495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FFD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1">
                <a:solidFill>
                  <a:srgbClr val="FFD00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D000"/>
                </a:solidFill>
                <a:latin typeface="微软雅黑"/>
                <a:ea typeface="微软雅黑"/>
                <a:cs typeface="微软雅黑"/>
              </a:rPr>
              <a:t>自研 C3D10</a:t>
            </a:r>
          </a:p>
        </p:txBody>
      </p:sp>
      <p:sp>
        <p:nvSpPr>
          <p:cNvPr id="53" name="实体说明3">
            <a:extLst xmlns:a="http://schemas.openxmlformats.org/drawingml/2006/main">
              <a:ext uri="{FF2B5EF4-FFF2-40B4-BE49-F238E27FC236}">
                <a16:creationId xmlns:a16="http://schemas.microsoft.com/office/drawing/2014/main" id="{0A507F8B-1833-45F9-B61A-2930B236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19250"/>
            <a:ext cx="2647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54" name="实体说明3文字">
            <a:extLst xmlns:a="http://schemas.openxmlformats.org/drawingml/2006/main">
              <a:ext uri="{FF2B5EF4-FFF2-40B4-BE49-F238E27FC236}">
                <a16:creationId xmlns:a16="http://schemas.microsoft.com/office/drawing/2014/main" id="{3C87D59C-9828-46C7-9ACF-C1645D11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666875"/>
            <a:ext cx="2419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位移 → 应力 / 热点</a:t>
            </a:r>
          </a:p>
        </p:txBody>
      </p:sp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A3AED90-37DD-4FDC-8EE3-D15450246C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a7066d26134181"/>
          <a:srcRect xmlns:a="http://schemas.openxmlformats.org/drawingml/2006/main" l="26300" t="30200" r="3700" b="5000"/>
          <a:stretch xmlns:a="http://schemas.openxmlformats.org/drawingml/2006/main"/>
        </p:blipFill>
        <p:spPr>
          <a:xfrm xmlns:a="http://schemas.openxmlformats.org/drawingml/2006/main">
            <a:off x="457200" y="2352675"/>
            <a:ext cx="7848600" cy="4086225"/>
          </a:xfrm>
          <a:prstGeom xmlns:a="http://schemas.openxmlformats.org/drawingml/2006/main" prst="rect">
            <a:avLst/>
          </a:prstGeom>
        </p:spPr>
      </p:pic>
      <p:sp>
        <p:nvSpPr>
          <p:cNvPr id="56" name="实体边界">
            <a:extLst xmlns:a="http://schemas.openxmlformats.org/drawingml/2006/main">
              <a:ext uri="{FF2B5EF4-FFF2-40B4-BE49-F238E27FC236}">
                <a16:creationId xmlns:a16="http://schemas.microsoft.com/office/drawing/2014/main" id="{9BD57D43-6D04-4C8F-A4AD-1ED28C33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43175"/>
            <a:ext cx="3086100" cy="3457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dash"/>
          </a:ln>
        </p:spPr>
      </p:sp>
      <p:sp>
        <p:nvSpPr>
          <p:cNvPr id="57" name="实体边界标签">
            <a:extLst xmlns:a="http://schemas.openxmlformats.org/drawingml/2006/main">
              <a:ext uri="{FF2B5EF4-FFF2-40B4-BE49-F238E27FC236}">
                <a16:creationId xmlns:a16="http://schemas.microsoft.com/office/drawing/2014/main" id="{C82928A4-C72C-424C-8E2D-7B2EF521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62200"/>
            <a:ext cx="20669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</p:sp>
      <p:sp>
        <p:nvSpPr>
          <p:cNvPr id="58" name="实体边界标签文字">
            <a:extLst xmlns:a="http://schemas.openxmlformats.org/drawingml/2006/main">
              <a:ext uri="{FF2B5EF4-FFF2-40B4-BE49-F238E27FC236}">
                <a16:creationId xmlns:a16="http://schemas.microsoft.com/office/drawing/2014/main" id="{7C9A414A-56E0-4307-B903-72B80A8B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00300"/>
            <a:ext cx="1914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验证范围与条件</a:t>
            </a:r>
          </a:p>
        </p:txBody>
      </p:sp>
      <p:sp>
        <p:nvSpPr>
          <p:cNvPr id="59" name="自研说明">
            <a:extLst xmlns:a="http://schemas.openxmlformats.org/drawingml/2006/main">
              <a:ext uri="{FF2B5EF4-FFF2-40B4-BE49-F238E27FC236}">
                <a16:creationId xmlns:a16="http://schemas.microsoft.com/office/drawing/2014/main" id="{79B0C7D5-85C2-4551-BB98-2627FA43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867025"/>
            <a:ext cx="2686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主求解：自研 C3D10</a:t>
            </a:r>
          </a:p>
        </p:txBody>
      </p:sp>
      <p:sp>
        <p:nvSpPr>
          <p:cNvPr id="60" name="图例解释">
            <a:extLst xmlns:a="http://schemas.openxmlformats.org/drawingml/2006/main">
              <a:ext uri="{FF2B5EF4-FFF2-40B4-BE49-F238E27FC236}">
                <a16:creationId xmlns:a16="http://schemas.microsoft.com/office/drawing/2014/main" id="{6C1E5F45-5028-4A8F-8405-E19CD59B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390900"/>
            <a:ext cx="26860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71D2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171D2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71D26"/>
                </a:solidFill>
                <a:latin typeface="微软雅黑"/>
                <a:ea typeface="微软雅黑"/>
                <a:cs typeface="微软雅黑"/>
              </a:rPr>
              <a:t>σvM / MPa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71D2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71D26"/>
                </a:solidFill>
                <a:latin typeface="微软雅黑"/>
                <a:ea typeface="微软雅黑"/>
                <a:cs typeface="微软雅黑"/>
              </a:rPr>
              <a:t>原始峰值 ≈ 435.951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71D2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71D26"/>
                </a:solidFill>
                <a:latin typeface="微软雅黑"/>
                <a:ea typeface="微软雅黑"/>
                <a:cs typeface="微软雅黑"/>
              </a:rPr>
              <a:t>P99色标上限 ≈ 157.83</a:t>
            </a:r>
          </a:p>
        </p:txBody>
      </p:sp>
      <p:sp>
        <p:nvSpPr>
          <p:cNvPr id="61" name="独立对标">
            <a:extLst xmlns:a="http://schemas.openxmlformats.org/drawingml/2006/main">
              <a:ext uri="{FF2B5EF4-FFF2-40B4-BE49-F238E27FC236}">
                <a16:creationId xmlns:a16="http://schemas.microsoft.com/office/drawing/2014/main" id="{7B7A02C1-E897-44FF-84D8-926C26D9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591050"/>
            <a:ext cx="2686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Abaqus：独立对标</a:t>
            </a:r>
          </a:p>
        </p:txBody>
      </p:sp>
      <p:sp>
        <p:nvSpPr>
          <p:cNvPr id="62" name="Kt边界">
            <a:extLst xmlns:a="http://schemas.openxmlformats.org/drawingml/2006/main">
              <a:ext uri="{FF2B5EF4-FFF2-40B4-BE49-F238E27FC236}">
                <a16:creationId xmlns:a16="http://schemas.microsoft.com/office/drawing/2014/main" id="{6F7441F6-D9AB-4134-8826-626253F9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5095875"/>
            <a:ext cx="2686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实验性能力；正式 Kt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需收敛验证与热点复核</a:t>
            </a:r>
          </a:p>
        </p:txBody>
      </p:sp>
    </p:spTree>
    <p:extLst>
      <p:ext uri="{BB962C8B-B14F-4D97-AF65-F5344CB8AC3E}">
        <p14:creationId xmlns:p14="http://schemas.microsoft.com/office/powerpoint/2010/main" val="179811308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4">
            <a:extLst xmlns:a="http://schemas.openxmlformats.org/drawingml/2006/main"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80"/>
          </a:p>
        </p:txBody>
      </p:sp>
      <p:pic>
        <p:nvPicPr>
          <p:cNvPr id="32" name="Picture 2">
            <a:extLst xmlns:a="http://schemas.openxmlformats.org/drawingml/2006/main">
              <a:ext uri="{FF2B5EF4-FFF2-40B4-BE49-F238E27FC236}">
                <a16:creationId xmlns:a16="http://schemas.microsoft.com/office/drawing/2014/main" id="{827CCE93-1FB6-42A1-9C5E-1D6370FE03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758ae0478b445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419" y="99849"/>
            <a:ext cx="2203824" cy="5752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24BE948A-7754-434A-BA63-681E66B3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0500"/>
            <a:ext cx="872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4  前期问题及解决方法</a:t>
            </a:r>
          </a:p>
        </p:txBody>
      </p:sp>
      <p:sp>
        <p:nvSpPr>
          <p:cNvPr id="34" name="资料来源">
            <a:extLst xmlns:a="http://schemas.openxmlformats.org/drawingml/2006/main">
              <a:ext uri="{FF2B5EF4-FFF2-40B4-BE49-F238E27FC236}">
                <a16:creationId xmlns:a16="http://schemas.microsoft.com/office/drawing/2014/main" id="{9FF120C8-CABC-4C16-B731-FFE361CA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344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rPr>
              <a:t>来源：2026-10-10节点荷载缺值修复；真实审核窗口与相关增量回归记录</a:t>
            </a:r>
          </a:p>
        </p:txBody>
      </p:sp>
      <p:sp>
        <p:nvSpPr>
          <p:cNvPr id="35" name="页码">
            <a:extLst xmlns:a="http://schemas.openxmlformats.org/drawingml/2006/main">
              <a:ext uri="{FF2B5EF4-FFF2-40B4-BE49-F238E27FC236}">
                <a16:creationId xmlns:a16="http://schemas.microsoft.com/office/drawing/2014/main" id="{9BE6BEFE-03DE-45DC-9B06-FACB5697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buNone/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36" name="缺陷结论">
            <a:extLst xmlns:a="http://schemas.openxmlformats.org/drawingml/2006/main">
              <a:ext uri="{FF2B5EF4-FFF2-40B4-BE49-F238E27FC236}">
                <a16:creationId xmlns:a16="http://schemas.microsoft.com/office/drawing/2014/main" id="{1A2AC066-3697-493C-A5F2-13CE03C4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1277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6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6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缺失的荷载分量必须保留“未知”，确认后才能导入</a:t>
            </a:r>
          </a:p>
        </p:txBody>
      </p:sp>
      <p:sp>
        <p:nvSpPr>
          <p:cNvPr id="37" name="现象原因">
            <a:extLst xmlns:a="http://schemas.openxmlformats.org/drawingml/2006/main">
              <a:ext uri="{FF2B5EF4-FFF2-40B4-BE49-F238E27FC236}">
                <a16:creationId xmlns:a16="http://schemas.microsoft.com/office/drawing/2014/main" id="{F205731B-8190-4EAB-B976-CE7D639C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62125"/>
            <a:ext cx="32956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dash"/>
          </a:ln>
        </p:spPr>
      </p:sp>
      <p:sp>
        <p:nvSpPr>
          <p:cNvPr id="38" name="现象原因标签">
            <a:extLst xmlns:a="http://schemas.openxmlformats.org/drawingml/2006/main">
              <a:ext uri="{FF2B5EF4-FFF2-40B4-BE49-F238E27FC236}">
                <a16:creationId xmlns:a16="http://schemas.microsoft.com/office/drawing/2014/main" id="{466C1FD5-B92D-4F7A-9521-7214E4FA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25622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</p:sp>
      <p:sp>
        <p:nvSpPr>
          <p:cNvPr id="39" name="现象原因标签文字">
            <a:extLst xmlns:a="http://schemas.openxmlformats.org/drawingml/2006/main">
              <a:ext uri="{FF2B5EF4-FFF2-40B4-BE49-F238E27FC236}">
                <a16:creationId xmlns:a16="http://schemas.microsoft.com/office/drawing/2014/main" id="{2C3C4331-F67D-4E67-AC2F-9FB0D8D2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问题现象与原因定位</a:t>
            </a:r>
          </a:p>
        </p:txBody>
      </p:sp>
      <p:sp>
        <p:nvSpPr>
          <p:cNvPr id="40" name="旧现象">
            <a:extLst xmlns:a="http://schemas.openxmlformats.org/drawingml/2006/main">
              <a:ext uri="{FF2B5EF4-FFF2-40B4-BE49-F238E27FC236}">
                <a16:creationId xmlns:a16="http://schemas.microsoft.com/office/drawing/2014/main" id="{1A29CBFB-85D8-4EA7-BF4E-53C0818D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29527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41" name="旧现象文字">
            <a:extLst xmlns:a="http://schemas.openxmlformats.org/drawingml/2006/main">
              <a:ext uri="{FF2B5EF4-FFF2-40B4-BE49-F238E27FC236}">
                <a16:creationId xmlns:a16="http://schemas.microsoft.com/office/drawing/2014/main" id="{8708B8DD-5FFA-43EF-A5C6-6E4762BC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62175"/>
            <a:ext cx="27241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草稿缺失荷载分量</a:t>
            </a:r>
          </a:p>
          <a:p xmlns:a="http://schemas.openxmlformats.org/drawingml/2006/main">
            <a:pPr algn="ctr">
              <a:buNone/>
              <a:def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控件却默认显示 0</a:t>
            </a:r>
          </a:p>
        </p:txBody>
      </p:sp>
      <p:sp>
        <p:nvSpPr>
          <p:cNvPr id="42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37EE8A2C-533B-4385-85FA-1F3BA7C2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886075"/>
            <a:ext cx="266700" cy="276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</p:sp>
      <p:sp>
        <p:nvSpPr>
          <p:cNvPr id="43" name="根因">
            <a:extLst xmlns:a="http://schemas.openxmlformats.org/drawingml/2006/main">
              <a:ext uri="{FF2B5EF4-FFF2-40B4-BE49-F238E27FC236}">
                <a16:creationId xmlns:a16="http://schemas.microsoft.com/office/drawing/2014/main" id="{1AE82DFA-804E-48C8-8C4F-5F3121C5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默认值覆盖“未知”语义</a:t>
            </a:r>
          </a:p>
          <a:p xmlns:a="http://schemas.openxmlformats.org/drawingml/2006/main">
            <a:pPr algn="ctr">
              <a:buNone/>
              <a:defRPr sz="1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可能误认为已确认的零荷载</a:t>
            </a:r>
          </a:p>
        </p:txBody>
      </p:sp>
      <p:sp>
        <p:nvSpPr>
          <p:cNvPr id="44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36725A8E-4143-469C-ABAC-6CAB7C42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28900"/>
            <a:ext cx="381000" cy="2571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45" name="修复机制">
            <a:extLst xmlns:a="http://schemas.openxmlformats.org/drawingml/2006/main">
              <a:ext uri="{FF2B5EF4-FFF2-40B4-BE49-F238E27FC236}">
                <a16:creationId xmlns:a16="http://schemas.microsoft.com/office/drawing/2014/main" id="{A9A63C54-C67F-49CD-8523-8DA433D0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762125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92858"/>
            </a:solidFill>
            <a:prstDash val="dash"/>
          </a:ln>
        </p:spPr>
      </p:sp>
      <p:sp>
        <p:nvSpPr>
          <p:cNvPr id="46" name="修复机制标签">
            <a:extLst xmlns:a="http://schemas.openxmlformats.org/drawingml/2006/main">
              <a:ext uri="{FF2B5EF4-FFF2-40B4-BE49-F238E27FC236}">
                <a16:creationId xmlns:a16="http://schemas.microsoft.com/office/drawing/2014/main" id="{52961524-0DF2-400C-BCC8-B947E0E0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581150"/>
            <a:ext cx="13239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47" name="修复机制标签文字">
            <a:extLst xmlns:a="http://schemas.openxmlformats.org/drawingml/2006/main">
              <a:ext uri="{FF2B5EF4-FFF2-40B4-BE49-F238E27FC236}">
                <a16:creationId xmlns:a16="http://schemas.microsoft.com/office/drawing/2014/main" id="{FD9047DB-5116-486C-BB39-78B46E09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619250"/>
            <a:ext cx="1171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修复机制</a:t>
            </a:r>
          </a:p>
        </p:txBody>
      </p:sp>
      <p:sp>
        <p:nvSpPr>
          <p:cNvPr id="48" name="保留语义">
            <a:extLst xmlns:a="http://schemas.openxmlformats.org/drawingml/2006/main">
              <a:ext uri="{FF2B5EF4-FFF2-40B4-BE49-F238E27FC236}">
                <a16:creationId xmlns:a16="http://schemas.microsoft.com/office/drawing/2014/main" id="{6A89C21F-3005-4F45-94C0-28988DDF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114550"/>
            <a:ext cx="30099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49" name="保留语义文字">
            <a:extLst xmlns:a="http://schemas.openxmlformats.org/drawingml/2006/main">
              <a:ext uri="{FF2B5EF4-FFF2-40B4-BE49-F238E27FC236}">
                <a16:creationId xmlns:a16="http://schemas.microsoft.com/office/drawing/2014/main" id="{6EEC6C04-84B2-48D1-9A44-7D838994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162175"/>
            <a:ext cx="2781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缺失留空；有效分量保留</a:t>
            </a:r>
          </a:p>
        </p:txBody>
      </p:sp>
      <p:sp>
        <p:nvSpPr>
          <p:cNvPr id="50" name="校验输入">
            <a:extLst xmlns:a="http://schemas.openxmlformats.org/drawingml/2006/main">
              <a:ext uri="{FF2B5EF4-FFF2-40B4-BE49-F238E27FC236}">
                <a16:creationId xmlns:a16="http://schemas.microsoft.com/office/drawing/2014/main" id="{15A88A13-EB00-496D-AC64-C325CCFF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714625"/>
            <a:ext cx="30099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51" name="校验输入文字">
            <a:extLst xmlns:a="http://schemas.openxmlformats.org/drawingml/2006/main">
              <a:ext uri="{FF2B5EF4-FFF2-40B4-BE49-F238E27FC236}">
                <a16:creationId xmlns:a16="http://schemas.microsoft.com/office/drawing/2014/main" id="{F8ECC1F9-64BF-4A52-B01C-2B2B3B6D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762250"/>
            <a:ext cx="2781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校验数值、单位与确认状态</a:t>
            </a:r>
          </a:p>
        </p:txBody>
      </p:sp>
      <p:sp>
        <p:nvSpPr>
          <p:cNvPr id="52" name="不确认拦截">
            <a:extLst xmlns:a="http://schemas.openxmlformats.org/drawingml/2006/main">
              <a:ext uri="{FF2B5EF4-FFF2-40B4-BE49-F238E27FC236}">
                <a16:creationId xmlns:a16="http://schemas.microsoft.com/office/drawing/2014/main" id="{CD2C4DF9-F6EA-47E2-A9D6-C214212F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324225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未确认 → 阻断导入</a:t>
            </a:r>
          </a:p>
        </p:txBody>
      </p:sp>
      <p:sp>
        <p:nvSpPr>
          <p:cNvPr id="53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A3274B92-1DC2-4601-BD6B-0BAAE082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28900"/>
            <a:ext cx="381000" cy="2571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54" name="验证证据">
            <a:extLst xmlns:a="http://schemas.openxmlformats.org/drawingml/2006/main">
              <a:ext uri="{FF2B5EF4-FFF2-40B4-BE49-F238E27FC236}">
                <a16:creationId xmlns:a16="http://schemas.microsoft.com/office/drawing/2014/main" id="{435D5F7D-85E1-47C0-B99C-FF4895AA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762125"/>
            <a:ext cx="33242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92858"/>
            </a:solidFill>
            <a:prstDash val="dash"/>
          </a:ln>
        </p:spPr>
      </p:sp>
      <p:sp>
        <p:nvSpPr>
          <p:cNvPr id="55" name="验证证据标签">
            <a:extLst xmlns:a="http://schemas.openxmlformats.org/drawingml/2006/main">
              <a:ext uri="{FF2B5EF4-FFF2-40B4-BE49-F238E27FC236}">
                <a16:creationId xmlns:a16="http://schemas.microsoft.com/office/drawing/2014/main" id="{7A5F0F40-34F4-48E2-9EBD-A4B7F1ED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581150"/>
            <a:ext cx="13239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56" name="验证证据标签文字">
            <a:extLst xmlns:a="http://schemas.openxmlformats.org/drawingml/2006/main">
              <a:ext uri="{FF2B5EF4-FFF2-40B4-BE49-F238E27FC236}">
                <a16:creationId xmlns:a16="http://schemas.microsoft.com/office/drawing/2014/main" id="{00A644DF-9C56-42A6-A99A-51C23287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1619250"/>
            <a:ext cx="1171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验证证据</a:t>
            </a:r>
          </a:p>
        </p:txBody>
      </p:sp>
      <p:sp>
        <p:nvSpPr>
          <p:cNvPr id="57" name="回归类型">
            <a:extLst xmlns:a="http://schemas.openxmlformats.org/drawingml/2006/main">
              <a:ext uri="{FF2B5EF4-FFF2-40B4-BE49-F238E27FC236}">
                <a16:creationId xmlns:a16="http://schemas.microsoft.com/office/drawing/2014/main" id="{64E79FE4-64C9-4683-B016-A249D45A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162175"/>
            <a:ext cx="2943225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缺失 / 短向量 / 布尔值</a:t>
            </a:r>
          </a:p>
          <a:p xmlns:a="http://schemas.openxmlformats.org/drawingml/2006/main">
            <a:pPr algn="ctr">
              <a:buNone/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NaN / 有效分量保留</a:t>
            </a:r>
          </a:p>
          <a:p xmlns:a="http://schemas.openxmlformats.org/drawingml/2006/main">
            <a:pPr algn="ctr">
              <a:buNone/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显式零值与确认解除</a:t>
            </a:r>
          </a:p>
        </p:txBody>
      </p:sp>
      <p:sp>
        <p:nvSpPr>
          <p:cNvPr id="58" name="证据状态">
            <a:extLst xmlns:a="http://schemas.openxmlformats.org/drawingml/2006/main">
              <a:ext uri="{FF2B5EF4-FFF2-40B4-BE49-F238E27FC236}">
                <a16:creationId xmlns:a16="http://schemas.microsoft.com/office/drawing/2014/main" id="{81A52AFC-FA3D-435F-A8E1-63E3B5FD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381375"/>
            <a:ext cx="2943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相关增量回归通过</a:t>
            </a:r>
          </a:p>
        </p:txBody>
      </p:sp>
      <p:pic>
        <p:nvPic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AD593F-C3A8-4B54-BC8B-472CDC872E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f08d90a9742cf"/>
          <a:srcRect xmlns:a="http://schemas.openxmlformats.org/drawingml/2006/main" l="0" t="39800" r="1300" b="2600"/>
          <a:stretch xmlns:a="http://schemas.openxmlformats.org/drawingml/2006/main"/>
        </p:blipFill>
        <p:spPr>
          <a:xfrm xmlns:a="http://schemas.openxmlformats.org/drawingml/2006/main">
            <a:off x="457200" y="3943350"/>
            <a:ext cx="6276975" cy="2400300"/>
          </a:xfrm>
          <a:prstGeom xmlns:a="http://schemas.openxmlformats.org/drawingml/2006/main" prst="rect">
            <a:avLst/>
          </a:prstGeom>
        </p:spPr>
      </p:pic>
      <p:sp>
        <p:nvSpPr>
          <p:cNvPr id="60" name="人工协作">
            <a:extLst xmlns:a="http://schemas.openxmlformats.org/drawingml/2006/main">
              <a:ext uri="{FF2B5EF4-FFF2-40B4-BE49-F238E27FC236}">
                <a16:creationId xmlns:a16="http://schemas.microsoft.com/office/drawing/2014/main" id="{99D96EF3-336A-495A-80E8-E5BB1DDB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71975"/>
            <a:ext cx="3714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61" name="人工协作文字">
            <a:extLst xmlns:a="http://schemas.openxmlformats.org/drawingml/2006/main">
              <a:ext uri="{FF2B5EF4-FFF2-40B4-BE49-F238E27FC236}">
                <a16:creationId xmlns:a16="http://schemas.microsoft.com/office/drawing/2014/main" id="{FB035761-9435-41EE-A92A-AF5F11EB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19600"/>
            <a:ext cx="3486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研究者发现语义错误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AI辅助定位与实现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回归证据验证修复</a:t>
            </a:r>
          </a:p>
        </p:txBody>
      </p:sp>
      <p:sp>
        <p:nvSpPr>
          <p:cNvPr id="62" name="人工确认原则">
            <a:extLst xmlns:a="http://schemas.openxmlformats.org/drawingml/2006/main">
              <a:ext uri="{FF2B5EF4-FFF2-40B4-BE49-F238E27FC236}">
                <a16:creationId xmlns:a16="http://schemas.microsoft.com/office/drawing/2014/main" id="{B05AB1DF-3B6B-47D3-989D-8D6843DE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781675"/>
            <a:ext cx="3714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人工确认解除对应问题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其他未确认项仍然保留</a:t>
            </a:r>
          </a:p>
        </p:txBody>
      </p:sp>
    </p:spTree>
    <p:extLst>
      <p:ext uri="{BB962C8B-B14F-4D97-AF65-F5344CB8AC3E}">
        <p14:creationId xmlns:p14="http://schemas.microsoft.com/office/powerpoint/2010/main" val="179811308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4">
            <a:extLst xmlns:a="http://schemas.openxmlformats.org/drawingml/2006/main"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80"/>
          </a:p>
        </p:txBody>
      </p:sp>
      <p:pic>
        <p:nvPicPr>
          <p:cNvPr id="32" name="Picture 2">
            <a:extLst xmlns:a="http://schemas.openxmlformats.org/drawingml/2006/main">
              <a:ext uri="{FF2B5EF4-FFF2-40B4-BE49-F238E27FC236}">
                <a16:creationId xmlns:a16="http://schemas.microsoft.com/office/drawing/2014/main" id="{6F68DF55-1378-4782-AD3D-7BC10FA825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1a81b94722447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419" y="99849"/>
            <a:ext cx="2203824" cy="5752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34C480AC-4A58-455F-820C-41469845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0500"/>
            <a:ext cx="872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5  现阶段总结与后续研究计划</a:t>
            </a:r>
          </a:p>
        </p:txBody>
      </p:sp>
      <p:sp>
        <p:nvSpPr>
          <p:cNvPr id="34" name="资料来源">
            <a:extLst xmlns:a="http://schemas.openxmlformats.org/drawingml/2006/main">
              <a:ext uri="{FF2B5EF4-FFF2-40B4-BE49-F238E27FC236}">
                <a16:creationId xmlns:a16="http://schemas.microsoft.com/office/drawing/2014/main" id="{F76E47A3-025F-46D4-B712-015DB9B3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344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rPr>
              <a:t>依据：能力矩阵、答辩验收、SOLID_JOINT_SCOPE；下方为计划，非已完成结果</a:t>
            </a:r>
          </a:p>
        </p:txBody>
      </p:sp>
      <p:sp>
        <p:nvSpPr>
          <p:cNvPr id="35" name="页码">
            <a:extLst xmlns:a="http://schemas.openxmlformats.org/drawingml/2006/main">
              <a:ext uri="{FF2B5EF4-FFF2-40B4-BE49-F238E27FC236}">
                <a16:creationId xmlns:a16="http://schemas.microsoft.com/office/drawing/2014/main" id="{C2A3399F-F3FB-4791-A8BA-EB870DB0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buNone/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36" name="阶段总结">
            <a:extLst xmlns:a="http://schemas.openxmlformats.org/drawingml/2006/main">
              <a:ext uri="{FF2B5EF4-FFF2-40B4-BE49-F238E27FC236}">
                <a16:creationId xmlns:a16="http://schemas.microsoft.com/office/drawing/2014/main" id="{2B877487-C46B-43A1-9276-4CFB85FF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14425"/>
            <a:ext cx="23145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37" name="阶段总结文字">
            <a:extLst xmlns:a="http://schemas.openxmlformats.org/drawingml/2006/main">
              <a:ext uri="{FF2B5EF4-FFF2-40B4-BE49-F238E27FC236}">
                <a16:creationId xmlns:a16="http://schemas.microsoft.com/office/drawing/2014/main" id="{82458443-E8FF-4151-B6DE-EFAD091C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21621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现阶段总结</a:t>
            </a:r>
          </a:p>
        </p:txBody>
      </p:sp>
      <p:sp>
        <p:nvSpPr>
          <p:cNvPr id="38" name="总结结论">
            <a:extLst xmlns:a="http://schemas.openxmlformats.org/drawingml/2006/main">
              <a:ext uri="{FF2B5EF4-FFF2-40B4-BE49-F238E27FC236}">
                <a16:creationId xmlns:a16="http://schemas.microsoft.com/office/drawing/2014/main" id="{BC0927FF-BBED-4AFD-844C-C85F7261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104900"/>
            <a:ext cx="86963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5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已形成可运行、可复算、可追溯的主流程</a:t>
            </a:r>
          </a:p>
        </p:txBody>
      </p:sp>
      <p:sp>
        <p:nvSpPr>
          <p:cNvPr id="39" name="剩余验证">
            <a:extLst xmlns:a="http://schemas.openxmlformats.org/drawingml/2006/main">
              <a:ext uri="{FF2B5EF4-FFF2-40B4-BE49-F238E27FC236}">
                <a16:creationId xmlns:a16="http://schemas.microsoft.com/office/drawing/2014/main" id="{D538C5A1-9CCD-4456-89A6-41E5F2F3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514475"/>
            <a:ext cx="8696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9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复杂工程图识别与局部应力仍需扩大验证范围</a:t>
            </a:r>
          </a:p>
        </p:txBody>
      </p:sp>
      <p:sp>
        <p:nvSpPr>
          <p:cNvPr id="40" name="研究路线">
            <a:extLst xmlns:a="http://schemas.openxmlformats.org/drawingml/2006/main">
              <a:ext uri="{FF2B5EF4-FFF2-40B4-BE49-F238E27FC236}">
                <a16:creationId xmlns:a16="http://schemas.microsoft.com/office/drawing/2014/main" id="{61022C78-9B55-4A4B-A644-C605CD08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11277600" cy="382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92858"/>
            </a:solidFill>
            <a:prstDash val="dash"/>
          </a:ln>
        </p:spPr>
      </p:sp>
      <p:sp>
        <p:nvSpPr>
          <p:cNvPr id="41" name="研究路线标签">
            <a:extLst xmlns:a="http://schemas.openxmlformats.org/drawingml/2006/main">
              <a:ext uri="{FF2B5EF4-FFF2-40B4-BE49-F238E27FC236}">
                <a16:creationId xmlns:a16="http://schemas.microsoft.com/office/drawing/2014/main" id="{AF6ABD23-4D5D-42A4-95C3-52F815A8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4048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42" name="研究路线标签文字">
            <a:extLst xmlns:a="http://schemas.openxmlformats.org/drawingml/2006/main">
              <a:ext uri="{FF2B5EF4-FFF2-40B4-BE49-F238E27FC236}">
                <a16:creationId xmlns:a16="http://schemas.microsoft.com/office/drawing/2014/main" id="{43C6ECB8-6403-4FE6-B7B9-1943EAEE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3895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分阶段研究路线：方法与评价指标</a:t>
            </a:r>
          </a:p>
        </p:txBody>
      </p:sp>
      <p:sp>
        <p:nvSpPr>
          <p:cNvPr id="43" name="研究方向0">
            <a:extLst xmlns:a="http://schemas.openxmlformats.org/drawingml/2006/main">
              <a:ext uri="{FF2B5EF4-FFF2-40B4-BE49-F238E27FC236}">
                <a16:creationId xmlns:a16="http://schemas.microsoft.com/office/drawing/2014/main" id="{E1CA907F-497F-4A59-91AB-4BA93511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71750"/>
            <a:ext cx="24574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44" name="研究方向0文字">
            <a:extLst xmlns:a="http://schemas.openxmlformats.org/drawingml/2006/main">
              <a:ext uri="{FF2B5EF4-FFF2-40B4-BE49-F238E27FC236}">
                <a16:creationId xmlns:a16="http://schemas.microsoft.com/office/drawing/2014/main" id="{61D3D2FA-81C3-4638-B570-B6B6E03C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09850"/>
            <a:ext cx="2305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工程图识别</a:t>
            </a:r>
          </a:p>
        </p:txBody>
      </p:sp>
      <p:sp>
        <p:nvSpPr>
          <p:cNvPr id="45" name="研究方法0">
            <a:extLst xmlns:a="http://schemas.openxmlformats.org/drawingml/2006/main">
              <a:ext uri="{FF2B5EF4-FFF2-40B4-BE49-F238E27FC236}">
                <a16:creationId xmlns:a16="http://schemas.microsoft.com/office/drawing/2014/main" id="{50A583D8-0807-4648-88CE-C4F5C6A4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71850"/>
            <a:ext cx="24574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46" name="研究方法0文字">
            <a:extLst xmlns:a="http://schemas.openxmlformats.org/drawingml/2006/main">
              <a:ext uri="{FF2B5EF4-FFF2-40B4-BE49-F238E27FC236}">
                <a16:creationId xmlns:a16="http://schemas.microsoft.com/office/drawing/2014/main" id="{B3C5F36D-2FF2-439D-A9D3-BBA94ED6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419475"/>
            <a:ext cx="22288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许可明确的留出样本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独立复核图纸标注</a:t>
            </a:r>
          </a:p>
        </p:txBody>
      </p:sp>
      <p:sp>
        <p:nvSpPr>
          <p:cNvPr id="47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FE7D612F-75B2-48F1-9C5A-19A683FF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285750" cy="276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48" name="评价指标0">
            <a:extLst xmlns:a="http://schemas.openxmlformats.org/drawingml/2006/main">
              <a:ext uri="{FF2B5EF4-FFF2-40B4-BE49-F238E27FC236}">
                <a16:creationId xmlns:a16="http://schemas.microsoft.com/office/drawing/2014/main" id="{C1CF8C4C-29B6-4A9F-B8DF-94799E7E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33950"/>
            <a:ext cx="24574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5C9"/>
            </a:solidFill>
            <a:prstDash val="solid"/>
          </a:ln>
        </p:spPr>
      </p:sp>
      <p:sp>
        <p:nvSpPr>
          <p:cNvPr id="49" name="评价指标0文字">
            <a:extLst xmlns:a="http://schemas.openxmlformats.org/drawingml/2006/main">
              <a:ext uri="{FF2B5EF4-FFF2-40B4-BE49-F238E27FC236}">
                <a16:creationId xmlns:a16="http://schemas.microsoft.com/office/drawing/2014/main" id="{648A64A2-1835-44F9-AD90-501C7C79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981575"/>
            <a:ext cx="22288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拓扑 / 荷载 / 尺度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完整模型通过率</a:t>
            </a:r>
          </a:p>
        </p:txBody>
      </p:sp>
      <p:sp>
        <p:nvSpPr>
          <p:cNvPr id="50" name="研究方向1">
            <a:extLst xmlns:a="http://schemas.openxmlformats.org/drawingml/2006/main">
              <a:ext uri="{FF2B5EF4-FFF2-40B4-BE49-F238E27FC236}">
                <a16:creationId xmlns:a16="http://schemas.microsoft.com/office/drawing/2014/main" id="{7F7FE3F9-EAE4-4449-A677-990655A3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571750"/>
            <a:ext cx="24574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51" name="研究方向1文字">
            <a:extLst xmlns:a="http://schemas.openxmlformats.org/drawingml/2006/main">
              <a:ext uri="{FF2B5EF4-FFF2-40B4-BE49-F238E27FC236}">
                <a16:creationId xmlns:a16="http://schemas.microsoft.com/office/drawing/2014/main" id="{9DC092ED-7A15-4460-B6B4-062A7140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609850"/>
            <a:ext cx="2305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局部应力</a:t>
            </a:r>
          </a:p>
        </p:txBody>
      </p:sp>
      <p:sp>
        <p:nvSpPr>
          <p:cNvPr id="52" name="研究方法1">
            <a:extLst xmlns:a="http://schemas.openxmlformats.org/drawingml/2006/main">
              <a:ext uri="{FF2B5EF4-FFF2-40B4-BE49-F238E27FC236}">
                <a16:creationId xmlns:a16="http://schemas.microsoft.com/office/drawing/2014/main" id="{003FB0C9-42D6-424D-A04F-87698D94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371850"/>
            <a:ext cx="24574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53" name="研究方法1文字">
            <a:extLst xmlns:a="http://schemas.openxmlformats.org/drawingml/2006/main">
              <a:ext uri="{FF2B5EF4-FFF2-40B4-BE49-F238E27FC236}">
                <a16:creationId xmlns:a16="http://schemas.microsoft.com/office/drawing/2014/main" id="{95B83783-AF5D-41D3-9547-D91F008D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19475"/>
            <a:ext cx="22288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三档网格与热点提取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Abaqus独立对标</a:t>
            </a:r>
          </a:p>
        </p:txBody>
      </p:sp>
      <p:sp>
        <p:nvSpPr>
          <p:cNvPr id="54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14ED54AE-484B-4290-94A4-75275BA4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38650"/>
            <a:ext cx="285750" cy="276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55" name="评价指标1">
            <a:extLst xmlns:a="http://schemas.openxmlformats.org/drawingml/2006/main">
              <a:ext uri="{FF2B5EF4-FFF2-40B4-BE49-F238E27FC236}">
                <a16:creationId xmlns:a16="http://schemas.microsoft.com/office/drawing/2014/main" id="{C7D341D8-F330-4EC3-AD31-56DA480B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933950"/>
            <a:ext cx="24574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5C9"/>
            </a:solidFill>
            <a:prstDash val="solid"/>
          </a:ln>
        </p:spPr>
      </p:sp>
      <p:sp>
        <p:nvSpPr>
          <p:cNvPr id="56" name="评价指标1文字">
            <a:extLst xmlns:a="http://schemas.openxmlformats.org/drawingml/2006/main">
              <a:ext uri="{FF2B5EF4-FFF2-40B4-BE49-F238E27FC236}">
                <a16:creationId xmlns:a16="http://schemas.microsoft.com/office/drawing/2014/main" id="{0CE63815-C68C-444D-A379-1AAF56EC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981575"/>
            <a:ext cx="22288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收敛误差与对标偏差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确定 Kt 适用范围</a:t>
            </a:r>
          </a:p>
        </p:txBody>
      </p:sp>
      <p:sp>
        <p:nvSpPr>
          <p:cNvPr id="57" name="研究方向2">
            <a:extLst xmlns:a="http://schemas.openxmlformats.org/drawingml/2006/main">
              <a:ext uri="{FF2B5EF4-FFF2-40B4-BE49-F238E27FC236}">
                <a16:creationId xmlns:a16="http://schemas.microsoft.com/office/drawing/2014/main" id="{27BFA74E-D3AF-4D33-BD40-7DDF66EF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571750"/>
            <a:ext cx="24574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58" name="研究方向2文字">
            <a:extLst xmlns:a="http://schemas.openxmlformats.org/drawingml/2006/main">
              <a:ext uri="{FF2B5EF4-FFF2-40B4-BE49-F238E27FC236}">
                <a16:creationId xmlns:a16="http://schemas.microsoft.com/office/drawing/2014/main" id="{C858A17E-FCDE-4F4D-B1A1-15D05DCE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09850"/>
            <a:ext cx="2305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软件交付</a:t>
            </a:r>
          </a:p>
        </p:txBody>
      </p:sp>
      <p:sp>
        <p:nvSpPr>
          <p:cNvPr id="59" name="研究方法2">
            <a:extLst xmlns:a="http://schemas.openxmlformats.org/drawingml/2006/main">
              <a:ext uri="{FF2B5EF4-FFF2-40B4-BE49-F238E27FC236}">
                <a16:creationId xmlns:a16="http://schemas.microsoft.com/office/drawing/2014/main" id="{D750D97C-8F4B-41B7-AE9C-A45D416D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371850"/>
            <a:ext cx="24574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60" name="研究方法2文字">
            <a:extLst xmlns:a="http://schemas.openxmlformats.org/drawingml/2006/main">
              <a:ext uri="{FF2B5EF4-FFF2-40B4-BE49-F238E27FC236}">
                <a16:creationId xmlns:a16="http://schemas.microsoft.com/office/drawing/2014/main" id="{8CC249E1-3AE6-4A41-88F8-BE0ECCC7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419475"/>
            <a:ext cx="22288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修复缺陷、冻结版本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保存重开与显示检查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计算书验收</a:t>
            </a:r>
          </a:p>
        </p:txBody>
      </p:sp>
      <p:sp>
        <p:nvSpPr>
          <p:cNvPr id="61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CB22BC62-AB0B-4607-B2BC-CBA7967F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38650"/>
            <a:ext cx="285750" cy="276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62" name="评价指标2">
            <a:extLst xmlns:a="http://schemas.openxmlformats.org/drawingml/2006/main">
              <a:ext uri="{FF2B5EF4-FFF2-40B4-BE49-F238E27FC236}">
                <a16:creationId xmlns:a16="http://schemas.microsoft.com/office/drawing/2014/main" id="{BCD5C97B-26CD-4D5D-8BEB-BE092888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933950"/>
            <a:ext cx="24574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5C9"/>
            </a:solidFill>
            <a:prstDash val="solid"/>
          </a:ln>
        </p:spPr>
      </p:sp>
      <p:sp>
        <p:nvSpPr>
          <p:cNvPr id="63" name="评价指标2文字">
            <a:extLst xmlns:a="http://schemas.openxmlformats.org/drawingml/2006/main">
              <a:ext uri="{FF2B5EF4-FFF2-40B4-BE49-F238E27FC236}">
                <a16:creationId xmlns:a16="http://schemas.microsoft.com/office/drawing/2014/main" id="{60B45FCB-E8DC-4685-856B-C5F0A891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981575"/>
            <a:ext cx="22288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形成版本与验收记录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逐项验证主流程</a:t>
            </a:r>
          </a:p>
        </p:txBody>
      </p:sp>
      <p:sp>
        <p:nvSpPr>
          <p:cNvPr id="64" name="研究方向3">
            <a:extLst xmlns:a="http://schemas.openxmlformats.org/drawingml/2006/main">
              <a:ext uri="{FF2B5EF4-FFF2-40B4-BE49-F238E27FC236}">
                <a16:creationId xmlns:a16="http://schemas.microsoft.com/office/drawing/2014/main" id="{3B63DF06-5287-4083-9894-05AFAE31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71750"/>
            <a:ext cx="24574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65" name="研究方向3文字">
            <a:extLst xmlns:a="http://schemas.openxmlformats.org/drawingml/2006/main">
              <a:ext uri="{FF2B5EF4-FFF2-40B4-BE49-F238E27FC236}">
                <a16:creationId xmlns:a16="http://schemas.microsoft.com/office/drawing/2014/main" id="{71A78C00-41AF-4AB1-80F4-ED39463D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609850"/>
            <a:ext cx="2305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力学扩展</a:t>
            </a:r>
          </a:p>
        </p:txBody>
      </p:sp>
      <p:sp>
        <p:nvSpPr>
          <p:cNvPr id="66" name="研究方法3">
            <a:extLst xmlns:a="http://schemas.openxmlformats.org/drawingml/2006/main">
              <a:ext uri="{FF2B5EF4-FFF2-40B4-BE49-F238E27FC236}">
                <a16:creationId xmlns:a16="http://schemas.microsoft.com/office/drawing/2014/main" id="{73EED368-970A-408B-8DC3-D95B076F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371850"/>
            <a:ext cx="24574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67" name="研究方法3文字">
            <a:extLst xmlns:a="http://schemas.openxmlformats.org/drawingml/2006/main">
              <a:ext uri="{FF2B5EF4-FFF2-40B4-BE49-F238E27FC236}">
                <a16:creationId xmlns:a16="http://schemas.microsoft.com/office/drawing/2014/main" id="{73011F46-BF26-4C34-B783-5483E1CE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419475"/>
            <a:ext cx="22288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先建立独立基准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再研究弯曲塑性</a:t>
            </a:r>
          </a:p>
        </p:txBody>
      </p:sp>
      <p:sp>
        <p:nvSpPr>
          <p:cNvPr id="68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FF0A4846-6093-45F0-A6B4-C75C4F2D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438650"/>
            <a:ext cx="285750" cy="276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75C9"/>
          </a:solidFill>
          <a:ln xmlns:a="http://schemas.openxmlformats.org/drawingml/2006/main" w="0">
            <a:solidFill>
              <a:srgbClr val="0075C9"/>
            </a:solidFill>
          </a:ln>
        </p:spPr>
      </p:sp>
      <p:sp>
        <p:nvSpPr>
          <p:cNvPr id="69" name="评价指标3">
            <a:extLst xmlns:a="http://schemas.openxmlformats.org/drawingml/2006/main">
              <a:ext uri="{FF2B5EF4-FFF2-40B4-BE49-F238E27FC236}">
                <a16:creationId xmlns:a16="http://schemas.microsoft.com/office/drawing/2014/main" id="{558B6794-4EC6-4FF1-83B1-2F9C9AB1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933950"/>
            <a:ext cx="24574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5C9"/>
            </a:solidFill>
            <a:prstDash val="solid"/>
          </a:ln>
        </p:spPr>
      </p:sp>
      <p:sp>
        <p:nvSpPr>
          <p:cNvPr id="70" name="评价指标3文字">
            <a:extLst xmlns:a="http://schemas.openxmlformats.org/drawingml/2006/main">
              <a:ext uri="{FF2B5EF4-FFF2-40B4-BE49-F238E27FC236}">
                <a16:creationId xmlns:a16="http://schemas.microsoft.com/office/drawing/2014/main" id="{85353681-F76B-4FC6-ABD8-0966B2A8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981575"/>
            <a:ext cx="22288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基准响应误差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适用条件与失败案例</a:t>
            </a:r>
          </a:p>
        </p:txBody>
      </p:sp>
      <p:sp>
        <p:nvSpPr>
          <p:cNvPr id="71" name="研究方法标签">
            <a:extLst xmlns:a="http://schemas.openxmlformats.org/drawingml/2006/main">
              <a:ext uri="{FF2B5EF4-FFF2-40B4-BE49-F238E27FC236}">
                <a16:creationId xmlns:a16="http://schemas.microsoft.com/office/drawing/2014/main" id="{0C321F46-AA3D-4F48-82DC-D8D32AA7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11010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00" b="1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700" b="1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586273"/>
                </a:solidFill>
                <a:latin typeface="微软雅黑"/>
                <a:ea typeface="微软雅黑"/>
                <a:cs typeface="微软雅黑"/>
              </a:rPr>
              <a:t>研究方法</a:t>
            </a:r>
          </a:p>
        </p:txBody>
      </p:sp>
      <p:sp>
        <p:nvSpPr>
          <p:cNvPr id="72" name="指标标签">
            <a:extLst xmlns:a="http://schemas.openxmlformats.org/drawingml/2006/main">
              <a:ext uri="{FF2B5EF4-FFF2-40B4-BE49-F238E27FC236}">
                <a16:creationId xmlns:a16="http://schemas.microsoft.com/office/drawing/2014/main" id="{42501B11-7DBE-4F3A-A88F-4DDE98D0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29150"/>
            <a:ext cx="11010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00" b="1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700" b="1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586273"/>
                </a:solidFill>
                <a:latin typeface="微软雅黑"/>
                <a:ea typeface="微软雅黑"/>
                <a:cs typeface="微软雅黑"/>
              </a:rPr>
              <a:t>评价指标 / 可复核产物</a:t>
            </a:r>
          </a:p>
        </p:txBody>
      </p:sp>
      <p:sp>
        <p:nvSpPr>
          <p:cNvPr id="73" name="近期安排">
            <a:extLst xmlns:a="http://schemas.openxmlformats.org/drawingml/2006/main">
              <a:ext uri="{FF2B5EF4-FFF2-40B4-BE49-F238E27FC236}">
                <a16:creationId xmlns:a16="http://schemas.microsoft.com/office/drawing/2014/main" id="{D5F0FD24-C66F-453A-9654-FCB7A655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1277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近期：完成演示验收与版本冻结；后续：扩大样本、收敛对标与力学基准</a:t>
            </a:r>
          </a:p>
        </p:txBody>
      </p:sp>
    </p:spTree>
    <p:extLst>
      <p:ext uri="{BB962C8B-B14F-4D97-AF65-F5344CB8AC3E}">
        <p14:creationId xmlns:p14="http://schemas.microsoft.com/office/powerpoint/2010/main" val="1798113082"/>
      </p:ext>
    </p:extLst>
  </p:cSld>
</p:sld>
</file>

<file path=ppt/slides/slide10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4">
            <a:extLst xmlns:a="http://schemas.openxmlformats.org/drawingml/2006/main"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80"/>
          </a:p>
        </p:txBody>
      </p:sp>
      <p:pic>
        <p:nvPicPr>
          <p:cNvPr id="32" name="Picture 2">
            <a:extLst xmlns:a="http://schemas.openxmlformats.org/drawingml/2006/main">
              <a:ext uri="{FF2B5EF4-FFF2-40B4-BE49-F238E27FC236}">
                <a16:creationId xmlns:a16="http://schemas.microsoft.com/office/drawing/2014/main" id="{BA02DBA6-F94A-4A52-B9D3-B1821A21BA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f89ed0a3cb4b9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419" y="99849"/>
            <a:ext cx="2203824" cy="5752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B7A7ADE2-1A79-48F4-9560-E46992F6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0500"/>
            <a:ext cx="872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备答 1  相同梁理论的数值对标</a:t>
            </a:r>
          </a:p>
        </p:txBody>
      </p:sp>
      <p:sp>
        <p:nvSpPr>
          <p:cNvPr id="34" name="资料来源">
            <a:extLst xmlns:a="http://schemas.openxmlformats.org/drawingml/2006/main">
              <a:ext uri="{FF2B5EF4-FFF2-40B4-BE49-F238E27FC236}">
                <a16:creationId xmlns:a16="http://schemas.microsoft.com/office/drawing/2014/main" id="{8D369085-F17B-4386-BD17-3A32FCE0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344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rPr>
              <a:t>来源：abaqus_bench/benchmark_B33.md；相同输入、相同EB梁理论；误差为原记录定义</a:t>
            </a:r>
          </a:p>
        </p:txBody>
      </p:sp>
      <p:sp>
        <p:nvSpPr>
          <p:cNvPr id="35" name="页码">
            <a:extLst xmlns:a="http://schemas.openxmlformats.org/drawingml/2006/main">
              <a:ext uri="{FF2B5EF4-FFF2-40B4-BE49-F238E27FC236}">
                <a16:creationId xmlns:a16="http://schemas.microsoft.com/office/drawing/2014/main" id="{92A480E6-6517-4876-8A66-83993C0A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buNone/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备答 1</a:t>
            </a:r>
          </a:p>
        </p:txBody>
      </p:sp>
      <p:sp>
        <p:nvSpPr>
          <p:cNvPr id="36" name="对标主题">
            <a:extLst xmlns:a="http://schemas.openxmlformats.org/drawingml/2006/main">
              <a:ext uri="{FF2B5EF4-FFF2-40B4-BE49-F238E27FC236}">
                <a16:creationId xmlns:a16="http://schemas.microsoft.com/office/drawing/2014/main" id="{BE3DD37E-53C9-4C37-BF01-9043277F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5375"/>
            <a:ext cx="11277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已测试梁算例与 Abaqus B33 的位移对照</a:t>
            </a:r>
          </a:p>
        </p:txBody>
      </p:sp>
      <p:graphicFrame>
        <p:nvGraphicFrame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095B2E-53DC-4FF1-B07B-841AAC9550EA}"/>
              </a:ext>
            </a:extLst>
          </p:cNvPr>
          <p:cNvGraphicFramePr/>
          <p:nvPr/>
        </p:nvGraphicFramePr>
        <p:xfrm>
          <a:off xmlns:a="http://schemas.openxmlformats.org/drawingml/2006/main" x="457200" y="1866900"/>
          <a:ext xmlns:a="http://schemas.openxmlformats.org/drawingml/2006/main" cx="11277600" cy="32670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19375"/>
                <a:gridCol w="2847975"/>
                <a:gridCol w="3333750"/>
                <a:gridCol w="2476500"/>
              </a:tblGrid>
              <a:tr h="65341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算例</a:t>
                      </a:r>
                    </a:p>
                  </a:txBody>
                  <a:tcPr marL="91440" marR="91440" marT="45720" marB="45720" anchor="ctr">
                    <a:solidFill>
                      <a:srgbClr val="09285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本程序 / mm</a:t>
                      </a:r>
                    </a:p>
                  </a:txBody>
                  <a:tcPr marL="91440" marR="91440" marT="45720" marB="45720" anchor="ctr">
                    <a:solidFill>
                      <a:srgbClr val="09285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Abaqus B33 / mm</a:t>
                      </a:r>
                    </a:p>
                  </a:txBody>
                  <a:tcPr marL="91440" marR="91440" marT="45720" marB="45720" anchor="ctr">
                    <a:solidFill>
                      <a:srgbClr val="09285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e(‖U‖)</a:t>
                      </a:r>
                    </a:p>
                  </a:txBody>
                  <a:tcPr marL="91440" marR="91440" marT="45720" marB="45720" anchor="ctr">
                    <a:solidFill>
                      <a:srgbClr val="092858"/>
                    </a:solidFill>
                  </a:tcPr>
                </a:tc>
              </a:tr>
              <a:tr h="65341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悬臂强轴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42.8571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42.8570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8.74×10⁻⁶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65341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悬臂弱轴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857.1429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857.1000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5.30×10⁻⁵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341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门式刚架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6.3901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6.3901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7.23×10⁻⁶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65341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空间刚架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0.6771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0.6771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5.83×10⁻⁶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对标条件">
            <a:extLst xmlns:a="http://schemas.openxmlformats.org/drawingml/2006/main">
              <a:ext uri="{FF2B5EF4-FFF2-40B4-BE49-F238E27FC236}">
                <a16:creationId xmlns:a16="http://schemas.microsoft.com/office/drawing/2014/main" id="{4552F2CB-F968-466F-9D94-678770B7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43525"/>
            <a:ext cx="112776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92858"/>
            </a:solidFill>
            <a:prstDash val="solid"/>
          </a:ln>
        </p:spPr>
      </p:sp>
      <p:sp>
        <p:nvSpPr>
          <p:cNvPr id="39" name="对标条件文字">
            <a:extLst xmlns:a="http://schemas.openxmlformats.org/drawingml/2006/main">
              <a:ext uri="{FF2B5EF4-FFF2-40B4-BE49-F238E27FC236}">
                <a16:creationId xmlns:a16="http://schemas.microsoft.com/office/drawing/2014/main" id="{FCF2D6C9-9636-4CF5-90D7-8EF8EE41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91150"/>
            <a:ext cx="1104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Euler–Bernoulli ↔ Abaqus B33：均不计横向剪切</a:t>
            </a:r>
          </a:p>
        </p:txBody>
      </p:sp>
      <p:sp>
        <p:nvSpPr>
          <p:cNvPr id="40" name="误差含义">
            <a:extLst xmlns:a="http://schemas.openxmlformats.org/drawingml/2006/main">
              <a:ext uri="{FF2B5EF4-FFF2-40B4-BE49-F238E27FC236}">
                <a16:creationId xmlns:a16="http://schemas.microsoft.com/office/drawing/2014/main" id="{4ADAAC15-1831-48AC-9CC0-3F661659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9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e(‖U‖)：位移向量归一化误差；表中最大位移为四舍五入的展示值</a:t>
            </a:r>
          </a:p>
        </p:txBody>
      </p:sp>
    </p:spTree>
    <p:extLst>
      <p:ext uri="{BB962C8B-B14F-4D97-AF65-F5344CB8AC3E}">
        <p14:creationId xmlns:p14="http://schemas.microsoft.com/office/powerpoint/2010/main" val="1798113082"/>
      </p:ext>
    </p:extLst>
  </p:cSld>
</p:sld>
</file>

<file path=ppt/slides/slide11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4">
            <a:extLst xmlns:a="http://schemas.openxmlformats.org/drawingml/2006/main"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80"/>
          </a:p>
        </p:txBody>
      </p:sp>
      <p:pic>
        <p:nvPicPr>
          <p:cNvPr id="32" name="Picture 2">
            <a:extLst xmlns:a="http://schemas.openxmlformats.org/drawingml/2006/main">
              <a:ext uri="{FF2B5EF4-FFF2-40B4-BE49-F238E27FC236}">
                <a16:creationId xmlns:a16="http://schemas.microsoft.com/office/drawing/2014/main" id="{95D4FFB7-9189-47AA-A21E-134C65823B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3243c3885d4e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419" y="99849"/>
            <a:ext cx="2203824" cy="5752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83CB4A11-9C6E-45EA-A9D6-1951A5B6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0500"/>
            <a:ext cx="872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备答 2  实现规模与验证层级</a:t>
            </a:r>
          </a:p>
        </p:txBody>
      </p:sp>
      <p:sp>
        <p:nvSpPr>
          <p:cNvPr id="34" name="资料来源">
            <a:extLst xmlns:a="http://schemas.openxmlformats.org/drawingml/2006/main">
              <a:ext uri="{FF2B5EF4-FFF2-40B4-BE49-F238E27FC236}">
                <a16:creationId xmlns:a16="http://schemas.microsoft.com/office/drawing/2014/main" id="{495357E4-C026-402D-B7DE-51A3B70C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0344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rPr>
              <a:t>统计截止2026-10-10；代码行数包含注释与空行；来源：课程报告 §2.1 与解析金标准</a:t>
            </a:r>
          </a:p>
        </p:txBody>
      </p:sp>
      <p:sp>
        <p:nvSpPr>
          <p:cNvPr id="35" name="页码">
            <a:extLst xmlns:a="http://schemas.openxmlformats.org/drawingml/2006/main">
              <a:ext uri="{FF2B5EF4-FFF2-40B4-BE49-F238E27FC236}">
                <a16:creationId xmlns:a16="http://schemas.microsoft.com/office/drawing/2014/main" id="{37AA5238-600A-4707-95DE-858531BC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buNone/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备答 2</a:t>
            </a:r>
          </a:p>
        </p:txBody>
      </p:sp>
      <p:graphicFrame>
        <p:nvGraphicFrame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0484D4-D6A3-487F-885F-9A14B206C258}"/>
              </a:ext>
            </a:extLst>
          </p:cNvPr>
          <p:cNvGraphicFramePr/>
          <p:nvPr/>
        </p:nvGraphicFramePr>
        <p:xfrm>
          <a:off xmlns:a="http://schemas.openxmlformats.org/drawingml/2006/main" x="457200" y="1266825"/>
          <a:ext xmlns:a="http://schemas.openxmlformats.org/drawingml/2006/main" cx="11277600" cy="3009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9750"/>
                <a:gridCol w="2466975"/>
                <a:gridCol w="2181225"/>
                <a:gridCol w="4819650"/>
              </a:tblGrid>
              <a:tr h="60198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目录</a:t>
                      </a:r>
                    </a:p>
                  </a:txBody>
                  <a:tcPr marL="91440" marR="91440" marT="45720" marB="45720" anchor="ctr">
                    <a:solidFill>
                      <a:srgbClr val="09285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Python 文件</a:t>
                      </a:r>
                    </a:p>
                  </a:txBody>
                  <a:tcPr marL="91440" marR="91440" marT="45720" marB="45720" anchor="ctr">
                    <a:solidFill>
                      <a:srgbClr val="09285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行数</a:t>
                      </a:r>
                    </a:p>
                  </a:txBody>
                  <a:tcPr marL="91440" marR="91440" marT="45720" marB="45720" anchor="ctr">
                    <a:solidFill>
                      <a:srgbClr val="092858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主要工作</a:t>
                      </a:r>
                    </a:p>
                  </a:txBody>
                  <a:tcPr marL="91440" marR="91440" marT="45720" marB="45720" anchor="ctr">
                    <a:solidFill>
                      <a:srgbClr val="092858"/>
                    </a:solidFill>
                  </a:tcPr>
                </a:tc>
              </a:tr>
              <a:tr h="60198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src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69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29,387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内核、工具与数据管理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60198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desktop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21,615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桌面、视口、后台任务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tests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113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33,741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自动回归与基准验证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60198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tools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2,108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测量、验证与文档工具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规模总计">
            <a:extLst xmlns:a="http://schemas.openxmlformats.org/drawingml/2006/main">
              <a:ext uri="{FF2B5EF4-FFF2-40B4-BE49-F238E27FC236}">
                <a16:creationId xmlns:a16="http://schemas.microsoft.com/office/drawing/2014/main" id="{B48AB314-81CC-4337-AEEB-F173D291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0075"/>
            <a:ext cx="11277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合计：240 文件 / 86,851 行；规模不直接等价于人工工时</a:t>
            </a:r>
          </a:p>
        </p:txBody>
      </p:sp>
      <p:sp>
        <p:nvSpPr>
          <p:cNvPr id="38" name="验证层级">
            <a:extLst xmlns:a="http://schemas.openxmlformats.org/drawingml/2006/main">
              <a:ext uri="{FF2B5EF4-FFF2-40B4-BE49-F238E27FC236}">
                <a16:creationId xmlns:a16="http://schemas.microsoft.com/office/drawing/2014/main" id="{BEC2EDF4-FBE1-403D-9D71-9CDAFD48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86350"/>
            <a:ext cx="112776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92858"/>
            </a:solidFill>
            <a:prstDash val="dash"/>
          </a:ln>
        </p:spPr>
      </p:sp>
      <p:sp>
        <p:nvSpPr>
          <p:cNvPr id="39" name="验证层级标签">
            <a:extLst xmlns:a="http://schemas.openxmlformats.org/drawingml/2006/main">
              <a:ext uri="{FF2B5EF4-FFF2-40B4-BE49-F238E27FC236}">
                <a16:creationId xmlns:a16="http://schemas.microsoft.com/office/drawing/2014/main" id="{778C4542-F1F6-41AA-9D96-FECDCC3F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05375"/>
            <a:ext cx="25622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858"/>
          </a:solidFill>
          <a:ln xmlns:a="http://schemas.openxmlformats.org/drawingml/2006/main" w="9525">
            <a:solidFill>
              <a:srgbClr val="092858"/>
            </a:solidFill>
            <a:prstDash val="solid"/>
          </a:ln>
        </p:spPr>
      </p:sp>
      <p:sp>
        <p:nvSpPr>
          <p:cNvPr id="40" name="验证层级标签文字">
            <a:extLst xmlns:a="http://schemas.openxmlformats.org/drawingml/2006/main">
              <a:ext uri="{FF2B5EF4-FFF2-40B4-BE49-F238E27FC236}">
                <a16:creationId xmlns:a16="http://schemas.microsoft.com/office/drawing/2014/main" id="{2C990837-3173-47E2-9229-756E6C61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434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验证层级与能力边界</a:t>
            </a:r>
          </a:p>
        </p:txBody>
      </p:sp>
      <p:sp>
        <p:nvSpPr>
          <p:cNvPr id="41" name="基准范围">
            <a:extLst xmlns:a="http://schemas.openxmlformats.org/drawingml/2006/main">
              <a:ext uri="{FF2B5EF4-FFF2-40B4-BE49-F238E27FC236}">
                <a16:creationId xmlns:a16="http://schemas.microsoft.com/office/drawing/2014/main" id="{41B76D11-3C79-4A97-8721-78134A0E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72100"/>
            <a:ext cx="10896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28项解析基准：静力12 / 模态5 / 屈曲9 / P-Δ及轴向塑性2</a:t>
            </a:r>
          </a:p>
        </p:txBody>
      </p:sp>
      <p:sp>
        <p:nvSpPr>
          <p:cNvPr id="42" name="不同证据">
            <a:extLst xmlns:a="http://schemas.openxmlformats.org/drawingml/2006/main">
              <a:ext uri="{FF2B5EF4-FFF2-40B4-BE49-F238E27FC236}">
                <a16:creationId xmlns:a16="http://schemas.microsoft.com/office/drawing/2014/main" id="{4B3B8456-BF1B-4770-8292-0FAC6A0A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00725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回归验证实现；留出图评价识别；网格收敛及独立对标评价局部应力</a:t>
            </a:r>
          </a:p>
        </p:txBody>
      </p:sp>
    </p:spTree>
    <p:extLst>
      <p:ext uri="{BB962C8B-B14F-4D97-AF65-F5344CB8AC3E}">
        <p14:creationId xmlns:p14="http://schemas.microsoft.com/office/powerpoint/2010/main" val="1798113082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2026-10-11T08:41:35.8100000Z</dcterms:created>
  <dcterms:modified xsi:type="dcterms:W3CDTF">2026-10-11T08:41:35.8100000Z</dcterms:modified>
</coreProperties>
</file>